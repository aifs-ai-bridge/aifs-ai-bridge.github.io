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17"/>
  </p:notesMasterIdLst>
  <p:sldIdLst>
    <p:sldId id="256" r:id="rId2"/>
    <p:sldId id="297" r:id="rId3"/>
    <p:sldId id="298" r:id="rId4"/>
    <p:sldId id="323" r:id="rId5"/>
    <p:sldId id="324" r:id="rId6"/>
    <p:sldId id="322" r:id="rId7"/>
    <p:sldId id="325" r:id="rId8"/>
    <p:sldId id="314" r:id="rId9"/>
    <p:sldId id="326" r:id="rId10"/>
    <p:sldId id="327" r:id="rId11"/>
    <p:sldId id="328" r:id="rId12"/>
    <p:sldId id="329" r:id="rId13"/>
    <p:sldId id="330" r:id="rId14"/>
    <p:sldId id="331" r:id="rId15"/>
    <p:sldId id="332" r:id="rId16"/>
  </p:sldIdLst>
  <p:sldSz cx="24387175" cy="13716000"/>
  <p:notesSz cx="6858000" cy="9144000"/>
  <p:embeddedFontLst>
    <p:embeddedFont>
      <p:font typeface="Calibri" panose="020F0502020204030204" pitchFamily="34" charset="0"/>
      <p:regular r:id="rId18"/>
      <p:bold r:id="rId19"/>
      <p:italic r:id="rId20"/>
      <p:boldItalic r:id="rId21"/>
    </p:embeddedFont>
    <p:embeddedFont>
      <p:font typeface="Calibri Light" panose="020F0302020204030204" pitchFamily="34" charset="0"/>
      <p:regular r:id="rId22"/>
      <p:italic r:id="rId23"/>
    </p:embeddedFont>
    <p:embeddedFont>
      <p:font typeface="Helvetica Neue" panose="02000503000000020004" pitchFamily="2" charset="0"/>
      <p:regular r:id="rId24"/>
      <p:bold r:id="rId25"/>
      <p:italic r:id="rId26"/>
      <p:boldItalic r:id="rId27"/>
    </p:embeddedFont>
    <p:embeddedFont>
      <p:font typeface="Lato" panose="020F0502020204030203" pitchFamily="34" charset="0"/>
      <p:regular r:id="rId28"/>
      <p:bold r:id="rId29"/>
      <p:italic r:id="rId30"/>
      <p:boldItalic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iaming Situ"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C7F"/>
    <a:srgbClr val="EF7001"/>
    <a:srgbClr val="006B64"/>
    <a:srgbClr val="B13C3B"/>
    <a:srgbClr val="000000"/>
    <a:srgbClr val="795E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4E0612-D268-425B-B802-00A6AB32C0B4}">
  <a:tblStyle styleId="{0E4E0612-D268-425B-B802-00A6AB32C0B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20000"/>
            </a:schemeClr>
          </a:solidFill>
        </a:fill>
      </a:tcStyle>
    </a:band1H>
    <a:band2H>
      <a:tcTxStyle/>
      <a:tcStyle>
        <a:tcBdr/>
      </a:tcStyle>
    </a:band2H>
    <a:band1V>
      <a:tcTxStyle/>
      <a:tcStyle>
        <a:tcBdr/>
        <a:fill>
          <a:solidFill>
            <a:schemeClr val="accent3">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3"/>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3"/>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74"/>
    <p:restoredTop sz="94694"/>
  </p:normalViewPr>
  <p:slideViewPr>
    <p:cSldViewPr snapToGrid="0">
      <p:cViewPr varScale="1">
        <p:scale>
          <a:sx n="60" d="100"/>
          <a:sy n="60" d="100"/>
        </p:scale>
        <p:origin x="952" y="208"/>
      </p:cViewPr>
      <p:guideLst>
        <p:guide orient="horz" pos="4320"/>
        <p:guide pos="768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ec44096ab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ec44096ab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5742e2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5742e274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5742e2745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25742e2745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5742e2745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25742e2745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47652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5742e2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5742e274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5434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5742e2745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25742e2745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Standard input and output formats vary with compiler.</a:t>
            </a:r>
            <a:endParaRPr/>
          </a:p>
          <a:p>
            <a:pPr marL="0" lvl="0" indent="0" algn="l" rtl="0">
              <a:spcBef>
                <a:spcPts val="0"/>
              </a:spcBef>
              <a:spcAft>
                <a:spcPts val="0"/>
              </a:spcAft>
              <a:buNone/>
            </a:pPr>
            <a:r>
              <a:rPr lang="en"/>
              <a:t>Emphasize that you have to close file</a:t>
            </a:r>
            <a:endParaRPr/>
          </a:p>
        </p:txBody>
      </p:sp>
    </p:spTree>
    <p:extLst>
      <p:ext uri="{BB962C8B-B14F-4D97-AF65-F5344CB8AC3E}">
        <p14:creationId xmlns:p14="http://schemas.microsoft.com/office/powerpoint/2010/main" val="188441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5742e2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5742e274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5747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35c8e6e3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35c8e6e3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Importing is particularly important because we don’t want to reinvent the wheel. Other people have already heavily optimized and published modules and functions and we can build up from that foundation. The general syntax for importing is…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35c8e6e3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35c8e6e3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Importing is particularly important because we don’t want to reinvent the wheel. Other people have already heavily optimized and published modules and functions and we can build up from that foundation. The general syntax for importing is…</a:t>
            </a:r>
            <a:endParaRPr/>
          </a:p>
        </p:txBody>
      </p:sp>
    </p:spTree>
    <p:extLst>
      <p:ext uri="{BB962C8B-B14F-4D97-AF65-F5344CB8AC3E}">
        <p14:creationId xmlns:p14="http://schemas.microsoft.com/office/powerpoint/2010/main" val="2826404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5742e2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5742e274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1923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35c8e6e3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35c8e6e3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Importing is particularly important because we don’t want to reinvent the wheel. Other people have already heavily optimized and published modules and functions and we can build up from that foundation. The general syntax for importing is…</a:t>
            </a:r>
            <a:endParaRPr/>
          </a:p>
        </p:txBody>
      </p:sp>
    </p:spTree>
    <p:extLst>
      <p:ext uri="{BB962C8B-B14F-4D97-AF65-F5344CB8AC3E}">
        <p14:creationId xmlns:p14="http://schemas.microsoft.com/office/powerpoint/2010/main" val="2090119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35c8e6e3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35c8e6e3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Importing is particularly important because we don’t want to reinvent the wheel. Other people have already heavily optimized and published modules and functions and we can build up from that foundation. The general syntax for importing is…</a:t>
            </a:r>
            <a:endParaRPr/>
          </a:p>
        </p:txBody>
      </p:sp>
    </p:spTree>
    <p:extLst>
      <p:ext uri="{BB962C8B-B14F-4D97-AF65-F5344CB8AC3E}">
        <p14:creationId xmlns:p14="http://schemas.microsoft.com/office/powerpoint/2010/main" val="1616505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35c8e6e3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35c8e6e3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Importing is particularly important because we don’t want to reinvent the wheel. Other people have already heavily optimized and published modules and functions and we can build up from that foundation. The general syntax for importing is…</a:t>
            </a:r>
            <a:endParaRPr/>
          </a:p>
        </p:txBody>
      </p:sp>
    </p:spTree>
    <p:extLst>
      <p:ext uri="{BB962C8B-B14F-4D97-AF65-F5344CB8AC3E}">
        <p14:creationId xmlns:p14="http://schemas.microsoft.com/office/powerpoint/2010/main" val="3315747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35c8e6e3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35c8e6e3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Importing is particularly important because we don’t want to reinvent the wheel. Other people have already heavily optimized and published modules and functions and we can build up from that foundation. The general syntax for importing is…</a:t>
            </a:r>
            <a:endParaRPr/>
          </a:p>
        </p:txBody>
      </p:sp>
    </p:spTree>
    <p:extLst>
      <p:ext uri="{BB962C8B-B14F-4D97-AF65-F5344CB8AC3E}">
        <p14:creationId xmlns:p14="http://schemas.microsoft.com/office/powerpoint/2010/main" val="24359709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35c8e6e3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35c8e6e3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Importing is particularly important because we don’t want to reinvent the wheel. Other people have already heavily optimized and published modules and functions and we can build up from that foundation. The general syntax for importing is…</a:t>
            </a:r>
            <a:endParaRPr/>
          </a:p>
        </p:txBody>
      </p:sp>
    </p:spTree>
    <p:extLst>
      <p:ext uri="{BB962C8B-B14F-4D97-AF65-F5344CB8AC3E}">
        <p14:creationId xmlns:p14="http://schemas.microsoft.com/office/powerpoint/2010/main" val="1524590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397" y="2244726"/>
            <a:ext cx="18290381" cy="4775200"/>
          </a:xfrm>
        </p:spPr>
        <p:txBody>
          <a:bodyPr anchor="b"/>
          <a:lstStyle>
            <a:lvl1pPr algn="ctr">
              <a:defRPr sz="12000"/>
            </a:lvl1pPr>
          </a:lstStyle>
          <a:p>
            <a:r>
              <a:rPr lang="en-US"/>
              <a:t>Click to edit Master title style</a:t>
            </a:r>
            <a:endParaRPr lang="en-US" dirty="0"/>
          </a:p>
        </p:txBody>
      </p:sp>
      <p:sp>
        <p:nvSpPr>
          <p:cNvPr id="3" name="Subtitle 2"/>
          <p:cNvSpPr>
            <a:spLocks noGrp="1"/>
          </p:cNvSpPr>
          <p:nvPr>
            <p:ph type="subTitle" idx="1"/>
          </p:nvPr>
        </p:nvSpPr>
        <p:spPr>
          <a:xfrm>
            <a:off x="3048397" y="7204076"/>
            <a:ext cx="1829038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397D72F-E915-9846-8E67-29872E9CA90B}" type="datetimeFigureOut">
              <a:rPr lang="en-US" smtClean="0"/>
              <a:t>7/7/23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5877718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0202086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917" y="3419477"/>
            <a:ext cx="21033938" cy="5705474"/>
          </a:xfrm>
        </p:spPr>
        <p:txBody>
          <a:bodyPr anchor="b"/>
          <a:lstStyle>
            <a:lvl1pPr>
              <a:defRPr sz="12000"/>
            </a:lvl1pPr>
          </a:lstStyle>
          <a:p>
            <a:r>
              <a:rPr lang="en-US"/>
              <a:t>Click to edit Master title style</a:t>
            </a:r>
            <a:endParaRPr lang="en-US" dirty="0"/>
          </a:p>
        </p:txBody>
      </p:sp>
      <p:sp>
        <p:nvSpPr>
          <p:cNvPr id="3" name="Text Placeholder 2"/>
          <p:cNvSpPr>
            <a:spLocks noGrp="1"/>
          </p:cNvSpPr>
          <p:nvPr>
            <p:ph type="body" idx="1"/>
          </p:nvPr>
        </p:nvSpPr>
        <p:spPr>
          <a:xfrm>
            <a:off x="1663917" y="9178927"/>
            <a:ext cx="21033938"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97D72F-E915-9846-8E67-29872E9CA90B}" type="datetimeFigureOut">
              <a:rPr lang="en-US" smtClean="0"/>
              <a:t>7/7/23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5015292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676618" y="3651250"/>
            <a:ext cx="10364549"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346008" y="3651250"/>
            <a:ext cx="10364549"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97D72F-E915-9846-8E67-29872E9CA90B}" type="datetimeFigureOut">
              <a:rPr lang="en-US" smtClean="0"/>
              <a:t>7/7/23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426277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795" y="730251"/>
            <a:ext cx="21033938" cy="2651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79796" y="3362326"/>
            <a:ext cx="10316917"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1679796" y="5010150"/>
            <a:ext cx="10316917"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346007" y="3362326"/>
            <a:ext cx="1036772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12346007" y="5010150"/>
            <a:ext cx="1036772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97D72F-E915-9846-8E67-29872E9CA90B}" type="datetimeFigureOut">
              <a:rPr lang="en-US" smtClean="0"/>
              <a:t>7/7/23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8286980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97D72F-E915-9846-8E67-29872E9CA90B}" type="datetimeFigureOut">
              <a:rPr lang="en-US" smtClean="0"/>
              <a:t>7/7/23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8090453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97D72F-E915-9846-8E67-29872E9CA90B}" type="datetimeFigureOut">
              <a:rPr lang="en-US" smtClean="0"/>
              <a:t>7/7/23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2044287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US"/>
              <a:t>Click to edit Master title style</a:t>
            </a:r>
            <a:endParaRPr lang="en-US" dirty="0"/>
          </a:p>
        </p:txBody>
      </p:sp>
      <p:sp>
        <p:nvSpPr>
          <p:cNvPr id="3" name="Content Placeholder 2"/>
          <p:cNvSpPr>
            <a:spLocks noGrp="1"/>
          </p:cNvSpPr>
          <p:nvPr>
            <p:ph idx="1"/>
          </p:nvPr>
        </p:nvSpPr>
        <p:spPr>
          <a:xfrm>
            <a:off x="10367726" y="1974851"/>
            <a:ext cx="1234600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E397D72F-E915-9846-8E67-29872E9CA90B}" type="datetimeFigureOut">
              <a:rPr lang="en-US" smtClean="0"/>
              <a:t>7/7/23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4730734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367726" y="1974851"/>
            <a:ext cx="12346007"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E397D72F-E915-9846-8E67-29872E9CA90B}" type="datetimeFigureOut">
              <a:rPr lang="en-US" smtClean="0"/>
              <a:t>7/7/23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921199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97D72F-E915-9846-8E67-29872E9CA90B}" type="datetimeFigureOut">
              <a:rPr lang="en-US" smtClean="0"/>
              <a:t>7/7/23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1776548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52072" y="730250"/>
            <a:ext cx="5258485" cy="116236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76618" y="730250"/>
            <a:ext cx="15470614"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97D72F-E915-9846-8E67-29872E9CA90B}" type="datetimeFigureOut">
              <a:rPr lang="en-US" smtClean="0"/>
              <a:t>7/7/23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40628108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8" name="Google Shape;28;p4"/>
          <p:cNvSpPr txBox="1">
            <a:spLocks noGrp="1"/>
          </p:cNvSpPr>
          <p:nvPr>
            <p:ph type="title"/>
          </p:nvPr>
        </p:nvSpPr>
        <p:spPr>
          <a:xfrm>
            <a:off x="1945453" y="3516400"/>
            <a:ext cx="20505870" cy="1427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None/>
              <a:defRPr sz="6933"/>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endParaRPr/>
          </a:p>
        </p:txBody>
      </p:sp>
      <p:sp>
        <p:nvSpPr>
          <p:cNvPr id="29" name="Google Shape;29;p4"/>
          <p:cNvSpPr txBox="1">
            <a:spLocks noGrp="1"/>
          </p:cNvSpPr>
          <p:nvPr>
            <p:ph type="body" idx="1"/>
          </p:nvPr>
        </p:nvSpPr>
        <p:spPr>
          <a:xfrm>
            <a:off x="1945453" y="5543667"/>
            <a:ext cx="20505870" cy="6029600"/>
          </a:xfrm>
          <a:prstGeom prst="rect">
            <a:avLst/>
          </a:prstGeom>
        </p:spPr>
        <p:txBody>
          <a:bodyPr spcFirstLastPara="1" wrap="square" lIns="91425" tIns="91425" rIns="91425" bIns="91425" anchor="t" anchorCtr="0">
            <a:normAutofit/>
          </a:bodyPr>
          <a:lstStyle>
            <a:lvl1pPr marL="1219367" lvl="0" indent="-829848" rtl="0">
              <a:spcBef>
                <a:spcPts val="0"/>
              </a:spcBef>
              <a:spcAft>
                <a:spcPts val="0"/>
              </a:spcAft>
              <a:buSzPts val="1300"/>
              <a:buChar char="●"/>
              <a:defRPr/>
            </a:lvl1pPr>
            <a:lvl2pPr marL="2438734" lvl="1" indent="-795975" rtl="0">
              <a:spcBef>
                <a:spcPts val="0"/>
              </a:spcBef>
              <a:spcAft>
                <a:spcPts val="0"/>
              </a:spcAft>
              <a:buSzPts val="1100"/>
              <a:buChar char="○"/>
              <a:defRPr/>
            </a:lvl2pPr>
            <a:lvl3pPr marL="3658102" lvl="2" indent="-795975" rtl="0">
              <a:spcBef>
                <a:spcPts val="0"/>
              </a:spcBef>
              <a:spcAft>
                <a:spcPts val="0"/>
              </a:spcAft>
              <a:buSzPts val="1100"/>
              <a:buChar char="■"/>
              <a:defRPr/>
            </a:lvl3pPr>
            <a:lvl4pPr marL="4877472" lvl="3" indent="-795975" rtl="0">
              <a:spcBef>
                <a:spcPts val="0"/>
              </a:spcBef>
              <a:spcAft>
                <a:spcPts val="0"/>
              </a:spcAft>
              <a:buSzPts val="1100"/>
              <a:buChar char="●"/>
              <a:defRPr/>
            </a:lvl4pPr>
            <a:lvl5pPr marL="6096839" lvl="4" indent="-795975" rtl="0">
              <a:spcBef>
                <a:spcPts val="0"/>
              </a:spcBef>
              <a:spcAft>
                <a:spcPts val="0"/>
              </a:spcAft>
              <a:buSzPts val="1100"/>
              <a:buChar char="○"/>
              <a:defRPr/>
            </a:lvl5pPr>
            <a:lvl6pPr marL="7316206" lvl="5" indent="-795975" rtl="0">
              <a:spcBef>
                <a:spcPts val="0"/>
              </a:spcBef>
              <a:spcAft>
                <a:spcPts val="0"/>
              </a:spcAft>
              <a:buSzPts val="1100"/>
              <a:buChar char="■"/>
              <a:defRPr/>
            </a:lvl6pPr>
            <a:lvl7pPr marL="8535573" lvl="6" indent="-795975" rtl="0">
              <a:spcBef>
                <a:spcPts val="0"/>
              </a:spcBef>
              <a:spcAft>
                <a:spcPts val="0"/>
              </a:spcAft>
              <a:buSzPts val="1100"/>
              <a:buChar char="●"/>
              <a:defRPr/>
            </a:lvl7pPr>
            <a:lvl8pPr marL="9754941" lvl="7" indent="-795975" rtl="0">
              <a:spcBef>
                <a:spcPts val="0"/>
              </a:spcBef>
              <a:spcAft>
                <a:spcPts val="0"/>
              </a:spcAft>
              <a:buSzPts val="1100"/>
              <a:buChar char="○"/>
              <a:defRPr/>
            </a:lvl8pPr>
            <a:lvl9pPr marL="10974311" lvl="8" indent="-795975" rtl="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22766436" y="12666269"/>
            <a:ext cx="1463391" cy="1049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492299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E397D72F-E915-9846-8E67-29872E9CA90B}" type="datetimeFigureOut">
              <a:rPr lang="en-US" smtClean="0"/>
              <a:t>7/7/23</a:t>
            </a:fld>
            <a:endParaRPr lang="en-US"/>
          </a:p>
        </p:txBody>
      </p:sp>
      <p:sp>
        <p:nvSpPr>
          <p:cNvPr id="5" name="Footer Placeholder 4"/>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00000000-1234-1234-1234-123412341234}" type="slidenum">
              <a:rPr lang="en" smtClean="0"/>
              <a:pPr/>
              <a:t>‹#›</a:t>
            </a:fld>
            <a:endParaRPr lang="en"/>
          </a:p>
        </p:txBody>
      </p:sp>
    </p:spTree>
    <p:extLst>
      <p:ext uri="{BB962C8B-B14F-4D97-AF65-F5344CB8AC3E}">
        <p14:creationId xmlns:p14="http://schemas.microsoft.com/office/powerpoint/2010/main" val="232710508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docs.python.org/3/tutorial/datastructures.html"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
          <p:cNvPicPr preferRelativeResize="0"/>
          <p:nvPr/>
        </p:nvPicPr>
        <p:blipFill>
          <a:blip r:embed="rId3">
            <a:alphaModFix/>
          </a:blip>
          <a:stretch>
            <a:fillRect/>
          </a:stretch>
        </p:blipFill>
        <p:spPr>
          <a:xfrm>
            <a:off x="21122987" y="406337"/>
            <a:ext cx="2895600" cy="3225800"/>
          </a:xfrm>
          <a:prstGeom prst="rect">
            <a:avLst/>
          </a:prstGeom>
          <a:noFill/>
          <a:ln>
            <a:noFill/>
          </a:ln>
        </p:spPr>
      </p:pic>
      <p:pic>
        <p:nvPicPr>
          <p:cNvPr id="93" name="Google Shape;93;p14" descr="Image"/>
          <p:cNvPicPr preferRelativeResize="0"/>
          <p:nvPr/>
        </p:nvPicPr>
        <p:blipFill>
          <a:blip r:embed="rId4">
            <a:alphaModFix/>
          </a:blip>
          <a:stretch>
            <a:fillRect/>
          </a:stretch>
        </p:blipFill>
        <p:spPr>
          <a:xfrm>
            <a:off x="1074587" y="5245134"/>
            <a:ext cx="6438053" cy="3225733"/>
          </a:xfrm>
          <a:prstGeom prst="rect">
            <a:avLst/>
          </a:prstGeom>
          <a:noFill/>
          <a:ln>
            <a:noFill/>
          </a:ln>
        </p:spPr>
      </p:pic>
      <p:sp>
        <p:nvSpPr>
          <p:cNvPr id="94" name="Google Shape;94;p14"/>
          <p:cNvSpPr txBox="1"/>
          <p:nvPr/>
        </p:nvSpPr>
        <p:spPr>
          <a:xfrm>
            <a:off x="8142854" y="3372667"/>
            <a:ext cx="23164800" cy="8000000"/>
          </a:xfrm>
          <a:prstGeom prst="rect">
            <a:avLst/>
          </a:prstGeom>
          <a:noFill/>
          <a:ln>
            <a:noFill/>
          </a:ln>
        </p:spPr>
        <p:txBody>
          <a:bodyPr spcFirstLastPara="1" wrap="square" lIns="243800" tIns="243800" rIns="243800" bIns="243800" anchor="ctr" anchorCtr="0">
            <a:noAutofit/>
          </a:bodyPr>
          <a:lstStyle/>
          <a:p>
            <a:pPr>
              <a:lnSpc>
                <a:spcPct val="115000"/>
              </a:lnSpc>
            </a:pPr>
            <a:endParaRPr sz="12800" dirty="0"/>
          </a:p>
          <a:p>
            <a:pPr>
              <a:lnSpc>
                <a:spcPct val="96000"/>
              </a:lnSpc>
            </a:pPr>
            <a:r>
              <a:rPr lang="en" sz="16003" b="1" dirty="0" err="1">
                <a:solidFill>
                  <a:srgbClr val="006B64"/>
                </a:solidFill>
                <a:latin typeface="Helvetica Neue"/>
                <a:ea typeface="Helvetica Neue"/>
                <a:cs typeface="Helvetica Neue"/>
                <a:sym typeface="Helvetica Neue"/>
              </a:rPr>
              <a:t>AI</a:t>
            </a:r>
            <a:r>
              <a:rPr lang="en" sz="16003" b="1" dirty="0" err="1">
                <a:solidFill>
                  <a:srgbClr val="004C7F"/>
                </a:solidFill>
                <a:latin typeface="Helvetica Neue"/>
                <a:ea typeface="Helvetica Neue"/>
                <a:cs typeface="Helvetica Neue"/>
                <a:sym typeface="Helvetica Neue"/>
              </a:rPr>
              <a:t>Bridge</a:t>
            </a:r>
            <a:endParaRPr sz="16003" b="1" dirty="0">
              <a:solidFill>
                <a:srgbClr val="004C7F"/>
              </a:solidFill>
              <a:latin typeface="Helvetica Neue"/>
              <a:ea typeface="Helvetica Neue"/>
              <a:cs typeface="Helvetica Neue"/>
              <a:sym typeface="Helvetica Neue"/>
            </a:endParaRPr>
          </a:p>
          <a:p>
            <a:pPr>
              <a:lnSpc>
                <a:spcPct val="115000"/>
              </a:lnSpc>
            </a:pPr>
            <a:endParaRPr sz="2933" dirty="0"/>
          </a:p>
          <a:p>
            <a:pPr>
              <a:lnSpc>
                <a:spcPct val="120000"/>
              </a:lnSpc>
            </a:pPr>
            <a:r>
              <a:rPr lang="en" sz="8000" b="1" dirty="0">
                <a:solidFill>
                  <a:srgbClr val="004C7F"/>
                </a:solidFill>
                <a:latin typeface="Helvetica Neue"/>
                <a:ea typeface="Helvetica Neue"/>
                <a:cs typeface="Helvetica Neue"/>
                <a:sym typeface="Helvetica Neue"/>
              </a:rPr>
              <a:t>Lecture 3</a:t>
            </a:r>
            <a:endParaRPr sz="8000" b="1" dirty="0">
              <a:solidFill>
                <a:srgbClr val="004C7F"/>
              </a:solidFill>
              <a:latin typeface="Helvetica Neue"/>
              <a:ea typeface="Helvetica Neue"/>
              <a:cs typeface="Helvetica Neue"/>
              <a:sym typeface="Helvetica Neue"/>
            </a:endParaRPr>
          </a:p>
          <a:p>
            <a:pPr>
              <a:lnSpc>
                <a:spcPct val="115000"/>
              </a:lnSpc>
            </a:pPr>
            <a:endParaRPr sz="2933" dirty="0"/>
          </a:p>
          <a:p>
            <a:endParaRPr sz="2933" dirty="0"/>
          </a:p>
          <a:p>
            <a:endParaRPr sz="2933"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5"/>
          <p:cNvSpPr txBox="1">
            <a:spLocks noGrp="1"/>
          </p:cNvSpPr>
          <p:nvPr>
            <p:ph type="title"/>
          </p:nvPr>
        </p:nvSpPr>
        <p:spPr>
          <a:xfrm>
            <a:off x="1768836" y="1543984"/>
            <a:ext cx="20505870" cy="1427200"/>
          </a:xfrm>
          <a:prstGeom prst="rect">
            <a:avLst/>
          </a:prstGeom>
        </p:spPr>
        <p:txBody>
          <a:bodyPr spcFirstLastPara="1" vert="horz" wrap="square" lIns="243800" tIns="243800" rIns="243800" bIns="243800" rtlCol="0" anchor="t" anchorCtr="0">
            <a:normAutofit fontScale="90000"/>
          </a:bodyPr>
          <a:lstStyle/>
          <a:p>
            <a:r>
              <a:rPr lang="en" b="1" dirty="0">
                <a:latin typeface="Helvetica Neue" panose="02000503000000020004" pitchFamily="2" charset="0"/>
                <a:ea typeface="Helvetica Neue" panose="02000503000000020004" pitchFamily="2" charset="0"/>
                <a:cs typeface="Helvetica Neue" panose="02000503000000020004" pitchFamily="2" charset="0"/>
              </a:rPr>
              <a:t>Lecture Outline</a:t>
            </a:r>
            <a:endParaRPr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4" name="Google Shape;404;p55"/>
          <p:cNvSpPr txBox="1">
            <a:spLocks noGrp="1"/>
          </p:cNvSpPr>
          <p:nvPr>
            <p:ph type="body" idx="1"/>
          </p:nvPr>
        </p:nvSpPr>
        <p:spPr>
          <a:xfrm>
            <a:off x="1940651" y="3100270"/>
            <a:ext cx="8310253" cy="2713415"/>
          </a:xfrm>
          <a:prstGeom prst="rect">
            <a:avLst/>
          </a:prstGeom>
        </p:spPr>
        <p:txBody>
          <a:bodyPr spcFirstLastPara="1" vert="horz" wrap="square" lIns="243800" tIns="243800" rIns="243800" bIns="243800" rtlCol="0" anchor="t" anchorCtr="0">
            <a:normAutofit/>
          </a:bodyPr>
          <a:lstStyle/>
          <a:p>
            <a:pPr marL="455568" indent="0">
              <a:lnSpc>
                <a:spcPct val="200000"/>
              </a:lnSpc>
              <a:buSzPct val="1000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What is a function?</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3" name="Google Shape;403;p55"/>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2</a:t>
            </a:fld>
            <a:endParaRPr>
              <a:solidFill>
                <a:schemeClr val="accent1"/>
              </a:solidFill>
              <a:latin typeface="Lato"/>
              <a:ea typeface="Lato"/>
              <a:cs typeface="Lato"/>
              <a:sym typeface="Lato"/>
            </a:endParaRPr>
          </a:p>
        </p:txBody>
      </p:sp>
      <p:sp>
        <p:nvSpPr>
          <p:cNvPr id="2" name="Google Shape;404;p55">
            <a:extLst>
              <a:ext uri="{FF2B5EF4-FFF2-40B4-BE49-F238E27FC236}">
                <a16:creationId xmlns:a16="http://schemas.microsoft.com/office/drawing/2014/main" id="{C23724DE-D0F4-1B60-8BA5-494F5A90BC74}"/>
              </a:ext>
            </a:extLst>
          </p:cNvPr>
          <p:cNvSpPr txBox="1">
            <a:spLocks/>
          </p:cNvSpPr>
          <p:nvPr/>
        </p:nvSpPr>
        <p:spPr>
          <a:xfrm>
            <a:off x="1943152" y="4916575"/>
            <a:ext cx="7440691"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Built-ins</a:t>
            </a:r>
          </a:p>
        </p:txBody>
      </p:sp>
      <p:sp>
        <p:nvSpPr>
          <p:cNvPr id="4" name="Google Shape;404;p55">
            <a:extLst>
              <a:ext uri="{FF2B5EF4-FFF2-40B4-BE49-F238E27FC236}">
                <a16:creationId xmlns:a16="http://schemas.microsoft.com/office/drawing/2014/main" id="{180CAAB9-6628-C8B5-C756-4862FDC21B3A}"/>
              </a:ext>
            </a:extLst>
          </p:cNvPr>
          <p:cNvSpPr txBox="1">
            <a:spLocks/>
          </p:cNvSpPr>
          <p:nvPr/>
        </p:nvSpPr>
        <p:spPr>
          <a:xfrm>
            <a:off x="1943152" y="6695511"/>
            <a:ext cx="8307752"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Importing</a:t>
            </a:r>
          </a:p>
        </p:txBody>
      </p:sp>
      <p:sp>
        <p:nvSpPr>
          <p:cNvPr id="7" name="Google Shape;404;p55">
            <a:extLst>
              <a:ext uri="{FF2B5EF4-FFF2-40B4-BE49-F238E27FC236}">
                <a16:creationId xmlns:a16="http://schemas.microsoft.com/office/drawing/2014/main" id="{26A6C10D-8715-980E-D1AE-8AF2A435CA4D}"/>
              </a:ext>
            </a:extLst>
          </p:cNvPr>
          <p:cNvSpPr txBox="1">
            <a:spLocks/>
          </p:cNvSpPr>
          <p:nvPr/>
        </p:nvSpPr>
        <p:spPr>
          <a:xfrm>
            <a:off x="1940651" y="8474447"/>
            <a:ext cx="8307752"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Function defining</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12" name="Google Shape;412;p56"/>
          <p:cNvSpPr txBox="1">
            <a:spLocks noGrp="1"/>
          </p:cNvSpPr>
          <p:nvPr>
            <p:ph type="title"/>
          </p:nvPr>
        </p:nvSpPr>
        <p:spPr>
          <a:xfrm>
            <a:off x="298453" y="249400"/>
            <a:ext cx="20503200" cy="1468069"/>
          </a:xfrm>
          <a:prstGeom prst="rect">
            <a:avLst/>
          </a:prstGeom>
        </p:spPr>
        <p:txBody>
          <a:bodyPr spcFirstLastPara="1" vert="horz" wrap="square" lIns="243800" tIns="243800" rIns="243800" bIns="243800" rtlCol="0" anchor="t" anchorCtr="0">
            <a:noAutofit/>
          </a:body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What is a function?</a:t>
            </a:r>
            <a:b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b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9624BAF5-4208-3B10-0793-9F8CB6C88CCD}"/>
              </a:ext>
            </a:extLst>
          </p:cNvPr>
          <p:cNvSpPr/>
          <p:nvPr/>
        </p:nvSpPr>
        <p:spPr>
          <a:xfrm>
            <a:off x="3995224" y="6123965"/>
            <a:ext cx="2166425" cy="1468069"/>
          </a:xfrm>
          <a:prstGeom prst="rect">
            <a:avLst/>
          </a:prstGeom>
          <a:solidFill>
            <a:srgbClr val="006B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Input</a:t>
            </a:r>
          </a:p>
        </p:txBody>
      </p:sp>
      <p:sp>
        <p:nvSpPr>
          <p:cNvPr id="8" name="Rectangle 7">
            <a:extLst>
              <a:ext uri="{FF2B5EF4-FFF2-40B4-BE49-F238E27FC236}">
                <a16:creationId xmlns:a16="http://schemas.microsoft.com/office/drawing/2014/main" id="{E6D556A8-B121-E8E5-51D1-5FFFA266C9D5}"/>
              </a:ext>
            </a:extLst>
          </p:cNvPr>
          <p:cNvSpPr/>
          <p:nvPr/>
        </p:nvSpPr>
        <p:spPr>
          <a:xfrm>
            <a:off x="11110373" y="6123965"/>
            <a:ext cx="2166425" cy="1468069"/>
          </a:xfrm>
          <a:prstGeom prst="rect">
            <a:avLst/>
          </a:prstGeom>
          <a:solidFill>
            <a:srgbClr val="006B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Output</a:t>
            </a:r>
          </a:p>
        </p:txBody>
      </p:sp>
      <p:sp>
        <p:nvSpPr>
          <p:cNvPr id="5" name="Rounded Rectangle 4">
            <a:extLst>
              <a:ext uri="{FF2B5EF4-FFF2-40B4-BE49-F238E27FC236}">
                <a16:creationId xmlns:a16="http://schemas.microsoft.com/office/drawing/2014/main" id="{A988900C-76DA-2CCD-2296-AD3A5CFE7ABF}"/>
              </a:ext>
            </a:extLst>
          </p:cNvPr>
          <p:cNvSpPr/>
          <p:nvPr/>
        </p:nvSpPr>
        <p:spPr>
          <a:xfrm>
            <a:off x="9380048" y="4871948"/>
            <a:ext cx="5627077" cy="3972104"/>
          </a:xfrm>
          <a:prstGeom prst="roundRect">
            <a:avLst/>
          </a:prstGeom>
          <a:solidFill>
            <a:srgbClr val="004C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dirty="0">
                <a:solidFill>
                  <a:schemeClr val="bg1"/>
                </a:solidFill>
              </a:rPr>
              <a:t>Function</a:t>
            </a:r>
            <a:endParaRPr lang="en-US"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0" nodeType="clickEffect">
                                  <p:stCondLst>
                                    <p:cond delay="0"/>
                                  </p:stCondLst>
                                  <p:childTnLst>
                                    <p:animMotion origin="layout" path="M -1.11444E-6 0 L 0.29176 0 " pathEditMode="relative" rAng="0" ptsTypes="AA">
                                      <p:cBhvr>
                                        <p:cTn id="16" dur="1000" fill="hold"/>
                                        <p:tgtEl>
                                          <p:spTgt spid="6"/>
                                        </p:tgtEl>
                                        <p:attrNameLst>
                                          <p:attrName>ppt_x</p:attrName>
                                          <p:attrName>ppt_y</p:attrName>
                                        </p:attrNameLst>
                                      </p:cBhvr>
                                      <p:rCtr x="14588" y="0"/>
                                    </p:animMotion>
                                  </p:childTnLst>
                                </p:cTn>
                              </p:par>
                            </p:childTnLst>
                          </p:cTn>
                        </p:par>
                      </p:childTnLst>
                    </p:cTn>
                  </p:par>
                  <p:par>
                    <p:cTn id="17" fill="hold">
                      <p:stCondLst>
                        <p:cond delay="indefinite"/>
                      </p:stCondLst>
                      <p:childTnLst>
                        <p:par>
                          <p:cTn id="18" fill="hold">
                            <p:stCondLst>
                              <p:cond delay="0"/>
                            </p:stCondLst>
                            <p:childTnLst>
                              <p:par>
                                <p:cTn id="19" presetID="32" presetClass="emph" presetSubtype="0" fill="hold" grpId="1" nodeType="clickEffect">
                                  <p:stCondLst>
                                    <p:cond delay="0"/>
                                  </p:stCondLst>
                                  <p:childTnLst>
                                    <p:animRot by="120000">
                                      <p:cBhvr>
                                        <p:cTn id="20" dur="100" fill="hold">
                                          <p:stCondLst>
                                            <p:cond delay="0"/>
                                          </p:stCondLst>
                                        </p:cTn>
                                        <p:tgtEl>
                                          <p:spTgt spid="5"/>
                                        </p:tgtEl>
                                        <p:attrNameLst>
                                          <p:attrName>r</p:attrName>
                                        </p:attrNameLst>
                                      </p:cBhvr>
                                    </p:animRot>
                                    <p:animRot by="-240000">
                                      <p:cBhvr>
                                        <p:cTn id="21" dur="200" fill="hold">
                                          <p:stCondLst>
                                            <p:cond delay="200"/>
                                          </p:stCondLst>
                                        </p:cTn>
                                        <p:tgtEl>
                                          <p:spTgt spid="5"/>
                                        </p:tgtEl>
                                        <p:attrNameLst>
                                          <p:attrName>r</p:attrName>
                                        </p:attrNameLst>
                                      </p:cBhvr>
                                    </p:animRot>
                                    <p:animRot by="240000">
                                      <p:cBhvr>
                                        <p:cTn id="22" dur="200" fill="hold">
                                          <p:stCondLst>
                                            <p:cond delay="400"/>
                                          </p:stCondLst>
                                        </p:cTn>
                                        <p:tgtEl>
                                          <p:spTgt spid="5"/>
                                        </p:tgtEl>
                                        <p:attrNameLst>
                                          <p:attrName>r</p:attrName>
                                        </p:attrNameLst>
                                      </p:cBhvr>
                                    </p:animRot>
                                    <p:animRot by="-240000">
                                      <p:cBhvr>
                                        <p:cTn id="23" dur="200" fill="hold">
                                          <p:stCondLst>
                                            <p:cond delay="600"/>
                                          </p:stCondLst>
                                        </p:cTn>
                                        <p:tgtEl>
                                          <p:spTgt spid="5"/>
                                        </p:tgtEl>
                                        <p:attrNameLst>
                                          <p:attrName>r</p:attrName>
                                        </p:attrNameLst>
                                      </p:cBhvr>
                                    </p:animRot>
                                    <p:animRot by="120000">
                                      <p:cBhvr>
                                        <p:cTn id="24" dur="200" fill="hold">
                                          <p:stCondLst>
                                            <p:cond delay="800"/>
                                          </p:stCondLst>
                                        </p:cTn>
                                        <p:tgtEl>
                                          <p:spTgt spid="5"/>
                                        </p:tgtEl>
                                        <p:attrNameLst>
                                          <p:attrName>r</p:attrName>
                                        </p:attrNameLst>
                                      </p:cBhvr>
                                    </p:animRot>
                                  </p:childTnLst>
                                </p:cTn>
                              </p:par>
                              <p:par>
                                <p:cTn id="25" presetID="1" presetClass="exit" presetSubtype="0" fill="hold" grpId="2"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50000" decel="50000" fill="hold" grpId="0" nodeType="clickEffect">
                                  <p:stCondLst>
                                    <p:cond delay="0"/>
                                  </p:stCondLst>
                                  <p:childTnLst>
                                    <p:animMotion origin="layout" path="M 5.55112E-17 0 L 0.29072 0 " pathEditMode="relative" rAng="0" ptsTypes="AA">
                                      <p:cBhvr>
                                        <p:cTn id="30" dur="1000" fill="hold"/>
                                        <p:tgtEl>
                                          <p:spTgt spid="8"/>
                                        </p:tgtEl>
                                        <p:attrNameLst>
                                          <p:attrName>ppt_x</p:attrName>
                                          <p:attrName>ppt_y</p:attrName>
                                        </p:attrNameLst>
                                      </p:cBhvr>
                                      <p:rCtr x="1453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8" grpId="0" animBg="1"/>
      <p:bldP spid="8" grpId="1" animBg="1"/>
      <p:bldP spid="5" grpId="0" animBg="1"/>
      <p:bldP spid="5"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12" name="Google Shape;412;p56"/>
          <p:cNvSpPr txBox="1">
            <a:spLocks noGrp="1"/>
          </p:cNvSpPr>
          <p:nvPr>
            <p:ph type="title"/>
          </p:nvPr>
        </p:nvSpPr>
        <p:spPr>
          <a:xfrm>
            <a:off x="298453" y="249400"/>
            <a:ext cx="20503200" cy="1468069"/>
          </a:xfrm>
          <a:prstGeom prst="rect">
            <a:avLst/>
          </a:prstGeom>
        </p:spPr>
        <p:txBody>
          <a:bodyPr spcFirstLastPara="1" vert="horz" wrap="square" lIns="243800" tIns="243800" rIns="243800" bIns="243800" rtlCol="0" anchor="t" anchorCtr="0">
            <a:noAutofit/>
          </a:body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What is a function?</a:t>
            </a:r>
            <a:b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br>
            <a:b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b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9624BAF5-4208-3B10-0793-9F8CB6C88CCD}"/>
              </a:ext>
            </a:extLst>
          </p:cNvPr>
          <p:cNvSpPr/>
          <p:nvPr/>
        </p:nvSpPr>
        <p:spPr>
          <a:xfrm>
            <a:off x="3995224" y="6123965"/>
            <a:ext cx="2166425" cy="1468069"/>
          </a:xfrm>
          <a:prstGeom prst="rect">
            <a:avLst/>
          </a:prstGeom>
          <a:solidFill>
            <a:srgbClr val="006B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"Hello world!"</a:t>
            </a:r>
          </a:p>
        </p:txBody>
      </p:sp>
      <p:sp>
        <p:nvSpPr>
          <p:cNvPr id="2" name="Google Shape;412;p56">
            <a:extLst>
              <a:ext uri="{FF2B5EF4-FFF2-40B4-BE49-F238E27FC236}">
                <a16:creationId xmlns:a16="http://schemas.microsoft.com/office/drawing/2014/main" id="{9CE3DCA1-A203-CC46-7220-D4CE548CB35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print()</a:t>
            </a:r>
          </a:p>
        </p:txBody>
      </p:sp>
      <p:pic>
        <p:nvPicPr>
          <p:cNvPr id="3" name="Picture 2">
            <a:extLst>
              <a:ext uri="{FF2B5EF4-FFF2-40B4-BE49-F238E27FC236}">
                <a16:creationId xmlns:a16="http://schemas.microsoft.com/office/drawing/2014/main" id="{3ECF2FBE-3EC5-CB09-250B-BF4384345C66}"/>
              </a:ext>
            </a:extLst>
          </p:cNvPr>
          <p:cNvPicPr>
            <a:picLocks noChangeAspect="1"/>
          </p:cNvPicPr>
          <p:nvPr/>
        </p:nvPicPr>
        <p:blipFill>
          <a:blip r:embed="rId3"/>
          <a:stretch>
            <a:fillRect/>
          </a:stretch>
        </p:blipFill>
        <p:spPr>
          <a:xfrm>
            <a:off x="11241087" y="6527800"/>
            <a:ext cx="1905000" cy="660400"/>
          </a:xfrm>
          <a:prstGeom prst="rect">
            <a:avLst/>
          </a:prstGeom>
          <a:ln w="12700">
            <a:solidFill>
              <a:schemeClr val="tx1"/>
            </a:solidFill>
          </a:ln>
        </p:spPr>
      </p:pic>
      <p:sp>
        <p:nvSpPr>
          <p:cNvPr id="5" name="Rounded Rectangle 4">
            <a:extLst>
              <a:ext uri="{FF2B5EF4-FFF2-40B4-BE49-F238E27FC236}">
                <a16:creationId xmlns:a16="http://schemas.microsoft.com/office/drawing/2014/main" id="{A988900C-76DA-2CCD-2296-AD3A5CFE7ABF}"/>
              </a:ext>
            </a:extLst>
          </p:cNvPr>
          <p:cNvSpPr/>
          <p:nvPr/>
        </p:nvSpPr>
        <p:spPr>
          <a:xfrm>
            <a:off x="9380048" y="4871948"/>
            <a:ext cx="5627077" cy="3972104"/>
          </a:xfrm>
          <a:prstGeom prst="roundRect">
            <a:avLst/>
          </a:prstGeom>
          <a:solidFill>
            <a:srgbClr val="004C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dirty="0">
                <a:solidFill>
                  <a:schemeClr val="bg1"/>
                </a:solidFill>
              </a:rPr>
              <a:t>Print</a:t>
            </a:r>
            <a:endParaRPr lang="en-US" dirty="0">
              <a:solidFill>
                <a:schemeClr val="bg1"/>
              </a:solidFill>
            </a:endParaRPr>
          </a:p>
        </p:txBody>
      </p:sp>
    </p:spTree>
    <p:extLst>
      <p:ext uri="{BB962C8B-B14F-4D97-AF65-F5344CB8AC3E}">
        <p14:creationId xmlns:p14="http://schemas.microsoft.com/office/powerpoint/2010/main" val="3266921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0" nodeType="clickEffect">
                                  <p:stCondLst>
                                    <p:cond delay="0"/>
                                  </p:stCondLst>
                                  <p:childTnLst>
                                    <p:animMotion origin="layout" path="M -1.11444E-6 0 L 0.29176 0 " pathEditMode="relative" rAng="0" ptsTypes="AA">
                                      <p:cBhvr>
                                        <p:cTn id="16" dur="1000" fill="hold"/>
                                        <p:tgtEl>
                                          <p:spTgt spid="6"/>
                                        </p:tgtEl>
                                        <p:attrNameLst>
                                          <p:attrName>ppt_x</p:attrName>
                                          <p:attrName>ppt_y</p:attrName>
                                        </p:attrNameLst>
                                      </p:cBhvr>
                                      <p:rCtr x="14588" y="0"/>
                                    </p:animMotion>
                                  </p:childTnLst>
                                </p:cTn>
                              </p:par>
                            </p:childTnLst>
                          </p:cTn>
                        </p:par>
                      </p:childTnLst>
                    </p:cTn>
                  </p:par>
                  <p:par>
                    <p:cTn id="17" fill="hold">
                      <p:stCondLst>
                        <p:cond delay="indefinite"/>
                      </p:stCondLst>
                      <p:childTnLst>
                        <p:par>
                          <p:cTn id="18" fill="hold">
                            <p:stCondLst>
                              <p:cond delay="0"/>
                            </p:stCondLst>
                            <p:childTnLst>
                              <p:par>
                                <p:cTn id="19" presetID="32" presetClass="emph" presetSubtype="0" fill="hold" grpId="1" nodeType="clickEffect">
                                  <p:stCondLst>
                                    <p:cond delay="0"/>
                                  </p:stCondLst>
                                  <p:childTnLst>
                                    <p:animRot by="120000">
                                      <p:cBhvr>
                                        <p:cTn id="20" dur="100" fill="hold">
                                          <p:stCondLst>
                                            <p:cond delay="0"/>
                                          </p:stCondLst>
                                        </p:cTn>
                                        <p:tgtEl>
                                          <p:spTgt spid="5"/>
                                        </p:tgtEl>
                                        <p:attrNameLst>
                                          <p:attrName>r</p:attrName>
                                        </p:attrNameLst>
                                      </p:cBhvr>
                                    </p:animRot>
                                    <p:animRot by="-240000">
                                      <p:cBhvr>
                                        <p:cTn id="21" dur="200" fill="hold">
                                          <p:stCondLst>
                                            <p:cond delay="200"/>
                                          </p:stCondLst>
                                        </p:cTn>
                                        <p:tgtEl>
                                          <p:spTgt spid="5"/>
                                        </p:tgtEl>
                                        <p:attrNameLst>
                                          <p:attrName>r</p:attrName>
                                        </p:attrNameLst>
                                      </p:cBhvr>
                                    </p:animRot>
                                    <p:animRot by="240000">
                                      <p:cBhvr>
                                        <p:cTn id="22" dur="200" fill="hold">
                                          <p:stCondLst>
                                            <p:cond delay="400"/>
                                          </p:stCondLst>
                                        </p:cTn>
                                        <p:tgtEl>
                                          <p:spTgt spid="5"/>
                                        </p:tgtEl>
                                        <p:attrNameLst>
                                          <p:attrName>r</p:attrName>
                                        </p:attrNameLst>
                                      </p:cBhvr>
                                    </p:animRot>
                                    <p:animRot by="-240000">
                                      <p:cBhvr>
                                        <p:cTn id="23" dur="200" fill="hold">
                                          <p:stCondLst>
                                            <p:cond delay="600"/>
                                          </p:stCondLst>
                                        </p:cTn>
                                        <p:tgtEl>
                                          <p:spTgt spid="5"/>
                                        </p:tgtEl>
                                        <p:attrNameLst>
                                          <p:attrName>r</p:attrName>
                                        </p:attrNameLst>
                                      </p:cBhvr>
                                    </p:animRot>
                                    <p:animRot by="120000">
                                      <p:cBhvr>
                                        <p:cTn id="24" dur="200" fill="hold">
                                          <p:stCondLst>
                                            <p:cond delay="800"/>
                                          </p:stCondLst>
                                        </p:cTn>
                                        <p:tgtEl>
                                          <p:spTgt spid="5"/>
                                        </p:tgtEl>
                                        <p:attrNameLst>
                                          <p:attrName>r</p:attrName>
                                        </p:attrNameLst>
                                      </p:cBhvr>
                                    </p:animRo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nodeType="clickEffect">
                                  <p:stCondLst>
                                    <p:cond delay="0"/>
                                  </p:stCondLst>
                                  <p:childTnLst>
                                    <p:animMotion origin="layout" path="M 5.55112E-17 0 L 0.25452 0 " pathEditMode="relative" rAng="0" ptsTypes="AA">
                                      <p:cBhvr>
                                        <p:cTn id="28" dur="1000" fill="hold"/>
                                        <p:tgtEl>
                                          <p:spTgt spid="3"/>
                                        </p:tgtEl>
                                        <p:attrNameLst>
                                          <p:attrName>ppt_x</p:attrName>
                                          <p:attrName>ppt_y</p:attrName>
                                        </p:attrNameLst>
                                      </p:cBhvr>
                                      <p:rCtr x="1272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animBg="1"/>
      <p:bldP spid="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5"/>
          <p:cNvSpPr txBox="1">
            <a:spLocks noGrp="1"/>
          </p:cNvSpPr>
          <p:nvPr>
            <p:ph type="title"/>
          </p:nvPr>
        </p:nvSpPr>
        <p:spPr>
          <a:xfrm>
            <a:off x="1768836" y="1543984"/>
            <a:ext cx="20505870" cy="1427200"/>
          </a:xfrm>
          <a:prstGeom prst="rect">
            <a:avLst/>
          </a:prstGeom>
        </p:spPr>
        <p:txBody>
          <a:bodyPr spcFirstLastPara="1" vert="horz" wrap="square" lIns="243800" tIns="243800" rIns="243800" bIns="243800" rtlCol="0" anchor="t" anchorCtr="0">
            <a:normAutofit fontScale="90000"/>
          </a:bodyPr>
          <a:lstStyle/>
          <a:p>
            <a:r>
              <a:rPr lang="en" b="1" dirty="0">
                <a:latin typeface="Helvetica Neue" panose="02000503000000020004" pitchFamily="2" charset="0"/>
                <a:ea typeface="Helvetica Neue" panose="02000503000000020004" pitchFamily="2" charset="0"/>
                <a:cs typeface="Helvetica Neue" panose="02000503000000020004" pitchFamily="2" charset="0"/>
              </a:rPr>
              <a:t>Lecture Outline</a:t>
            </a:r>
            <a:endParaRPr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4" name="Google Shape;404;p55"/>
          <p:cNvSpPr txBox="1">
            <a:spLocks noGrp="1"/>
          </p:cNvSpPr>
          <p:nvPr>
            <p:ph type="body" idx="1"/>
          </p:nvPr>
        </p:nvSpPr>
        <p:spPr>
          <a:xfrm>
            <a:off x="1940651" y="3100270"/>
            <a:ext cx="8310253" cy="2713415"/>
          </a:xfrm>
          <a:prstGeom prst="rect">
            <a:avLst/>
          </a:prstGeom>
        </p:spPr>
        <p:txBody>
          <a:bodyPr spcFirstLastPara="1" vert="horz" wrap="square" lIns="243800" tIns="243800" rIns="243800" bIns="243800" rtlCol="0" anchor="t" anchorCtr="0">
            <a:normAutofit/>
          </a:bodyPr>
          <a:lstStyle/>
          <a:p>
            <a:pPr marL="455568" indent="0">
              <a:lnSpc>
                <a:spcPct val="200000"/>
              </a:lnSpc>
              <a:buSzPct val="1000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What is a function?</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3" name="Google Shape;403;p55"/>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5</a:t>
            </a:fld>
            <a:endParaRPr>
              <a:solidFill>
                <a:schemeClr val="accent1"/>
              </a:solidFill>
              <a:latin typeface="Lato"/>
              <a:ea typeface="Lato"/>
              <a:cs typeface="Lato"/>
              <a:sym typeface="Lato"/>
            </a:endParaRPr>
          </a:p>
        </p:txBody>
      </p:sp>
      <p:sp>
        <p:nvSpPr>
          <p:cNvPr id="2" name="Google Shape;404;p55">
            <a:extLst>
              <a:ext uri="{FF2B5EF4-FFF2-40B4-BE49-F238E27FC236}">
                <a16:creationId xmlns:a16="http://schemas.microsoft.com/office/drawing/2014/main" id="{C23724DE-D0F4-1B60-8BA5-494F5A90BC74}"/>
              </a:ext>
            </a:extLst>
          </p:cNvPr>
          <p:cNvSpPr txBox="1">
            <a:spLocks/>
          </p:cNvSpPr>
          <p:nvPr/>
        </p:nvSpPr>
        <p:spPr>
          <a:xfrm>
            <a:off x="1943152" y="4916575"/>
            <a:ext cx="7440691"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Built-ins</a:t>
            </a:r>
          </a:p>
        </p:txBody>
      </p:sp>
      <p:sp>
        <p:nvSpPr>
          <p:cNvPr id="4" name="Google Shape;404;p55">
            <a:extLst>
              <a:ext uri="{FF2B5EF4-FFF2-40B4-BE49-F238E27FC236}">
                <a16:creationId xmlns:a16="http://schemas.microsoft.com/office/drawing/2014/main" id="{180CAAB9-6628-C8B5-C756-4862FDC21B3A}"/>
              </a:ext>
            </a:extLst>
          </p:cNvPr>
          <p:cNvSpPr txBox="1">
            <a:spLocks/>
          </p:cNvSpPr>
          <p:nvPr/>
        </p:nvSpPr>
        <p:spPr>
          <a:xfrm>
            <a:off x="1943152" y="6695511"/>
            <a:ext cx="8307752"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Importing</a:t>
            </a:r>
          </a:p>
        </p:txBody>
      </p:sp>
      <p:sp>
        <p:nvSpPr>
          <p:cNvPr id="7" name="Google Shape;404;p55">
            <a:extLst>
              <a:ext uri="{FF2B5EF4-FFF2-40B4-BE49-F238E27FC236}">
                <a16:creationId xmlns:a16="http://schemas.microsoft.com/office/drawing/2014/main" id="{26A6C10D-8715-980E-D1AE-8AF2A435CA4D}"/>
              </a:ext>
            </a:extLst>
          </p:cNvPr>
          <p:cNvSpPr txBox="1">
            <a:spLocks/>
          </p:cNvSpPr>
          <p:nvPr/>
        </p:nvSpPr>
        <p:spPr>
          <a:xfrm>
            <a:off x="1940651" y="8474447"/>
            <a:ext cx="8307752"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Function defining</a:t>
            </a:r>
          </a:p>
        </p:txBody>
      </p:sp>
    </p:spTree>
    <p:extLst>
      <p:ext uri="{BB962C8B-B14F-4D97-AF65-F5344CB8AC3E}">
        <p14:creationId xmlns:p14="http://schemas.microsoft.com/office/powerpoint/2010/main" val="37098377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12" name="Google Shape;412;p56"/>
          <p:cNvSpPr txBox="1">
            <a:spLocks noGrp="1"/>
          </p:cNvSpPr>
          <p:nvPr>
            <p:ph type="title"/>
          </p:nvPr>
        </p:nvSpPr>
        <p:spPr>
          <a:xfrm>
            <a:off x="298453" y="249400"/>
            <a:ext cx="20503200" cy="1468069"/>
          </a:xfrm>
          <a:prstGeom prst="rect">
            <a:avLst/>
          </a:prstGeom>
        </p:spPr>
        <p:txBody>
          <a:bodyPr spcFirstLastPara="1" vert="horz" wrap="square" lIns="243800" tIns="243800" rIns="243800" bIns="243800" rtlCol="0" anchor="t" anchorCtr="0">
            <a:noAutofit/>
          </a:body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Built-ins</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Google Shape;489;p62">
            <a:extLst>
              <a:ext uri="{FF2B5EF4-FFF2-40B4-BE49-F238E27FC236}">
                <a16:creationId xmlns:a16="http://schemas.microsoft.com/office/drawing/2014/main" id="{E8502A30-478F-53DC-F03D-C8DBA190AB08}"/>
              </a:ext>
            </a:extLst>
          </p:cNvPr>
          <p:cNvSpPr txBox="1">
            <a:spLocks noGrp="1"/>
          </p:cNvSpPr>
          <p:nvPr>
            <p:ph type="body" idx="1"/>
          </p:nvPr>
        </p:nvSpPr>
        <p:spPr>
          <a:xfrm>
            <a:off x="4645072" y="3238101"/>
            <a:ext cx="15097030" cy="1427200"/>
          </a:xfrm>
          <a:prstGeom prst="rect">
            <a:avLst/>
          </a:prstGeom>
        </p:spPr>
        <p:txBody>
          <a:bodyPr spcFirstLastPara="1" vert="horz" wrap="square" lIns="243800" tIns="243800" rIns="243800" bIns="243800" rtlCol="0" anchor="t" anchorCtr="0">
            <a:noAutofit/>
          </a:bodyPr>
          <a:lstStyle/>
          <a:p>
            <a:pPr marL="389519" indent="0">
              <a:lnSpc>
                <a:spcPct val="135714"/>
              </a:lnSpc>
              <a:buNone/>
            </a:pPr>
            <a:r>
              <a:rPr lang="en-US" sz="3200" u="sng" dirty="0">
                <a:solidFill>
                  <a:schemeClr val="hlink"/>
                </a:solidFill>
                <a:latin typeface="Courier New"/>
                <a:ea typeface="Courier New"/>
                <a:cs typeface="Courier New"/>
                <a:sym typeface="Courier New"/>
                <a:hlinkClick r:id="rId3"/>
              </a:rPr>
              <a:t>https://docs.python.org/3/library/functions.html</a:t>
            </a:r>
            <a:endParaRPr lang="en" sz="3200" u="sng" dirty="0">
              <a:solidFill>
                <a:schemeClr val="hlink"/>
              </a:solidFill>
              <a:highlight>
                <a:srgbClr val="FFFFFE"/>
              </a:highlight>
              <a:latin typeface="Courier New"/>
              <a:ea typeface="Courier New"/>
              <a:cs typeface="Courier New"/>
              <a:sym typeface="Courier New"/>
              <a:hlinkClick r:id="rId3"/>
            </a:endParaRPr>
          </a:p>
        </p:txBody>
      </p:sp>
      <p:sp>
        <p:nvSpPr>
          <p:cNvPr id="5" name="Oval 4">
            <a:extLst>
              <a:ext uri="{FF2B5EF4-FFF2-40B4-BE49-F238E27FC236}">
                <a16:creationId xmlns:a16="http://schemas.microsoft.com/office/drawing/2014/main" id="{8260F778-B6B4-F550-50B1-225623C08243}"/>
              </a:ext>
            </a:extLst>
          </p:cNvPr>
          <p:cNvSpPr/>
          <p:nvPr/>
        </p:nvSpPr>
        <p:spPr>
          <a:xfrm>
            <a:off x="2773180" y="4665301"/>
            <a:ext cx="914400" cy="914400"/>
          </a:xfrm>
          <a:prstGeom prst="ellipse">
            <a:avLst/>
          </a:prstGeom>
          <a:noFill/>
          <a:ln w="38100">
            <a:solidFill>
              <a:srgbClr val="006B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rgbClr val="006B64"/>
                </a:solidFill>
              </a:rPr>
              <a:t>1</a:t>
            </a:r>
            <a:endParaRPr lang="en-US" dirty="0">
              <a:solidFill>
                <a:srgbClr val="006B64"/>
              </a:solidFill>
            </a:endParaRPr>
          </a:p>
        </p:txBody>
      </p:sp>
      <p:sp>
        <p:nvSpPr>
          <p:cNvPr id="7" name="Oval 6">
            <a:extLst>
              <a:ext uri="{FF2B5EF4-FFF2-40B4-BE49-F238E27FC236}">
                <a16:creationId xmlns:a16="http://schemas.microsoft.com/office/drawing/2014/main" id="{11021557-052F-4FFA-C486-356D973E65A3}"/>
              </a:ext>
            </a:extLst>
          </p:cNvPr>
          <p:cNvSpPr/>
          <p:nvPr/>
        </p:nvSpPr>
        <p:spPr>
          <a:xfrm>
            <a:off x="2773180" y="7853497"/>
            <a:ext cx="914400" cy="914400"/>
          </a:xfrm>
          <a:prstGeom prst="ellipse">
            <a:avLst/>
          </a:prstGeom>
          <a:noFill/>
          <a:ln w="38100">
            <a:solidFill>
              <a:srgbClr val="006B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rgbClr val="006B64"/>
                </a:solidFill>
              </a:rPr>
              <a:t>2</a:t>
            </a:r>
            <a:endParaRPr lang="en-US" dirty="0">
              <a:solidFill>
                <a:srgbClr val="006B64"/>
              </a:solidFill>
            </a:endParaRPr>
          </a:p>
        </p:txBody>
      </p:sp>
      <p:pic>
        <p:nvPicPr>
          <p:cNvPr id="8" name="Picture 7">
            <a:extLst>
              <a:ext uri="{FF2B5EF4-FFF2-40B4-BE49-F238E27FC236}">
                <a16:creationId xmlns:a16="http://schemas.microsoft.com/office/drawing/2014/main" id="{EE0B059E-6BC0-26A4-D80A-5864F6EDE493}"/>
              </a:ext>
            </a:extLst>
          </p:cNvPr>
          <p:cNvPicPr>
            <a:picLocks noChangeAspect="1"/>
          </p:cNvPicPr>
          <p:nvPr/>
        </p:nvPicPr>
        <p:blipFill>
          <a:blip r:embed="rId4"/>
          <a:stretch>
            <a:fillRect/>
          </a:stretch>
        </p:blipFill>
        <p:spPr>
          <a:xfrm>
            <a:off x="2484422" y="5790054"/>
            <a:ext cx="13188930" cy="1748643"/>
          </a:xfrm>
          <a:prstGeom prst="rect">
            <a:avLst/>
          </a:prstGeom>
        </p:spPr>
      </p:pic>
      <p:pic>
        <p:nvPicPr>
          <p:cNvPr id="9" name="Picture 8">
            <a:extLst>
              <a:ext uri="{FF2B5EF4-FFF2-40B4-BE49-F238E27FC236}">
                <a16:creationId xmlns:a16="http://schemas.microsoft.com/office/drawing/2014/main" id="{851D4569-69A6-A511-B757-66D9DDB7C3C9}"/>
              </a:ext>
            </a:extLst>
          </p:cNvPr>
          <p:cNvPicPr>
            <a:picLocks noChangeAspect="1"/>
          </p:cNvPicPr>
          <p:nvPr/>
        </p:nvPicPr>
        <p:blipFill>
          <a:blip r:embed="rId5"/>
          <a:stretch>
            <a:fillRect/>
          </a:stretch>
        </p:blipFill>
        <p:spPr>
          <a:xfrm>
            <a:off x="2484422" y="8978250"/>
            <a:ext cx="11845920" cy="2876865"/>
          </a:xfrm>
          <a:prstGeom prst="rect">
            <a:avLst/>
          </a:prstGeom>
        </p:spPr>
      </p:pic>
    </p:spTree>
    <p:extLst>
      <p:ext uri="{BB962C8B-B14F-4D97-AF65-F5344CB8AC3E}">
        <p14:creationId xmlns:p14="http://schemas.microsoft.com/office/powerpoint/2010/main" val="36167907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5"/>
          <p:cNvSpPr txBox="1">
            <a:spLocks noGrp="1"/>
          </p:cNvSpPr>
          <p:nvPr>
            <p:ph type="title"/>
          </p:nvPr>
        </p:nvSpPr>
        <p:spPr>
          <a:xfrm>
            <a:off x="1768836" y="1543984"/>
            <a:ext cx="20505870" cy="1427200"/>
          </a:xfrm>
          <a:prstGeom prst="rect">
            <a:avLst/>
          </a:prstGeom>
        </p:spPr>
        <p:txBody>
          <a:bodyPr spcFirstLastPara="1" vert="horz" wrap="square" lIns="243800" tIns="243800" rIns="243800" bIns="243800" rtlCol="0" anchor="t" anchorCtr="0">
            <a:normAutofit fontScale="90000"/>
          </a:bodyPr>
          <a:lstStyle/>
          <a:p>
            <a:r>
              <a:rPr lang="en" b="1" dirty="0">
                <a:latin typeface="Helvetica Neue" panose="02000503000000020004" pitchFamily="2" charset="0"/>
                <a:ea typeface="Helvetica Neue" panose="02000503000000020004" pitchFamily="2" charset="0"/>
                <a:cs typeface="Helvetica Neue" panose="02000503000000020004" pitchFamily="2" charset="0"/>
              </a:rPr>
              <a:t>Lecture Outline</a:t>
            </a:r>
            <a:endParaRPr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4" name="Google Shape;404;p55"/>
          <p:cNvSpPr txBox="1">
            <a:spLocks noGrp="1"/>
          </p:cNvSpPr>
          <p:nvPr>
            <p:ph type="body" idx="1"/>
          </p:nvPr>
        </p:nvSpPr>
        <p:spPr>
          <a:xfrm>
            <a:off x="1940651" y="3100270"/>
            <a:ext cx="8310253" cy="2713415"/>
          </a:xfrm>
          <a:prstGeom prst="rect">
            <a:avLst/>
          </a:prstGeom>
        </p:spPr>
        <p:txBody>
          <a:bodyPr spcFirstLastPara="1" vert="horz" wrap="square" lIns="243800" tIns="243800" rIns="243800" bIns="243800" rtlCol="0" anchor="t" anchorCtr="0">
            <a:normAutofit/>
          </a:bodyPr>
          <a:lstStyle/>
          <a:p>
            <a:pPr marL="455568" indent="0">
              <a:lnSpc>
                <a:spcPct val="200000"/>
              </a:lnSpc>
              <a:buSzPct val="1000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What is a function?</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3" name="Google Shape;403;p55"/>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7</a:t>
            </a:fld>
            <a:endParaRPr>
              <a:solidFill>
                <a:schemeClr val="accent1"/>
              </a:solidFill>
              <a:latin typeface="Lato"/>
              <a:ea typeface="Lato"/>
              <a:cs typeface="Lato"/>
              <a:sym typeface="Lato"/>
            </a:endParaRPr>
          </a:p>
        </p:txBody>
      </p:sp>
      <p:sp>
        <p:nvSpPr>
          <p:cNvPr id="2" name="Google Shape;404;p55">
            <a:extLst>
              <a:ext uri="{FF2B5EF4-FFF2-40B4-BE49-F238E27FC236}">
                <a16:creationId xmlns:a16="http://schemas.microsoft.com/office/drawing/2014/main" id="{C23724DE-D0F4-1B60-8BA5-494F5A90BC74}"/>
              </a:ext>
            </a:extLst>
          </p:cNvPr>
          <p:cNvSpPr txBox="1">
            <a:spLocks/>
          </p:cNvSpPr>
          <p:nvPr/>
        </p:nvSpPr>
        <p:spPr>
          <a:xfrm>
            <a:off x="1943152" y="4916575"/>
            <a:ext cx="7440691"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Built-ins</a:t>
            </a:r>
          </a:p>
        </p:txBody>
      </p:sp>
      <p:sp>
        <p:nvSpPr>
          <p:cNvPr id="4" name="Google Shape;404;p55">
            <a:extLst>
              <a:ext uri="{FF2B5EF4-FFF2-40B4-BE49-F238E27FC236}">
                <a16:creationId xmlns:a16="http://schemas.microsoft.com/office/drawing/2014/main" id="{180CAAB9-6628-C8B5-C756-4862FDC21B3A}"/>
              </a:ext>
            </a:extLst>
          </p:cNvPr>
          <p:cNvSpPr txBox="1">
            <a:spLocks/>
          </p:cNvSpPr>
          <p:nvPr/>
        </p:nvSpPr>
        <p:spPr>
          <a:xfrm>
            <a:off x="1943152" y="6695511"/>
            <a:ext cx="8307752"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Importing</a:t>
            </a:r>
          </a:p>
        </p:txBody>
      </p:sp>
      <p:sp>
        <p:nvSpPr>
          <p:cNvPr id="7" name="Google Shape;404;p55">
            <a:extLst>
              <a:ext uri="{FF2B5EF4-FFF2-40B4-BE49-F238E27FC236}">
                <a16:creationId xmlns:a16="http://schemas.microsoft.com/office/drawing/2014/main" id="{26A6C10D-8715-980E-D1AE-8AF2A435CA4D}"/>
              </a:ext>
            </a:extLst>
          </p:cNvPr>
          <p:cNvSpPr txBox="1">
            <a:spLocks/>
          </p:cNvSpPr>
          <p:nvPr/>
        </p:nvSpPr>
        <p:spPr>
          <a:xfrm>
            <a:off x="1940651" y="8474447"/>
            <a:ext cx="8307752"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Function defining</a:t>
            </a:r>
          </a:p>
        </p:txBody>
      </p:sp>
    </p:spTree>
    <p:extLst>
      <p:ext uri="{BB962C8B-B14F-4D97-AF65-F5344CB8AC3E}">
        <p14:creationId xmlns:p14="http://schemas.microsoft.com/office/powerpoint/2010/main" val="2332601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5" name="Google Shape;555;p72"/>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8</a:t>
            </a:fld>
            <a:endParaRPr>
              <a:solidFill>
                <a:schemeClr val="accent1"/>
              </a:solidFill>
              <a:latin typeface="Lato"/>
              <a:ea typeface="Lato"/>
              <a:cs typeface="Lato"/>
              <a:sym typeface="Lato"/>
            </a:endParaRPr>
          </a:p>
        </p:txBody>
      </p:sp>
      <p:sp>
        <p:nvSpPr>
          <p:cNvPr id="2" name="Google Shape;412;p56">
            <a:extLst>
              <a:ext uri="{FF2B5EF4-FFF2-40B4-BE49-F238E27FC236}">
                <a16:creationId xmlns:a16="http://schemas.microsoft.com/office/drawing/2014/main" id="{F81861FD-DBDB-5FB7-3535-716614487707}"/>
              </a:ext>
            </a:extLst>
          </p:cNvPr>
          <p:cNvSpPr txBox="1">
            <a:spLocks/>
          </p:cNvSpPr>
          <p:nvPr/>
        </p:nvSpPr>
        <p:spPr>
          <a:xfrm>
            <a:off x="298453" y="249400"/>
            <a:ext cx="20503200" cy="1468069"/>
          </a:xfrm>
          <a:prstGeom prst="rect">
            <a:avLst/>
          </a:prstGeom>
        </p:spPr>
        <p:txBody>
          <a:bodyPr spcFirstLastPara="1" vert="horz" wrap="square" lIns="243800" tIns="243800" rIns="243800" bIns="243800" rtlCol="0" anchor="t" anchorCtr="0">
            <a:no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Importing</a:t>
            </a:r>
          </a:p>
        </p:txBody>
      </p:sp>
      <p:sp>
        <p:nvSpPr>
          <p:cNvPr id="12" name="Rectangle 11">
            <a:extLst>
              <a:ext uri="{FF2B5EF4-FFF2-40B4-BE49-F238E27FC236}">
                <a16:creationId xmlns:a16="http://schemas.microsoft.com/office/drawing/2014/main" id="{53E4886A-A5C9-2903-18AA-A0D85BBC7710}"/>
              </a:ext>
            </a:extLst>
          </p:cNvPr>
          <p:cNvSpPr/>
          <p:nvPr/>
        </p:nvSpPr>
        <p:spPr>
          <a:xfrm>
            <a:off x="2448007" y="5805632"/>
            <a:ext cx="3272589" cy="2104736"/>
          </a:xfrm>
          <a:prstGeom prst="rect">
            <a:avLst/>
          </a:prstGeom>
          <a:solidFill>
            <a:srgbClr val="006B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Module</a:t>
            </a:r>
          </a:p>
        </p:txBody>
      </p:sp>
      <p:grpSp>
        <p:nvGrpSpPr>
          <p:cNvPr id="13" name="Group 12">
            <a:extLst>
              <a:ext uri="{FF2B5EF4-FFF2-40B4-BE49-F238E27FC236}">
                <a16:creationId xmlns:a16="http://schemas.microsoft.com/office/drawing/2014/main" id="{FD2283AA-827E-CF42-8864-2B7BBBD350AB}"/>
              </a:ext>
            </a:extLst>
          </p:cNvPr>
          <p:cNvGrpSpPr/>
          <p:nvPr/>
        </p:nvGrpSpPr>
        <p:grpSpPr>
          <a:xfrm>
            <a:off x="10212384" y="4379496"/>
            <a:ext cx="2240274" cy="4957008"/>
            <a:chOff x="1742152" y="4379496"/>
            <a:chExt cx="2240274" cy="4957008"/>
          </a:xfrm>
        </p:grpSpPr>
        <p:pic>
          <p:nvPicPr>
            <p:cNvPr id="9" name="Graphic 8" descr="Protecting hand outline">
              <a:extLst>
                <a:ext uri="{FF2B5EF4-FFF2-40B4-BE49-F238E27FC236}">
                  <a16:creationId xmlns:a16="http://schemas.microsoft.com/office/drawing/2014/main" id="{79EBF426-B21B-135A-A469-55145FFE8D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42152" y="4379496"/>
              <a:ext cx="2240273" cy="2240273"/>
            </a:xfrm>
            <a:prstGeom prst="rect">
              <a:avLst/>
            </a:prstGeom>
          </p:spPr>
        </p:pic>
        <p:pic>
          <p:nvPicPr>
            <p:cNvPr id="11" name="Graphic 10" descr="Open hand outline">
              <a:extLst>
                <a:ext uri="{FF2B5EF4-FFF2-40B4-BE49-F238E27FC236}">
                  <a16:creationId xmlns:a16="http://schemas.microsoft.com/office/drawing/2014/main" id="{9B78059F-3A0D-72EA-8708-55967CC95B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742153" y="7096231"/>
              <a:ext cx="2240273" cy="2240273"/>
            </a:xfrm>
            <a:prstGeom prst="rect">
              <a:avLst/>
            </a:prstGeom>
          </p:spPr>
        </p:pic>
      </p:grpSp>
      <p:sp>
        <p:nvSpPr>
          <p:cNvPr id="7" name="Rounded Rectangle 6">
            <a:extLst>
              <a:ext uri="{FF2B5EF4-FFF2-40B4-BE49-F238E27FC236}">
                <a16:creationId xmlns:a16="http://schemas.microsoft.com/office/drawing/2014/main" id="{883B6F9B-355E-38DC-4A16-7D0027D5D0C1}"/>
              </a:ext>
            </a:extLst>
          </p:cNvPr>
          <p:cNvSpPr/>
          <p:nvPr/>
        </p:nvSpPr>
        <p:spPr>
          <a:xfrm>
            <a:off x="9380048" y="4871948"/>
            <a:ext cx="5627077" cy="3972104"/>
          </a:xfrm>
          <a:prstGeom prst="roundRect">
            <a:avLst/>
          </a:prstGeom>
          <a:solidFill>
            <a:srgbClr val="004C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dirty="0">
                <a:solidFill>
                  <a:schemeClr val="bg1"/>
                </a:solidFill>
              </a:rPr>
              <a:t>Python</a:t>
            </a:r>
            <a:endParaRPr lang="en-US" dirty="0">
              <a:solidFill>
                <a:schemeClr val="bg1"/>
              </a:solidFill>
            </a:endParaRPr>
          </a:p>
        </p:txBody>
      </p:sp>
      <p:grpSp>
        <p:nvGrpSpPr>
          <p:cNvPr id="18" name="Group 17">
            <a:extLst>
              <a:ext uri="{FF2B5EF4-FFF2-40B4-BE49-F238E27FC236}">
                <a16:creationId xmlns:a16="http://schemas.microsoft.com/office/drawing/2014/main" id="{DE04D36A-7B45-4295-AABA-03EC711278D1}"/>
              </a:ext>
            </a:extLst>
          </p:cNvPr>
          <p:cNvGrpSpPr/>
          <p:nvPr/>
        </p:nvGrpSpPr>
        <p:grpSpPr>
          <a:xfrm>
            <a:off x="14762615" y="3126216"/>
            <a:ext cx="1419462" cy="950280"/>
            <a:chOff x="14429927" y="3429216"/>
            <a:chExt cx="1419462" cy="950280"/>
          </a:xfrm>
        </p:grpSpPr>
        <p:sp>
          <p:nvSpPr>
            <p:cNvPr id="14" name="Oval Callout 13">
              <a:extLst>
                <a:ext uri="{FF2B5EF4-FFF2-40B4-BE49-F238E27FC236}">
                  <a16:creationId xmlns:a16="http://schemas.microsoft.com/office/drawing/2014/main" id="{69A635FC-FBBD-A284-E4E8-B7BE1ECA231C}"/>
                </a:ext>
              </a:extLst>
            </p:cNvPr>
            <p:cNvSpPr/>
            <p:nvPr/>
          </p:nvSpPr>
          <p:spPr>
            <a:xfrm>
              <a:off x="14429927" y="3429216"/>
              <a:ext cx="1419462" cy="950280"/>
            </a:xfrm>
            <a:prstGeom prst="wedgeEllipseCallou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33580FD-FEA4-E905-7F9B-E5B4DD668BAE}"/>
                </a:ext>
              </a:extLst>
            </p:cNvPr>
            <p:cNvSpPr txBox="1"/>
            <p:nvPr/>
          </p:nvSpPr>
          <p:spPr>
            <a:xfrm>
              <a:off x="14822905" y="3689684"/>
              <a:ext cx="633507" cy="369332"/>
            </a:xfrm>
            <a:prstGeom prst="rect">
              <a:avLst/>
            </a:prstGeom>
            <a:noFill/>
          </p:spPr>
          <p:txBody>
            <a:bodyPr wrap="square" rtlCol="0">
              <a:spAutoFit/>
            </a:bodyPr>
            <a:lstStyle/>
            <a:p>
              <a:r>
                <a:rPr lang="en-US" dirty="0"/>
                <a:t>Burp</a:t>
              </a: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nodeType="clickEffect">
                                  <p:stCondLst>
                                    <p:cond delay="0"/>
                                  </p:stCondLst>
                                  <p:childTnLst>
                                    <p:animMotion origin="layout" path="M -3.03997E-6 0 L -0.34494 0 " pathEditMode="relative" rAng="0" ptsTypes="AA">
                                      <p:cBhvr>
                                        <p:cTn id="16" dur="1000" fill="hold"/>
                                        <p:tgtEl>
                                          <p:spTgt spid="13"/>
                                        </p:tgtEl>
                                        <p:attrNameLst>
                                          <p:attrName>ppt_x</p:attrName>
                                          <p:attrName>ppt_y</p:attrName>
                                        </p:attrNameLst>
                                      </p:cBhvr>
                                      <p:rCtr x="-17250" y="0"/>
                                    </p:animMotion>
                                  </p:childTnLst>
                                </p:cTn>
                              </p:par>
                            </p:childTnLst>
                          </p:cTn>
                        </p:par>
                        <p:par>
                          <p:cTn id="17" fill="hold">
                            <p:stCondLst>
                              <p:cond delay="1000"/>
                            </p:stCondLst>
                            <p:childTnLst>
                              <p:par>
                                <p:cTn id="18" presetID="42" presetClass="path" presetSubtype="0" accel="50000" decel="50000" fill="hold" grpId="0" nodeType="afterEffect">
                                  <p:stCondLst>
                                    <p:cond delay="0"/>
                                  </p:stCondLst>
                                  <p:childTnLst>
                                    <p:animMotion origin="layout" path="M -1.21208E-6 0 L 0.33251 0 " pathEditMode="relative" rAng="0" ptsTypes="AA">
                                      <p:cBhvr>
                                        <p:cTn id="19" dur="1000" fill="hold"/>
                                        <p:tgtEl>
                                          <p:spTgt spid="12"/>
                                        </p:tgtEl>
                                        <p:attrNameLst>
                                          <p:attrName>ppt_x</p:attrName>
                                          <p:attrName>ppt_y</p:attrName>
                                        </p:attrNameLst>
                                      </p:cBhvr>
                                      <p:rCtr x="16625" y="0"/>
                                    </p:animMotion>
                                  </p:childTnLst>
                                </p:cTn>
                              </p:par>
                              <p:par>
                                <p:cTn id="20" presetID="42" presetClass="path" presetSubtype="0" accel="50000" decel="50000" fill="hold" nodeType="withEffect">
                                  <p:stCondLst>
                                    <p:cond delay="0"/>
                                  </p:stCondLst>
                                  <p:childTnLst>
                                    <p:animMotion origin="layout" path="M -0.34494 0 L -1.7003E-6 0 " pathEditMode="relative" rAng="0" ptsTypes="AA">
                                      <p:cBhvr>
                                        <p:cTn id="21" dur="1000" fill="hold"/>
                                        <p:tgtEl>
                                          <p:spTgt spid="13"/>
                                        </p:tgtEl>
                                        <p:attrNameLst>
                                          <p:attrName>ppt_x</p:attrName>
                                          <p:attrName>ppt_y</p:attrName>
                                        </p:attrNameLst>
                                      </p:cBhvr>
                                      <p:rCtr x="17198" y="0"/>
                                    </p:animMotion>
                                  </p:childTnLst>
                                </p:cTn>
                              </p:par>
                            </p:childTnLst>
                          </p:cTn>
                        </p:par>
                      </p:childTnLst>
                    </p:cTn>
                  </p:par>
                  <p:par>
                    <p:cTn id="22" fill="hold">
                      <p:stCondLst>
                        <p:cond delay="indefinite"/>
                      </p:stCondLst>
                      <p:childTnLst>
                        <p:par>
                          <p:cTn id="23" fill="hold">
                            <p:stCondLst>
                              <p:cond delay="0"/>
                            </p:stCondLst>
                            <p:childTnLst>
                              <p:par>
                                <p:cTn id="24" presetID="32" presetClass="emph" presetSubtype="0" fill="hold" grpId="2" nodeType="clickEffect">
                                  <p:stCondLst>
                                    <p:cond delay="0"/>
                                  </p:stCondLst>
                                  <p:childTnLst>
                                    <p:animRot by="120000">
                                      <p:cBhvr>
                                        <p:cTn id="25" dur="50" fill="hold">
                                          <p:stCondLst>
                                            <p:cond delay="0"/>
                                          </p:stCondLst>
                                        </p:cTn>
                                        <p:tgtEl>
                                          <p:spTgt spid="7"/>
                                        </p:tgtEl>
                                        <p:attrNameLst>
                                          <p:attrName>r</p:attrName>
                                        </p:attrNameLst>
                                      </p:cBhvr>
                                    </p:animRot>
                                    <p:animRot by="-240000">
                                      <p:cBhvr>
                                        <p:cTn id="26" dur="100" fill="hold">
                                          <p:stCondLst>
                                            <p:cond delay="100"/>
                                          </p:stCondLst>
                                        </p:cTn>
                                        <p:tgtEl>
                                          <p:spTgt spid="7"/>
                                        </p:tgtEl>
                                        <p:attrNameLst>
                                          <p:attrName>r</p:attrName>
                                        </p:attrNameLst>
                                      </p:cBhvr>
                                    </p:animRot>
                                    <p:animRot by="240000">
                                      <p:cBhvr>
                                        <p:cTn id="27" dur="100" fill="hold">
                                          <p:stCondLst>
                                            <p:cond delay="200"/>
                                          </p:stCondLst>
                                        </p:cTn>
                                        <p:tgtEl>
                                          <p:spTgt spid="7"/>
                                        </p:tgtEl>
                                        <p:attrNameLst>
                                          <p:attrName>r</p:attrName>
                                        </p:attrNameLst>
                                      </p:cBhvr>
                                    </p:animRot>
                                    <p:animRot by="-240000">
                                      <p:cBhvr>
                                        <p:cTn id="28" dur="100" fill="hold">
                                          <p:stCondLst>
                                            <p:cond delay="300"/>
                                          </p:stCondLst>
                                        </p:cTn>
                                        <p:tgtEl>
                                          <p:spTgt spid="7"/>
                                        </p:tgtEl>
                                        <p:attrNameLst>
                                          <p:attrName>r</p:attrName>
                                        </p:attrNameLst>
                                      </p:cBhvr>
                                    </p:animRot>
                                    <p:animRot by="120000">
                                      <p:cBhvr>
                                        <p:cTn id="29" dur="100" fill="hold">
                                          <p:stCondLst>
                                            <p:cond delay="400"/>
                                          </p:stCondLst>
                                        </p:cTn>
                                        <p:tgtEl>
                                          <p:spTgt spid="7"/>
                                        </p:tgtEl>
                                        <p:attrNameLst>
                                          <p:attrName>r</p:attrName>
                                        </p:attrNameLst>
                                      </p:cBhvr>
                                    </p:animRot>
                                  </p:childTnLst>
                                </p:cTn>
                              </p:par>
                            </p:childTnLst>
                          </p:cTn>
                        </p:par>
                        <p:par>
                          <p:cTn id="30" fill="hold">
                            <p:stCondLst>
                              <p:cond delay="500"/>
                            </p:stCondLst>
                            <p:childTnLst>
                              <p:par>
                                <p:cTn id="31" presetID="6" presetClass="emph" presetSubtype="0" fill="hold" grpId="1" nodeType="afterEffect">
                                  <p:stCondLst>
                                    <p:cond delay="0"/>
                                  </p:stCondLst>
                                  <p:childTnLst>
                                    <p:animScale>
                                      <p:cBhvr>
                                        <p:cTn id="32" dur="500" fill="hold"/>
                                        <p:tgtEl>
                                          <p:spTgt spid="7"/>
                                        </p:tgtEl>
                                      </p:cBhvr>
                                      <p:by x="120000" y="120000"/>
                                    </p:animScale>
                                  </p:childTnLst>
                                </p:cTn>
                              </p:par>
                            </p:childTnLst>
                          </p:cTn>
                        </p:par>
                        <p:par>
                          <p:cTn id="33" fill="hold">
                            <p:stCondLst>
                              <p:cond delay="1000"/>
                            </p:stCondLst>
                            <p:childTnLst>
                              <p:par>
                                <p:cTn id="34" presetID="1" presetClass="entr" presetSubtype="0" fill="hold" nodeType="afterEffect">
                                  <p:stCondLst>
                                    <p:cond delay="250"/>
                                  </p:stCondLst>
                                  <p:childTnLst>
                                    <p:set>
                                      <p:cBhvr>
                                        <p:cTn id="35" dur="1" fill="hold">
                                          <p:stCondLst>
                                            <p:cond delay="0"/>
                                          </p:stCondLst>
                                        </p:cTn>
                                        <p:tgtEl>
                                          <p:spTgt spid="18"/>
                                        </p:tgtEl>
                                        <p:attrNameLst>
                                          <p:attrName>style.visibility</p:attrName>
                                        </p:attrNameLst>
                                      </p:cBhvr>
                                      <p:to>
                                        <p:strVal val="visible"/>
                                      </p:to>
                                    </p:set>
                                  </p:childTnLst>
                                </p:cTn>
                              </p:par>
                            </p:childTnLst>
                          </p:cTn>
                        </p:par>
                        <p:par>
                          <p:cTn id="36" fill="hold">
                            <p:stCondLst>
                              <p:cond delay="1250"/>
                            </p:stCondLst>
                            <p:childTnLst>
                              <p:par>
                                <p:cTn id="37" presetID="1" presetClass="exit" presetSubtype="0" fill="hold" nodeType="afterEffect">
                                  <p:stCondLst>
                                    <p:cond delay="250"/>
                                  </p:stCondLst>
                                  <p:childTnLst>
                                    <p:set>
                                      <p:cBhvr>
                                        <p:cTn id="38"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7" grpId="0" animBg="1"/>
      <p:bldP spid="7" grpId="1" animBg="1"/>
      <p:bldP spid="7"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5" name="Google Shape;555;p72"/>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9</a:t>
            </a:fld>
            <a:endParaRPr>
              <a:solidFill>
                <a:schemeClr val="accent1"/>
              </a:solidFill>
              <a:latin typeface="Lato"/>
              <a:ea typeface="Lato"/>
              <a:cs typeface="Lato"/>
              <a:sym typeface="Lato"/>
            </a:endParaRPr>
          </a:p>
        </p:txBody>
      </p:sp>
      <p:sp>
        <p:nvSpPr>
          <p:cNvPr id="2" name="Google Shape;412;p56">
            <a:extLst>
              <a:ext uri="{FF2B5EF4-FFF2-40B4-BE49-F238E27FC236}">
                <a16:creationId xmlns:a16="http://schemas.microsoft.com/office/drawing/2014/main" id="{F81861FD-DBDB-5FB7-3535-716614487707}"/>
              </a:ext>
            </a:extLst>
          </p:cNvPr>
          <p:cNvSpPr txBox="1">
            <a:spLocks/>
          </p:cNvSpPr>
          <p:nvPr/>
        </p:nvSpPr>
        <p:spPr>
          <a:xfrm>
            <a:off x="298453" y="249400"/>
            <a:ext cx="20503200" cy="1468069"/>
          </a:xfrm>
          <a:prstGeom prst="rect">
            <a:avLst/>
          </a:prstGeom>
        </p:spPr>
        <p:txBody>
          <a:bodyPr spcFirstLastPara="1" vert="horz" wrap="square" lIns="243800" tIns="243800" rIns="243800" bIns="243800" rtlCol="0" anchor="t" anchorCtr="0">
            <a:no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Importing</a:t>
            </a:r>
          </a:p>
        </p:txBody>
      </p:sp>
      <p:sp>
        <p:nvSpPr>
          <p:cNvPr id="4" name="TextBox 3">
            <a:extLst>
              <a:ext uri="{FF2B5EF4-FFF2-40B4-BE49-F238E27FC236}">
                <a16:creationId xmlns:a16="http://schemas.microsoft.com/office/drawing/2014/main" id="{6605DA32-0168-6DBA-7ED0-AF71A2ED15C0}"/>
              </a:ext>
            </a:extLst>
          </p:cNvPr>
          <p:cNvSpPr txBox="1"/>
          <p:nvPr/>
        </p:nvSpPr>
        <p:spPr>
          <a:xfrm>
            <a:off x="2598821" y="2995409"/>
            <a:ext cx="15288126" cy="2862322"/>
          </a:xfrm>
          <a:prstGeom prst="rect">
            <a:avLst/>
          </a:prstGeom>
          <a:noFill/>
        </p:spPr>
        <p:txBody>
          <a:bodyPr wrap="square">
            <a:spAutoFit/>
          </a:bodyPr>
          <a:lstStyle/>
          <a:p>
            <a:r>
              <a:rPr lang="en-US" sz="6000" b="0" dirty="0">
                <a:solidFill>
                  <a:srgbClr val="AF00DB"/>
                </a:solidFill>
                <a:effectLst/>
                <a:latin typeface="Courier New" panose="02070309020205020404" pitchFamily="49" charset="0"/>
              </a:rPr>
              <a:t>import</a:t>
            </a:r>
            <a:r>
              <a:rPr lang="en-US" sz="6000" b="0" dirty="0">
                <a:solidFill>
                  <a:srgbClr val="000000"/>
                </a:solidFill>
                <a:effectLst/>
                <a:latin typeface="Courier New" panose="02070309020205020404" pitchFamily="49" charset="0"/>
              </a:rPr>
              <a:t> </a:t>
            </a:r>
            <a:r>
              <a:rPr lang="en-US" sz="6000" b="0" dirty="0" err="1">
                <a:solidFill>
                  <a:srgbClr val="000000"/>
                </a:solidFill>
                <a:effectLst/>
                <a:latin typeface="Courier New" panose="02070309020205020404" pitchFamily="49" charset="0"/>
              </a:rPr>
              <a:t>sklearn</a:t>
            </a:r>
            <a:endParaRPr lang="en-US" sz="6000" b="0" dirty="0">
              <a:solidFill>
                <a:srgbClr val="000000"/>
              </a:solidFill>
              <a:effectLst/>
              <a:latin typeface="Courier New" panose="02070309020205020404" pitchFamily="49" charset="0"/>
            </a:endParaRPr>
          </a:p>
          <a:p>
            <a:r>
              <a:rPr lang="en-US" sz="6000" b="0" dirty="0">
                <a:solidFill>
                  <a:srgbClr val="AF00DB"/>
                </a:solidFill>
                <a:effectLst/>
                <a:latin typeface="Courier New" panose="02070309020205020404" pitchFamily="49" charset="0"/>
              </a:rPr>
              <a:t>from</a:t>
            </a:r>
            <a:r>
              <a:rPr lang="en-US" sz="6000" b="0" dirty="0">
                <a:solidFill>
                  <a:srgbClr val="000000"/>
                </a:solidFill>
                <a:effectLst/>
                <a:latin typeface="Courier New" panose="02070309020205020404" pitchFamily="49" charset="0"/>
              </a:rPr>
              <a:t> </a:t>
            </a:r>
            <a:r>
              <a:rPr lang="en-US" sz="6000" b="0" dirty="0" err="1">
                <a:solidFill>
                  <a:srgbClr val="000000"/>
                </a:solidFill>
                <a:effectLst/>
                <a:latin typeface="Courier New" panose="02070309020205020404" pitchFamily="49" charset="0"/>
              </a:rPr>
              <a:t>sklearn</a:t>
            </a:r>
            <a:r>
              <a:rPr lang="en-US" sz="6000" b="0" dirty="0">
                <a:solidFill>
                  <a:srgbClr val="000000"/>
                </a:solidFill>
                <a:effectLst/>
                <a:latin typeface="Courier New" panose="02070309020205020404" pitchFamily="49" charset="0"/>
              </a:rPr>
              <a:t> </a:t>
            </a:r>
            <a:r>
              <a:rPr lang="en-US" sz="6000" b="0" dirty="0">
                <a:solidFill>
                  <a:srgbClr val="AF00DB"/>
                </a:solidFill>
                <a:effectLst/>
                <a:latin typeface="Courier New" panose="02070309020205020404" pitchFamily="49" charset="0"/>
              </a:rPr>
              <a:t>import</a:t>
            </a:r>
            <a:r>
              <a:rPr lang="en-US" sz="6000" b="0" dirty="0">
                <a:solidFill>
                  <a:srgbClr val="000000"/>
                </a:solidFill>
                <a:effectLst/>
                <a:latin typeface="Courier New" panose="02070309020205020404" pitchFamily="49" charset="0"/>
              </a:rPr>
              <a:t> </a:t>
            </a:r>
            <a:r>
              <a:rPr lang="en-US" sz="6000" b="0" dirty="0" err="1">
                <a:solidFill>
                  <a:srgbClr val="000000"/>
                </a:solidFill>
                <a:effectLst/>
                <a:latin typeface="Courier New" panose="02070309020205020404" pitchFamily="49" charset="0"/>
              </a:rPr>
              <a:t>linear_model</a:t>
            </a:r>
            <a:endParaRPr lang="en-US" sz="6000" b="0" dirty="0">
              <a:solidFill>
                <a:srgbClr val="000000"/>
              </a:solidFill>
              <a:effectLst/>
              <a:latin typeface="Courier New" panose="02070309020205020404" pitchFamily="49" charset="0"/>
            </a:endParaRPr>
          </a:p>
          <a:p>
            <a:r>
              <a:rPr lang="en-US" sz="6000" b="0" dirty="0">
                <a:solidFill>
                  <a:srgbClr val="AF00DB"/>
                </a:solidFill>
                <a:effectLst/>
                <a:latin typeface="Courier New" panose="02070309020205020404" pitchFamily="49" charset="0"/>
              </a:rPr>
              <a:t>import</a:t>
            </a:r>
            <a:r>
              <a:rPr lang="en-US" sz="6000" b="0" dirty="0">
                <a:solidFill>
                  <a:srgbClr val="000000"/>
                </a:solidFill>
                <a:effectLst/>
                <a:latin typeface="Courier New" panose="02070309020205020404" pitchFamily="49" charset="0"/>
              </a:rPr>
              <a:t> </a:t>
            </a:r>
            <a:r>
              <a:rPr lang="en-US" sz="6000" b="0" dirty="0" err="1">
                <a:solidFill>
                  <a:srgbClr val="000000"/>
                </a:solidFill>
                <a:effectLst/>
                <a:latin typeface="Courier New" panose="02070309020205020404" pitchFamily="49" charset="0"/>
              </a:rPr>
              <a:t>sklearn</a:t>
            </a:r>
            <a:r>
              <a:rPr lang="en-US" sz="6000" b="0" dirty="0">
                <a:solidFill>
                  <a:srgbClr val="000000"/>
                </a:solidFill>
                <a:effectLst/>
                <a:latin typeface="Courier New" panose="02070309020205020404" pitchFamily="49" charset="0"/>
              </a:rPr>
              <a:t> </a:t>
            </a:r>
            <a:r>
              <a:rPr lang="en-US" sz="6000" b="0" dirty="0">
                <a:solidFill>
                  <a:srgbClr val="AF00DB"/>
                </a:solidFill>
                <a:effectLst/>
                <a:latin typeface="Courier New" panose="02070309020205020404" pitchFamily="49" charset="0"/>
              </a:rPr>
              <a:t>as</a:t>
            </a:r>
            <a:r>
              <a:rPr lang="en-US" sz="6000" b="0" dirty="0">
                <a:solidFill>
                  <a:srgbClr val="000000"/>
                </a:solidFill>
                <a:effectLst/>
                <a:latin typeface="Courier New" panose="02070309020205020404" pitchFamily="49" charset="0"/>
              </a:rPr>
              <a:t> </a:t>
            </a:r>
            <a:r>
              <a:rPr lang="en-US" sz="6000" b="0" dirty="0" err="1">
                <a:solidFill>
                  <a:srgbClr val="000000"/>
                </a:solidFill>
                <a:effectLst/>
                <a:latin typeface="Courier New" panose="02070309020205020404" pitchFamily="49" charset="0"/>
              </a:rPr>
              <a:t>skl</a:t>
            </a:r>
            <a:endParaRPr lang="en-US" sz="6000" b="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23925980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5"/>
          <p:cNvSpPr txBox="1">
            <a:spLocks noGrp="1"/>
          </p:cNvSpPr>
          <p:nvPr>
            <p:ph type="title"/>
          </p:nvPr>
        </p:nvSpPr>
        <p:spPr>
          <a:xfrm>
            <a:off x="1768836" y="1543984"/>
            <a:ext cx="20505870" cy="1427200"/>
          </a:xfrm>
          <a:prstGeom prst="rect">
            <a:avLst/>
          </a:prstGeom>
        </p:spPr>
        <p:txBody>
          <a:bodyPr spcFirstLastPara="1" vert="horz" wrap="square" lIns="243800" tIns="243800" rIns="243800" bIns="243800" rtlCol="0" anchor="t" anchorCtr="0">
            <a:normAutofit fontScale="90000"/>
          </a:bodyPr>
          <a:lstStyle/>
          <a:p>
            <a:r>
              <a:rPr lang="en" b="1" dirty="0">
                <a:latin typeface="Helvetica Neue" panose="02000503000000020004" pitchFamily="2" charset="0"/>
                <a:ea typeface="Helvetica Neue" panose="02000503000000020004" pitchFamily="2" charset="0"/>
                <a:cs typeface="Helvetica Neue" panose="02000503000000020004" pitchFamily="2" charset="0"/>
              </a:rPr>
              <a:t>Lecture Outline</a:t>
            </a:r>
            <a:endParaRPr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4" name="Google Shape;404;p55"/>
          <p:cNvSpPr txBox="1">
            <a:spLocks noGrp="1"/>
          </p:cNvSpPr>
          <p:nvPr>
            <p:ph type="body" idx="1"/>
          </p:nvPr>
        </p:nvSpPr>
        <p:spPr>
          <a:xfrm>
            <a:off x="1940651" y="3100270"/>
            <a:ext cx="8310253" cy="2713415"/>
          </a:xfrm>
          <a:prstGeom prst="rect">
            <a:avLst/>
          </a:prstGeom>
        </p:spPr>
        <p:txBody>
          <a:bodyPr spcFirstLastPara="1" vert="horz" wrap="square" lIns="243800" tIns="243800" rIns="243800" bIns="243800" rtlCol="0" anchor="t" anchorCtr="0">
            <a:normAutofit/>
          </a:bodyPr>
          <a:lstStyle/>
          <a:p>
            <a:pPr marL="455568" indent="0">
              <a:lnSpc>
                <a:spcPct val="200000"/>
              </a:lnSpc>
              <a:buSzPct val="1000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What is a function?</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3" name="Google Shape;403;p55"/>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10</a:t>
            </a:fld>
            <a:endParaRPr>
              <a:solidFill>
                <a:schemeClr val="accent1"/>
              </a:solidFill>
              <a:latin typeface="Lato"/>
              <a:ea typeface="Lato"/>
              <a:cs typeface="Lato"/>
              <a:sym typeface="Lato"/>
            </a:endParaRPr>
          </a:p>
        </p:txBody>
      </p:sp>
      <p:sp>
        <p:nvSpPr>
          <p:cNvPr id="2" name="Google Shape;404;p55">
            <a:extLst>
              <a:ext uri="{FF2B5EF4-FFF2-40B4-BE49-F238E27FC236}">
                <a16:creationId xmlns:a16="http://schemas.microsoft.com/office/drawing/2014/main" id="{C23724DE-D0F4-1B60-8BA5-494F5A90BC74}"/>
              </a:ext>
            </a:extLst>
          </p:cNvPr>
          <p:cNvSpPr txBox="1">
            <a:spLocks/>
          </p:cNvSpPr>
          <p:nvPr/>
        </p:nvSpPr>
        <p:spPr>
          <a:xfrm>
            <a:off x="1943152" y="4916575"/>
            <a:ext cx="7440691"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Built-ins</a:t>
            </a:r>
          </a:p>
        </p:txBody>
      </p:sp>
      <p:sp>
        <p:nvSpPr>
          <p:cNvPr id="4" name="Google Shape;404;p55">
            <a:extLst>
              <a:ext uri="{FF2B5EF4-FFF2-40B4-BE49-F238E27FC236}">
                <a16:creationId xmlns:a16="http://schemas.microsoft.com/office/drawing/2014/main" id="{180CAAB9-6628-C8B5-C756-4862FDC21B3A}"/>
              </a:ext>
            </a:extLst>
          </p:cNvPr>
          <p:cNvSpPr txBox="1">
            <a:spLocks/>
          </p:cNvSpPr>
          <p:nvPr/>
        </p:nvSpPr>
        <p:spPr>
          <a:xfrm>
            <a:off x="1943152" y="6695511"/>
            <a:ext cx="8307752"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Importing</a:t>
            </a:r>
          </a:p>
        </p:txBody>
      </p:sp>
      <p:sp>
        <p:nvSpPr>
          <p:cNvPr id="7" name="Google Shape;404;p55">
            <a:extLst>
              <a:ext uri="{FF2B5EF4-FFF2-40B4-BE49-F238E27FC236}">
                <a16:creationId xmlns:a16="http://schemas.microsoft.com/office/drawing/2014/main" id="{26A6C10D-8715-980E-D1AE-8AF2A435CA4D}"/>
              </a:ext>
            </a:extLst>
          </p:cNvPr>
          <p:cNvSpPr txBox="1">
            <a:spLocks/>
          </p:cNvSpPr>
          <p:nvPr/>
        </p:nvSpPr>
        <p:spPr>
          <a:xfrm>
            <a:off x="1940651" y="8474447"/>
            <a:ext cx="8307752"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Function defining</a:t>
            </a:r>
          </a:p>
        </p:txBody>
      </p:sp>
    </p:spTree>
    <p:extLst>
      <p:ext uri="{BB962C8B-B14F-4D97-AF65-F5344CB8AC3E}">
        <p14:creationId xmlns:p14="http://schemas.microsoft.com/office/powerpoint/2010/main" val="7751877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5" name="Google Shape;555;p72"/>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11</a:t>
            </a:fld>
            <a:endParaRPr>
              <a:solidFill>
                <a:schemeClr val="accent1"/>
              </a:solidFill>
              <a:latin typeface="Lato"/>
              <a:ea typeface="Lato"/>
              <a:cs typeface="Lato"/>
              <a:sym typeface="Lato"/>
            </a:endParaRPr>
          </a:p>
        </p:txBody>
      </p:sp>
      <p:sp>
        <p:nvSpPr>
          <p:cNvPr id="2" name="Google Shape;412;p56">
            <a:extLst>
              <a:ext uri="{FF2B5EF4-FFF2-40B4-BE49-F238E27FC236}">
                <a16:creationId xmlns:a16="http://schemas.microsoft.com/office/drawing/2014/main" id="{F81861FD-DBDB-5FB7-3535-716614487707}"/>
              </a:ext>
            </a:extLst>
          </p:cNvPr>
          <p:cNvSpPr txBox="1">
            <a:spLocks/>
          </p:cNvSpPr>
          <p:nvPr/>
        </p:nvSpPr>
        <p:spPr>
          <a:xfrm>
            <a:off x="298453" y="249400"/>
            <a:ext cx="20503200" cy="1468069"/>
          </a:xfrm>
          <a:prstGeom prst="rect">
            <a:avLst/>
          </a:prstGeom>
        </p:spPr>
        <p:txBody>
          <a:bodyPr spcFirstLastPara="1" vert="horz" wrap="square" lIns="243800" tIns="243800" rIns="243800" bIns="243800" rtlCol="0" anchor="t" anchorCtr="0">
            <a:no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Function defining</a:t>
            </a:r>
          </a:p>
        </p:txBody>
      </p:sp>
      <p:sp>
        <p:nvSpPr>
          <p:cNvPr id="5" name="TextBox 4">
            <a:extLst>
              <a:ext uri="{FF2B5EF4-FFF2-40B4-BE49-F238E27FC236}">
                <a16:creationId xmlns:a16="http://schemas.microsoft.com/office/drawing/2014/main" id="{D40623D0-8EC6-97B2-61C8-8CA56B16AE95}"/>
              </a:ext>
            </a:extLst>
          </p:cNvPr>
          <p:cNvSpPr txBox="1"/>
          <p:nvPr/>
        </p:nvSpPr>
        <p:spPr>
          <a:xfrm>
            <a:off x="2662990" y="2861194"/>
            <a:ext cx="12192000" cy="1446550"/>
          </a:xfrm>
          <a:prstGeom prst="rect">
            <a:avLst/>
          </a:prstGeom>
          <a:noFill/>
        </p:spPr>
        <p:txBody>
          <a:bodyPr wrap="square">
            <a:spAutoFit/>
          </a:bodyPr>
          <a:lstStyle/>
          <a:p>
            <a:r>
              <a:rPr lang="en-US" sz="4400" b="0" dirty="0">
                <a:solidFill>
                  <a:srgbClr val="0000FF"/>
                </a:solidFill>
                <a:effectLst/>
                <a:latin typeface="Courier New" panose="02070309020205020404" pitchFamily="49" charset="0"/>
              </a:rPr>
              <a:t>def</a:t>
            </a:r>
            <a:r>
              <a:rPr lang="en-US" sz="4400" b="0" dirty="0">
                <a:solidFill>
                  <a:srgbClr val="000000"/>
                </a:solidFill>
                <a:effectLst/>
                <a:latin typeface="Courier New" panose="02070309020205020404" pitchFamily="49" charset="0"/>
              </a:rPr>
              <a:t> </a:t>
            </a:r>
            <a:r>
              <a:rPr lang="en-US" sz="4400" b="0" dirty="0" err="1">
                <a:solidFill>
                  <a:srgbClr val="795E26"/>
                </a:solidFill>
                <a:effectLst/>
                <a:latin typeface="Courier New" panose="02070309020205020404" pitchFamily="49" charset="0"/>
              </a:rPr>
              <a:t>function_name</a:t>
            </a:r>
            <a:r>
              <a:rPr lang="en-US" sz="4400" b="0" dirty="0">
                <a:solidFill>
                  <a:srgbClr val="000000"/>
                </a:solidFill>
                <a:effectLst/>
                <a:latin typeface="Courier New" panose="02070309020205020404" pitchFamily="49" charset="0"/>
              </a:rPr>
              <a:t>(</a:t>
            </a:r>
            <a:r>
              <a:rPr lang="en-US" sz="4400" b="0" dirty="0">
                <a:solidFill>
                  <a:srgbClr val="001080"/>
                </a:solidFill>
                <a:effectLst/>
                <a:latin typeface="Courier New" panose="02070309020205020404" pitchFamily="49" charset="0"/>
              </a:rPr>
              <a:t>arg1</a:t>
            </a:r>
            <a:r>
              <a:rPr lang="en-US" sz="4400" b="0" dirty="0">
                <a:solidFill>
                  <a:srgbClr val="000000"/>
                </a:solidFill>
                <a:effectLst/>
                <a:latin typeface="Courier New" panose="02070309020205020404" pitchFamily="49" charset="0"/>
              </a:rPr>
              <a:t>, </a:t>
            </a:r>
            <a:r>
              <a:rPr lang="en-US" sz="4400" b="0" dirty="0">
                <a:solidFill>
                  <a:srgbClr val="001080"/>
                </a:solidFill>
                <a:effectLst/>
                <a:latin typeface="Courier New" panose="02070309020205020404" pitchFamily="49" charset="0"/>
              </a:rPr>
              <a:t>arg2</a:t>
            </a:r>
            <a:r>
              <a:rPr lang="en-US" sz="4400" b="0" dirty="0">
                <a:solidFill>
                  <a:srgbClr val="000000"/>
                </a:solidFill>
                <a:effectLst/>
                <a:latin typeface="Courier New" panose="02070309020205020404" pitchFamily="49" charset="0"/>
              </a:rPr>
              <a:t>, ...):</a:t>
            </a:r>
          </a:p>
          <a:p>
            <a:r>
              <a:rPr lang="en-US" sz="4400" b="0" dirty="0">
                <a:solidFill>
                  <a:srgbClr val="008000"/>
                </a:solidFill>
                <a:effectLst/>
                <a:latin typeface="Courier New" panose="02070309020205020404" pitchFamily="49" charset="0"/>
              </a:rPr>
              <a:t>	# do stuff here</a:t>
            </a:r>
            <a:endParaRPr lang="en-US" sz="4400" b="0" dirty="0">
              <a:solidFill>
                <a:srgbClr val="000000"/>
              </a:solidFill>
              <a:effectLst/>
              <a:latin typeface="Courier New" panose="02070309020205020404" pitchFamily="49" charset="0"/>
            </a:endParaRPr>
          </a:p>
        </p:txBody>
      </p:sp>
      <p:grpSp>
        <p:nvGrpSpPr>
          <p:cNvPr id="19" name="Group 18">
            <a:extLst>
              <a:ext uri="{FF2B5EF4-FFF2-40B4-BE49-F238E27FC236}">
                <a16:creationId xmlns:a16="http://schemas.microsoft.com/office/drawing/2014/main" id="{B764EA9A-B8F2-AA38-2B2F-BF7E4369B062}"/>
              </a:ext>
            </a:extLst>
          </p:cNvPr>
          <p:cNvGrpSpPr/>
          <p:nvPr/>
        </p:nvGrpSpPr>
        <p:grpSpPr>
          <a:xfrm>
            <a:off x="8843261" y="977765"/>
            <a:ext cx="4398042" cy="1847161"/>
            <a:chOff x="8843261" y="977765"/>
            <a:chExt cx="4398042" cy="1847161"/>
          </a:xfrm>
        </p:grpSpPr>
        <p:grpSp>
          <p:nvGrpSpPr>
            <p:cNvPr id="6" name="Group 5">
              <a:extLst>
                <a:ext uri="{FF2B5EF4-FFF2-40B4-BE49-F238E27FC236}">
                  <a16:creationId xmlns:a16="http://schemas.microsoft.com/office/drawing/2014/main" id="{3A1CF262-9658-CCBD-2F11-F790E6091955}"/>
                </a:ext>
              </a:extLst>
            </p:cNvPr>
            <p:cNvGrpSpPr/>
            <p:nvPr/>
          </p:nvGrpSpPr>
          <p:grpSpPr>
            <a:xfrm>
              <a:off x="8843261" y="977765"/>
              <a:ext cx="4398042" cy="1772715"/>
              <a:chOff x="10536455" y="2538734"/>
              <a:chExt cx="4398042" cy="1772715"/>
            </a:xfrm>
          </p:grpSpPr>
          <p:sp>
            <p:nvSpPr>
              <p:cNvPr id="8" name="that’s a lot of features!">
                <a:extLst>
                  <a:ext uri="{FF2B5EF4-FFF2-40B4-BE49-F238E27FC236}">
                    <a16:creationId xmlns:a16="http://schemas.microsoft.com/office/drawing/2014/main" id="{329ACF4B-E7A3-FAA5-BC40-0ABEFE2F8BFA}"/>
                  </a:ext>
                </a:extLst>
              </p:cNvPr>
              <p:cNvSpPr txBox="1"/>
              <p:nvPr/>
            </p:nvSpPr>
            <p:spPr>
              <a:xfrm>
                <a:off x="10536455" y="2538734"/>
                <a:ext cx="4398042" cy="7181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4000" b="1">
                    <a:solidFill>
                      <a:schemeClr val="accent4">
                        <a:hueOff val="-1247790"/>
                        <a:lumOff val="-12326"/>
                      </a:schemeClr>
                    </a:solidFill>
                  </a:defRPr>
                </a:lvl1pPr>
              </a:lstStyle>
              <a:p>
                <a:r>
                  <a:rPr lang="en-US" dirty="0">
                    <a:solidFill>
                      <a:srgbClr val="EF7001"/>
                    </a:solidFill>
                  </a:rPr>
                  <a:t>Arguments passed</a:t>
                </a:r>
                <a:endParaRPr dirty="0">
                  <a:solidFill>
                    <a:srgbClr val="EF7001"/>
                  </a:solidFill>
                </a:endParaRPr>
              </a:p>
            </p:txBody>
          </p:sp>
          <p:pic>
            <p:nvPicPr>
              <p:cNvPr id="10" name="Line Line" descr="Line Line">
                <a:extLst>
                  <a:ext uri="{FF2B5EF4-FFF2-40B4-BE49-F238E27FC236}">
                    <a16:creationId xmlns:a16="http://schemas.microsoft.com/office/drawing/2014/main" id="{89F73F07-A516-5860-9835-DB9247ED270B}"/>
                  </a:ext>
                </a:extLst>
              </p:cNvPr>
              <p:cNvPicPr>
                <a:picLocks/>
              </p:cNvPicPr>
              <p:nvPr/>
            </p:nvPicPr>
            <p:blipFill>
              <a:blip r:embed="rId3"/>
              <a:stretch>
                <a:fillRect/>
              </a:stretch>
            </p:blipFill>
            <p:spPr>
              <a:xfrm rot="6998290">
                <a:off x="10953217" y="3566822"/>
                <a:ext cx="997180" cy="492074"/>
              </a:xfrm>
              <a:prstGeom prst="rect">
                <a:avLst/>
              </a:prstGeom>
            </p:spPr>
          </p:pic>
        </p:grpSp>
        <p:pic>
          <p:nvPicPr>
            <p:cNvPr id="15" name="Line Line" descr="Line Line">
              <a:extLst>
                <a:ext uri="{FF2B5EF4-FFF2-40B4-BE49-F238E27FC236}">
                  <a16:creationId xmlns:a16="http://schemas.microsoft.com/office/drawing/2014/main" id="{880B9CA2-AF55-8BCB-240A-B902A8E04268}"/>
                </a:ext>
              </a:extLst>
            </p:cNvPr>
            <p:cNvPicPr>
              <a:picLocks/>
            </p:cNvPicPr>
            <p:nvPr/>
          </p:nvPicPr>
          <p:blipFill>
            <a:blip r:embed="rId3"/>
            <a:stretch>
              <a:fillRect/>
            </a:stretch>
          </p:blipFill>
          <p:spPr>
            <a:xfrm rot="3686099">
              <a:off x="11130684" y="2080299"/>
              <a:ext cx="997180" cy="492074"/>
            </a:xfrm>
            <a:prstGeom prst="rect">
              <a:avLst/>
            </a:prstGeom>
          </p:spPr>
        </p:pic>
      </p:grpSp>
    </p:spTree>
    <p:extLst>
      <p:ext uri="{BB962C8B-B14F-4D97-AF65-F5344CB8AC3E}">
        <p14:creationId xmlns:p14="http://schemas.microsoft.com/office/powerpoint/2010/main" val="33071270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5" name="Google Shape;555;p72"/>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12</a:t>
            </a:fld>
            <a:endParaRPr>
              <a:solidFill>
                <a:schemeClr val="accent1"/>
              </a:solidFill>
              <a:latin typeface="Lato"/>
              <a:ea typeface="Lato"/>
              <a:cs typeface="Lato"/>
              <a:sym typeface="Lato"/>
            </a:endParaRPr>
          </a:p>
        </p:txBody>
      </p:sp>
      <p:sp>
        <p:nvSpPr>
          <p:cNvPr id="2" name="Google Shape;412;p56">
            <a:extLst>
              <a:ext uri="{FF2B5EF4-FFF2-40B4-BE49-F238E27FC236}">
                <a16:creationId xmlns:a16="http://schemas.microsoft.com/office/drawing/2014/main" id="{F81861FD-DBDB-5FB7-3535-716614487707}"/>
              </a:ext>
            </a:extLst>
          </p:cNvPr>
          <p:cNvSpPr txBox="1">
            <a:spLocks/>
          </p:cNvSpPr>
          <p:nvPr/>
        </p:nvSpPr>
        <p:spPr>
          <a:xfrm>
            <a:off x="298453" y="249400"/>
            <a:ext cx="20503200" cy="1468069"/>
          </a:xfrm>
          <a:prstGeom prst="rect">
            <a:avLst/>
          </a:prstGeom>
        </p:spPr>
        <p:txBody>
          <a:bodyPr spcFirstLastPara="1" vert="horz" wrap="square" lIns="243800" tIns="243800" rIns="243800" bIns="243800" rtlCol="0" anchor="t" anchorCtr="0">
            <a:no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Function defining</a:t>
            </a:r>
          </a:p>
          <a:p>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D40623D0-8EC6-97B2-61C8-8CA56B16AE95}"/>
              </a:ext>
            </a:extLst>
          </p:cNvPr>
          <p:cNvSpPr txBox="1"/>
          <p:nvPr/>
        </p:nvSpPr>
        <p:spPr>
          <a:xfrm>
            <a:off x="2662990" y="2861194"/>
            <a:ext cx="12192000" cy="2800767"/>
          </a:xfrm>
          <a:prstGeom prst="rect">
            <a:avLst/>
          </a:prstGeom>
          <a:noFill/>
        </p:spPr>
        <p:txBody>
          <a:bodyPr wrap="square">
            <a:spAutoFit/>
          </a:bodyPr>
          <a:lstStyle/>
          <a:p>
            <a:r>
              <a:rPr lang="en-US" sz="4400" b="0" dirty="0">
                <a:solidFill>
                  <a:srgbClr val="0000FF"/>
                </a:solidFill>
                <a:effectLst/>
                <a:latin typeface="Courier New" panose="02070309020205020404" pitchFamily="49" charset="0"/>
              </a:rPr>
              <a:t>def</a:t>
            </a:r>
            <a:r>
              <a:rPr lang="en-US" sz="4400" b="0" dirty="0">
                <a:solidFill>
                  <a:srgbClr val="000000"/>
                </a:solidFill>
                <a:effectLst/>
                <a:latin typeface="Courier New" panose="02070309020205020404" pitchFamily="49" charset="0"/>
              </a:rPr>
              <a:t> </a:t>
            </a:r>
            <a:r>
              <a:rPr lang="en-US" sz="4400" b="0" dirty="0" err="1">
                <a:solidFill>
                  <a:srgbClr val="795E26"/>
                </a:solidFill>
                <a:effectLst/>
                <a:latin typeface="Courier New" panose="02070309020205020404" pitchFamily="49" charset="0"/>
              </a:rPr>
              <a:t>function_name</a:t>
            </a:r>
            <a:r>
              <a:rPr lang="en-US" sz="4400" b="0" dirty="0">
                <a:solidFill>
                  <a:srgbClr val="000000"/>
                </a:solidFill>
                <a:effectLst/>
                <a:latin typeface="Courier New" panose="02070309020205020404" pitchFamily="49" charset="0"/>
              </a:rPr>
              <a:t>(</a:t>
            </a:r>
            <a:r>
              <a:rPr lang="en-US" sz="4400" b="0" dirty="0">
                <a:solidFill>
                  <a:srgbClr val="001080"/>
                </a:solidFill>
                <a:effectLst/>
                <a:latin typeface="Courier New" panose="02070309020205020404" pitchFamily="49" charset="0"/>
              </a:rPr>
              <a:t>arg1</a:t>
            </a:r>
            <a:r>
              <a:rPr lang="en-US" sz="4400" b="0" dirty="0">
                <a:solidFill>
                  <a:srgbClr val="000000"/>
                </a:solidFill>
                <a:effectLst/>
                <a:latin typeface="Courier New" panose="02070309020205020404" pitchFamily="49" charset="0"/>
              </a:rPr>
              <a:t>, </a:t>
            </a:r>
            <a:r>
              <a:rPr lang="en-US" sz="4400" b="0" dirty="0">
                <a:solidFill>
                  <a:srgbClr val="001080"/>
                </a:solidFill>
                <a:effectLst/>
                <a:latin typeface="Courier New" panose="02070309020205020404" pitchFamily="49" charset="0"/>
              </a:rPr>
              <a:t>arg2</a:t>
            </a:r>
            <a:r>
              <a:rPr lang="en-US" sz="4400" b="0" dirty="0">
                <a:solidFill>
                  <a:srgbClr val="000000"/>
                </a:solidFill>
                <a:effectLst/>
                <a:latin typeface="Courier New" panose="02070309020205020404" pitchFamily="49" charset="0"/>
              </a:rPr>
              <a:t>, ...):</a:t>
            </a:r>
          </a:p>
          <a:p>
            <a:r>
              <a:rPr lang="en-US" sz="4400" b="0" dirty="0">
                <a:solidFill>
                  <a:srgbClr val="008000"/>
                </a:solidFill>
                <a:effectLst/>
                <a:latin typeface="Courier New" panose="02070309020205020404" pitchFamily="49" charset="0"/>
              </a:rPr>
              <a:t>	# do stuff here</a:t>
            </a:r>
          </a:p>
          <a:p>
            <a:r>
              <a:rPr lang="en-US" sz="4400" dirty="0">
                <a:solidFill>
                  <a:srgbClr val="008000"/>
                </a:solidFill>
                <a:latin typeface="Courier New" panose="02070309020205020404" pitchFamily="49" charset="0"/>
              </a:rPr>
              <a:t>	</a:t>
            </a:r>
            <a:r>
              <a:rPr lang="en-US" sz="4400" dirty="0">
                <a:solidFill>
                  <a:srgbClr val="AF00DB"/>
                </a:solidFill>
                <a:latin typeface="Courier New" panose="02070309020205020404" pitchFamily="49" charset="0"/>
              </a:rPr>
              <a:t>return</a:t>
            </a:r>
            <a:r>
              <a:rPr lang="en-US" sz="4400" dirty="0">
                <a:solidFill>
                  <a:srgbClr val="000000"/>
                </a:solidFill>
                <a:latin typeface="Courier New" panose="02070309020205020404" pitchFamily="49" charset="0"/>
              </a:rPr>
              <a:t> data</a:t>
            </a:r>
          </a:p>
          <a:p>
            <a:endParaRPr lang="en-US" sz="4400" b="0" dirty="0">
              <a:solidFill>
                <a:srgbClr val="000000"/>
              </a:solidFill>
              <a:effectLst/>
              <a:latin typeface="Courier New" panose="02070309020205020404" pitchFamily="49" charset="0"/>
            </a:endParaRPr>
          </a:p>
        </p:txBody>
      </p:sp>
      <p:grpSp>
        <p:nvGrpSpPr>
          <p:cNvPr id="6" name="Group 5">
            <a:extLst>
              <a:ext uri="{FF2B5EF4-FFF2-40B4-BE49-F238E27FC236}">
                <a16:creationId xmlns:a16="http://schemas.microsoft.com/office/drawing/2014/main" id="{3A1CF262-9658-CCBD-2F11-F790E6091955}"/>
              </a:ext>
            </a:extLst>
          </p:cNvPr>
          <p:cNvGrpSpPr/>
          <p:nvPr/>
        </p:nvGrpSpPr>
        <p:grpSpPr>
          <a:xfrm>
            <a:off x="8843261" y="977765"/>
            <a:ext cx="4398042" cy="1772715"/>
            <a:chOff x="10536455" y="2538734"/>
            <a:chExt cx="4398042" cy="1772715"/>
          </a:xfrm>
        </p:grpSpPr>
        <p:sp>
          <p:nvSpPr>
            <p:cNvPr id="8" name="that’s a lot of features!">
              <a:extLst>
                <a:ext uri="{FF2B5EF4-FFF2-40B4-BE49-F238E27FC236}">
                  <a16:creationId xmlns:a16="http://schemas.microsoft.com/office/drawing/2014/main" id="{329ACF4B-E7A3-FAA5-BC40-0ABEFE2F8BFA}"/>
                </a:ext>
              </a:extLst>
            </p:cNvPr>
            <p:cNvSpPr txBox="1"/>
            <p:nvPr/>
          </p:nvSpPr>
          <p:spPr>
            <a:xfrm>
              <a:off x="10536455" y="2538734"/>
              <a:ext cx="4398042"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4000" b="1">
                  <a:solidFill>
                    <a:schemeClr val="accent4">
                      <a:hueOff val="-1247790"/>
                      <a:lumOff val="-12326"/>
                    </a:schemeClr>
                  </a:solidFill>
                </a:defRPr>
              </a:lvl1pPr>
            </a:lstStyle>
            <a:p>
              <a:r>
                <a:rPr lang="en-US" dirty="0">
                  <a:solidFill>
                    <a:srgbClr val="EF7001"/>
                  </a:solidFill>
                </a:rPr>
                <a:t>Arguments passed</a:t>
              </a:r>
              <a:endParaRPr dirty="0">
                <a:solidFill>
                  <a:srgbClr val="EF7001"/>
                </a:solidFill>
              </a:endParaRPr>
            </a:p>
          </p:txBody>
        </p:sp>
        <p:pic>
          <p:nvPicPr>
            <p:cNvPr id="10" name="Line Line" descr="Line Line">
              <a:extLst>
                <a:ext uri="{FF2B5EF4-FFF2-40B4-BE49-F238E27FC236}">
                  <a16:creationId xmlns:a16="http://schemas.microsoft.com/office/drawing/2014/main" id="{89F73F07-A516-5860-9835-DB9247ED270B}"/>
                </a:ext>
              </a:extLst>
            </p:cNvPr>
            <p:cNvPicPr>
              <a:picLocks/>
            </p:cNvPicPr>
            <p:nvPr/>
          </p:nvPicPr>
          <p:blipFill>
            <a:blip r:embed="rId3"/>
            <a:stretch>
              <a:fillRect/>
            </a:stretch>
          </p:blipFill>
          <p:spPr>
            <a:xfrm rot="6998290">
              <a:off x="10953217" y="3566822"/>
              <a:ext cx="997180" cy="492074"/>
            </a:xfrm>
            <a:prstGeom prst="rect">
              <a:avLst/>
            </a:prstGeom>
          </p:spPr>
        </p:pic>
      </p:grpSp>
      <p:pic>
        <p:nvPicPr>
          <p:cNvPr id="15" name="Line Line" descr="Line Line">
            <a:extLst>
              <a:ext uri="{FF2B5EF4-FFF2-40B4-BE49-F238E27FC236}">
                <a16:creationId xmlns:a16="http://schemas.microsoft.com/office/drawing/2014/main" id="{880B9CA2-AF55-8BCB-240A-B902A8E04268}"/>
              </a:ext>
            </a:extLst>
          </p:cNvPr>
          <p:cNvPicPr>
            <a:picLocks/>
          </p:cNvPicPr>
          <p:nvPr/>
        </p:nvPicPr>
        <p:blipFill>
          <a:blip r:embed="rId3"/>
          <a:stretch>
            <a:fillRect/>
          </a:stretch>
        </p:blipFill>
        <p:spPr>
          <a:xfrm rot="3686099">
            <a:off x="11130684" y="2080299"/>
            <a:ext cx="997180" cy="492074"/>
          </a:xfrm>
          <a:prstGeom prst="rect">
            <a:avLst/>
          </a:prstGeom>
        </p:spPr>
      </p:pic>
      <p:sp>
        <p:nvSpPr>
          <p:cNvPr id="3" name="Google Shape;412;p56">
            <a:extLst>
              <a:ext uri="{FF2B5EF4-FFF2-40B4-BE49-F238E27FC236}">
                <a16:creationId xmlns:a16="http://schemas.microsoft.com/office/drawing/2014/main" id="{370DE068-D627-73F7-E8EC-46C9AFAD1686}"/>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return</a:t>
            </a:r>
          </a:p>
        </p:txBody>
      </p:sp>
    </p:spTree>
    <p:extLst>
      <p:ext uri="{BB962C8B-B14F-4D97-AF65-F5344CB8AC3E}">
        <p14:creationId xmlns:p14="http://schemas.microsoft.com/office/powerpoint/2010/main" val="8783346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5" name="Google Shape;555;p72"/>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13</a:t>
            </a:fld>
            <a:endParaRPr>
              <a:solidFill>
                <a:schemeClr val="accent1"/>
              </a:solidFill>
              <a:latin typeface="Lato"/>
              <a:ea typeface="Lato"/>
              <a:cs typeface="Lato"/>
              <a:sym typeface="Lato"/>
            </a:endParaRPr>
          </a:p>
        </p:txBody>
      </p:sp>
      <p:sp>
        <p:nvSpPr>
          <p:cNvPr id="2" name="Google Shape;412;p56">
            <a:extLst>
              <a:ext uri="{FF2B5EF4-FFF2-40B4-BE49-F238E27FC236}">
                <a16:creationId xmlns:a16="http://schemas.microsoft.com/office/drawing/2014/main" id="{F81861FD-DBDB-5FB7-3535-716614487707}"/>
              </a:ext>
            </a:extLst>
          </p:cNvPr>
          <p:cNvSpPr txBox="1">
            <a:spLocks/>
          </p:cNvSpPr>
          <p:nvPr/>
        </p:nvSpPr>
        <p:spPr>
          <a:xfrm>
            <a:off x="298453" y="249400"/>
            <a:ext cx="20503200" cy="1468069"/>
          </a:xfrm>
          <a:prstGeom prst="rect">
            <a:avLst/>
          </a:prstGeom>
        </p:spPr>
        <p:txBody>
          <a:bodyPr spcFirstLastPara="1" vert="horz" wrap="square" lIns="243800" tIns="243800" rIns="243800" bIns="243800" rtlCol="0" anchor="t" anchorCtr="0">
            <a:no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Function defining</a:t>
            </a:r>
          </a:p>
          <a:p>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D40623D0-8EC6-97B2-61C8-8CA56B16AE95}"/>
              </a:ext>
            </a:extLst>
          </p:cNvPr>
          <p:cNvSpPr txBox="1"/>
          <p:nvPr/>
        </p:nvSpPr>
        <p:spPr>
          <a:xfrm>
            <a:off x="2791327" y="2989531"/>
            <a:ext cx="12192000" cy="3477875"/>
          </a:xfrm>
          <a:prstGeom prst="rect">
            <a:avLst/>
          </a:prstGeom>
          <a:noFill/>
        </p:spPr>
        <p:txBody>
          <a:bodyPr wrap="square">
            <a:spAutoFit/>
          </a:bodyPr>
          <a:lstStyle/>
          <a:p>
            <a:r>
              <a:rPr lang="en-US" sz="4400" b="0" dirty="0">
                <a:solidFill>
                  <a:srgbClr val="0000FF"/>
                </a:solidFill>
                <a:effectLst/>
                <a:latin typeface="Courier New" panose="02070309020205020404" pitchFamily="49" charset="0"/>
              </a:rPr>
              <a:t>def</a:t>
            </a:r>
            <a:r>
              <a:rPr lang="en-US" sz="4400" b="0" dirty="0">
                <a:solidFill>
                  <a:srgbClr val="000000"/>
                </a:solidFill>
                <a:effectLst/>
                <a:latin typeface="Courier New" panose="02070309020205020404" pitchFamily="49" charset="0"/>
              </a:rPr>
              <a:t> </a:t>
            </a:r>
            <a:r>
              <a:rPr lang="en-US" sz="4400" b="0" dirty="0">
                <a:solidFill>
                  <a:srgbClr val="795E26"/>
                </a:solidFill>
                <a:effectLst/>
                <a:latin typeface="Courier New" panose="02070309020205020404" pitchFamily="49" charset="0"/>
              </a:rPr>
              <a:t>factorial</a:t>
            </a:r>
            <a:r>
              <a:rPr lang="en-US" sz="4400" b="0" dirty="0">
                <a:solidFill>
                  <a:srgbClr val="000000"/>
                </a:solidFill>
                <a:effectLst/>
                <a:latin typeface="Courier New" panose="02070309020205020404" pitchFamily="49" charset="0"/>
              </a:rPr>
              <a:t>(</a:t>
            </a:r>
            <a:r>
              <a:rPr lang="en-US" sz="4400" b="0" dirty="0">
                <a:solidFill>
                  <a:srgbClr val="001080"/>
                </a:solidFill>
                <a:effectLst/>
                <a:latin typeface="Courier New" panose="02070309020205020404" pitchFamily="49" charset="0"/>
              </a:rPr>
              <a:t>n</a:t>
            </a:r>
            <a:r>
              <a:rPr lang="en-US" sz="4400" b="0" dirty="0">
                <a:solidFill>
                  <a:srgbClr val="000000"/>
                </a:solidFill>
                <a:effectLst/>
                <a:latin typeface="Courier New" panose="02070309020205020404" pitchFamily="49" charset="0"/>
              </a:rPr>
              <a:t>):</a:t>
            </a:r>
          </a:p>
          <a:p>
            <a:pPr lvl="1"/>
            <a:r>
              <a:rPr lang="en-US" sz="4400" b="0" dirty="0">
                <a:solidFill>
                  <a:srgbClr val="000000"/>
                </a:solidFill>
                <a:effectLst/>
                <a:latin typeface="Courier New" panose="02070309020205020404" pitchFamily="49" charset="0"/>
              </a:rPr>
              <a:t>total = </a:t>
            </a:r>
            <a:r>
              <a:rPr lang="en-US" sz="4400" b="0" dirty="0">
                <a:solidFill>
                  <a:srgbClr val="098156"/>
                </a:solidFill>
                <a:effectLst/>
                <a:latin typeface="Courier New" panose="02070309020205020404" pitchFamily="49" charset="0"/>
              </a:rPr>
              <a:t>1</a:t>
            </a:r>
            <a:endParaRPr lang="en-US" sz="4400" b="0" dirty="0">
              <a:solidFill>
                <a:srgbClr val="000000"/>
              </a:solidFill>
              <a:effectLst/>
              <a:latin typeface="Courier New" panose="02070309020205020404" pitchFamily="49" charset="0"/>
            </a:endParaRPr>
          </a:p>
          <a:p>
            <a:pPr lvl="1"/>
            <a:r>
              <a:rPr lang="en-US" sz="4400" b="0" dirty="0">
                <a:solidFill>
                  <a:srgbClr val="AF00DB"/>
                </a:solidFill>
                <a:effectLst/>
                <a:latin typeface="Courier New" panose="02070309020205020404" pitchFamily="49" charset="0"/>
              </a:rPr>
              <a:t>for</a:t>
            </a:r>
            <a:r>
              <a:rPr lang="en-US" sz="4400" b="0" dirty="0">
                <a:solidFill>
                  <a:srgbClr val="000000"/>
                </a:solidFill>
                <a:effectLst/>
                <a:latin typeface="Courier New" panose="02070309020205020404" pitchFamily="49" charset="0"/>
              </a:rPr>
              <a:t> </a:t>
            </a:r>
            <a:r>
              <a:rPr lang="en-US" sz="4400" b="0" dirty="0" err="1">
                <a:solidFill>
                  <a:srgbClr val="000000"/>
                </a:solidFill>
                <a:effectLst/>
                <a:latin typeface="Courier New" panose="02070309020205020404" pitchFamily="49" charset="0"/>
              </a:rPr>
              <a:t>i</a:t>
            </a:r>
            <a:r>
              <a:rPr lang="en-US" sz="4400" b="0" dirty="0">
                <a:solidFill>
                  <a:srgbClr val="000000"/>
                </a:solidFill>
                <a:effectLst/>
                <a:latin typeface="Courier New" panose="02070309020205020404" pitchFamily="49" charset="0"/>
              </a:rPr>
              <a:t> </a:t>
            </a:r>
            <a:r>
              <a:rPr lang="en-US" sz="4400" b="0" dirty="0">
                <a:solidFill>
                  <a:srgbClr val="0000FF"/>
                </a:solidFill>
                <a:effectLst/>
                <a:latin typeface="Courier New" panose="02070309020205020404" pitchFamily="49" charset="0"/>
              </a:rPr>
              <a:t>in</a:t>
            </a:r>
            <a:r>
              <a:rPr lang="en-US" sz="4400" b="0" dirty="0">
                <a:solidFill>
                  <a:srgbClr val="000000"/>
                </a:solidFill>
                <a:effectLst/>
                <a:latin typeface="Courier New" panose="02070309020205020404" pitchFamily="49" charset="0"/>
              </a:rPr>
              <a:t> </a:t>
            </a:r>
            <a:r>
              <a:rPr lang="en-US" sz="4400" b="0" dirty="0">
                <a:solidFill>
                  <a:srgbClr val="795E26"/>
                </a:solidFill>
                <a:effectLst/>
                <a:latin typeface="Courier New" panose="02070309020205020404" pitchFamily="49" charset="0"/>
              </a:rPr>
              <a:t>range</a:t>
            </a:r>
            <a:r>
              <a:rPr lang="en-US" sz="4400" b="0" dirty="0">
                <a:solidFill>
                  <a:srgbClr val="000000"/>
                </a:solidFill>
                <a:effectLst/>
                <a:latin typeface="Courier New" panose="02070309020205020404" pitchFamily="49" charset="0"/>
              </a:rPr>
              <a:t>(</a:t>
            </a:r>
            <a:r>
              <a:rPr lang="en-US" sz="4400" b="0" dirty="0">
                <a:solidFill>
                  <a:srgbClr val="098156"/>
                </a:solidFill>
                <a:effectLst/>
                <a:latin typeface="Courier New" panose="02070309020205020404" pitchFamily="49" charset="0"/>
              </a:rPr>
              <a:t>1</a:t>
            </a:r>
            <a:r>
              <a:rPr lang="en-US" sz="4400" b="0" dirty="0">
                <a:solidFill>
                  <a:srgbClr val="000000"/>
                </a:solidFill>
                <a:effectLst/>
                <a:latin typeface="Courier New" panose="02070309020205020404" pitchFamily="49" charset="0"/>
              </a:rPr>
              <a:t>, n+</a:t>
            </a:r>
            <a:r>
              <a:rPr lang="en-US" sz="4400" b="0" dirty="0">
                <a:solidFill>
                  <a:srgbClr val="098156"/>
                </a:solidFill>
                <a:effectLst/>
                <a:latin typeface="Courier New" panose="02070309020205020404" pitchFamily="49" charset="0"/>
              </a:rPr>
              <a:t>1</a:t>
            </a:r>
            <a:r>
              <a:rPr lang="en-US" sz="4400" b="0" dirty="0">
                <a:solidFill>
                  <a:srgbClr val="000000"/>
                </a:solidFill>
                <a:effectLst/>
                <a:latin typeface="Courier New" panose="02070309020205020404" pitchFamily="49" charset="0"/>
              </a:rPr>
              <a:t>):</a:t>
            </a:r>
          </a:p>
          <a:p>
            <a:pPr lvl="1"/>
            <a:r>
              <a:rPr lang="en-US" sz="4400" b="0" dirty="0">
                <a:solidFill>
                  <a:srgbClr val="000000"/>
                </a:solidFill>
                <a:effectLst/>
                <a:latin typeface="Courier New" panose="02070309020205020404" pitchFamily="49" charset="0"/>
              </a:rPr>
              <a:t>	total *= </a:t>
            </a:r>
            <a:r>
              <a:rPr lang="en-US" sz="4400" b="0" dirty="0" err="1">
                <a:solidFill>
                  <a:srgbClr val="000000"/>
                </a:solidFill>
                <a:effectLst/>
                <a:latin typeface="Courier New" panose="02070309020205020404" pitchFamily="49" charset="0"/>
              </a:rPr>
              <a:t>i</a:t>
            </a:r>
            <a:endParaRPr lang="en-US" sz="4400" b="0" dirty="0">
              <a:solidFill>
                <a:srgbClr val="000000"/>
              </a:solidFill>
              <a:effectLst/>
              <a:latin typeface="Courier New" panose="02070309020205020404" pitchFamily="49" charset="0"/>
            </a:endParaRPr>
          </a:p>
          <a:p>
            <a:pPr lvl="1"/>
            <a:r>
              <a:rPr lang="en-US" sz="4400" b="0" dirty="0">
                <a:solidFill>
                  <a:srgbClr val="AF00DB"/>
                </a:solidFill>
                <a:effectLst/>
                <a:latin typeface="Courier New" panose="02070309020205020404" pitchFamily="49" charset="0"/>
              </a:rPr>
              <a:t>return</a:t>
            </a:r>
            <a:r>
              <a:rPr lang="en-US" sz="4400" b="0" dirty="0">
                <a:solidFill>
                  <a:srgbClr val="000000"/>
                </a:solidFill>
                <a:effectLst/>
                <a:latin typeface="Courier New" panose="02070309020205020404" pitchFamily="49" charset="0"/>
              </a:rPr>
              <a:t> total</a:t>
            </a:r>
            <a:endParaRPr lang="en-US" sz="4400" dirty="0">
              <a:solidFill>
                <a:srgbClr val="000000"/>
              </a:solidFill>
              <a:latin typeface="Courier New" panose="02070309020205020404" pitchFamily="49" charset="0"/>
            </a:endParaRPr>
          </a:p>
        </p:txBody>
      </p:sp>
      <p:sp>
        <p:nvSpPr>
          <p:cNvPr id="3" name="Google Shape;412;p56">
            <a:extLst>
              <a:ext uri="{FF2B5EF4-FFF2-40B4-BE49-F238E27FC236}">
                <a16:creationId xmlns:a16="http://schemas.microsoft.com/office/drawing/2014/main" id="{370DE068-D627-73F7-E8EC-46C9AFAD1686}"/>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return</a:t>
            </a:r>
          </a:p>
        </p:txBody>
      </p:sp>
      <p:sp>
        <p:nvSpPr>
          <p:cNvPr id="4" name="TextBox 3">
            <a:extLst>
              <a:ext uri="{FF2B5EF4-FFF2-40B4-BE49-F238E27FC236}">
                <a16:creationId xmlns:a16="http://schemas.microsoft.com/office/drawing/2014/main" id="{EA9AACEA-904C-838F-31B9-328169F839E4}"/>
              </a:ext>
            </a:extLst>
          </p:cNvPr>
          <p:cNvSpPr txBox="1"/>
          <p:nvPr/>
        </p:nvSpPr>
        <p:spPr>
          <a:xfrm>
            <a:off x="2791327" y="7248595"/>
            <a:ext cx="12192000" cy="1446550"/>
          </a:xfrm>
          <a:prstGeom prst="rect">
            <a:avLst/>
          </a:prstGeom>
          <a:noFill/>
        </p:spPr>
        <p:txBody>
          <a:bodyPr wrap="square">
            <a:spAutoFit/>
          </a:bodyPr>
          <a:lstStyle/>
          <a:p>
            <a:r>
              <a:rPr lang="en-US" sz="4400" b="0" dirty="0">
                <a:solidFill>
                  <a:srgbClr val="008000"/>
                </a:solidFill>
                <a:effectLst/>
                <a:latin typeface="Courier New" panose="02070309020205020404" pitchFamily="49" charset="0"/>
              </a:rPr>
              <a:t># some code later</a:t>
            </a:r>
            <a:endParaRPr lang="en-US" sz="4400" b="0" dirty="0">
              <a:solidFill>
                <a:srgbClr val="000000"/>
              </a:solidFill>
              <a:effectLst/>
              <a:latin typeface="Courier New" panose="02070309020205020404" pitchFamily="49" charset="0"/>
            </a:endParaRPr>
          </a:p>
          <a:p>
            <a:r>
              <a:rPr lang="en-US" sz="4400" b="0" dirty="0">
                <a:solidFill>
                  <a:srgbClr val="000000"/>
                </a:solidFill>
                <a:effectLst/>
                <a:latin typeface="Courier New" panose="02070309020205020404" pitchFamily="49" charset="0"/>
              </a:rPr>
              <a:t>factorial(</a:t>
            </a:r>
            <a:r>
              <a:rPr lang="en-US" sz="4400" b="0" dirty="0">
                <a:solidFill>
                  <a:srgbClr val="098156"/>
                </a:solidFill>
                <a:effectLst/>
                <a:latin typeface="Courier New" panose="02070309020205020404" pitchFamily="49" charset="0"/>
              </a:rPr>
              <a:t>5</a:t>
            </a:r>
            <a:r>
              <a:rPr lang="en-US" sz="4400" b="0" dirty="0">
                <a:solidFill>
                  <a:srgbClr val="000000"/>
                </a:solidFill>
                <a:effectLst/>
                <a:latin typeface="Courier New" panose="02070309020205020404" pitchFamily="49" charset="0"/>
              </a:rPr>
              <a:t>)</a:t>
            </a:r>
          </a:p>
        </p:txBody>
      </p:sp>
      <p:sp>
        <p:nvSpPr>
          <p:cNvPr id="11" name="TextBox 10">
            <a:extLst>
              <a:ext uri="{FF2B5EF4-FFF2-40B4-BE49-F238E27FC236}">
                <a16:creationId xmlns:a16="http://schemas.microsoft.com/office/drawing/2014/main" id="{E0265EC1-6CD7-1BE9-6649-9B7B06F4E764}"/>
              </a:ext>
            </a:extLst>
          </p:cNvPr>
          <p:cNvSpPr txBox="1"/>
          <p:nvPr/>
        </p:nvSpPr>
        <p:spPr>
          <a:xfrm>
            <a:off x="6142457" y="7919354"/>
            <a:ext cx="681788" cy="769441"/>
          </a:xfrm>
          <a:prstGeom prst="rect">
            <a:avLst/>
          </a:prstGeom>
          <a:noFill/>
        </p:spPr>
        <p:txBody>
          <a:bodyPr wrap="square">
            <a:spAutoFit/>
          </a:bodyPr>
          <a:lstStyle/>
          <a:p>
            <a:r>
              <a:rPr lang="en-US" sz="4400" b="0" dirty="0">
                <a:solidFill>
                  <a:srgbClr val="098156"/>
                </a:solidFill>
                <a:effectLst/>
                <a:latin typeface="Courier New" panose="02070309020205020404" pitchFamily="49" charset="0"/>
              </a:rPr>
              <a:t>5</a:t>
            </a:r>
            <a:endParaRPr lang="en-US" sz="4400" b="0" dirty="0">
              <a:solidFill>
                <a:srgbClr val="000000"/>
              </a:solidFill>
              <a:effectLst/>
              <a:latin typeface="Courier New" panose="02070309020205020404" pitchFamily="49" charset="0"/>
            </a:endParaRPr>
          </a:p>
        </p:txBody>
      </p:sp>
      <p:sp>
        <p:nvSpPr>
          <p:cNvPr id="14" name="TextBox 13">
            <a:extLst>
              <a:ext uri="{FF2B5EF4-FFF2-40B4-BE49-F238E27FC236}">
                <a16:creationId xmlns:a16="http://schemas.microsoft.com/office/drawing/2014/main" id="{2AF5E0B9-6F25-21EE-D619-0CB93B267769}"/>
              </a:ext>
            </a:extLst>
          </p:cNvPr>
          <p:cNvSpPr txBox="1"/>
          <p:nvPr/>
        </p:nvSpPr>
        <p:spPr>
          <a:xfrm>
            <a:off x="7363326" y="2288160"/>
            <a:ext cx="1411706" cy="769441"/>
          </a:xfrm>
          <a:prstGeom prst="rect">
            <a:avLst/>
          </a:prstGeom>
          <a:noFill/>
        </p:spPr>
        <p:txBody>
          <a:bodyPr wrap="square">
            <a:spAutoFit/>
          </a:bodyPr>
          <a:lstStyle/>
          <a:p>
            <a:r>
              <a:rPr lang="en-US" sz="4400" b="1" dirty="0">
                <a:solidFill>
                  <a:srgbClr val="004C7F"/>
                </a:solidFill>
                <a:effectLst/>
                <a:latin typeface="Helvetica Neue" panose="02000503000000020004" pitchFamily="2" charset="0"/>
                <a:ea typeface="Helvetica Neue" panose="02000503000000020004" pitchFamily="2" charset="0"/>
                <a:cs typeface="Helvetica Neue" panose="02000503000000020004" pitchFamily="2" charset="0"/>
              </a:rPr>
              <a:t>n=</a:t>
            </a:r>
            <a:endParaRPr lang="en-US" sz="44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DF9636B7-948E-2315-AF58-3C6BCB763063}"/>
              </a:ext>
            </a:extLst>
          </p:cNvPr>
          <p:cNvSpPr txBox="1"/>
          <p:nvPr/>
        </p:nvSpPr>
        <p:spPr>
          <a:xfrm>
            <a:off x="7090611" y="6147141"/>
            <a:ext cx="2342149" cy="769441"/>
          </a:xfrm>
          <a:prstGeom prst="rect">
            <a:avLst/>
          </a:prstGeom>
          <a:noFill/>
        </p:spPr>
        <p:txBody>
          <a:bodyPr wrap="square">
            <a:spAutoFit/>
          </a:bodyPr>
          <a:lstStyle/>
          <a:p>
            <a:r>
              <a:rPr lang="en-US" sz="4400" b="1" dirty="0">
                <a:solidFill>
                  <a:srgbClr val="004C7F"/>
                </a:solidFill>
                <a:effectLst/>
                <a:latin typeface="Helvetica Neue" panose="02000503000000020004" pitchFamily="2" charset="0"/>
                <a:ea typeface="Helvetica Neue" panose="02000503000000020004" pitchFamily="2" charset="0"/>
                <a:cs typeface="Helvetica Neue" panose="02000503000000020004" pitchFamily="2" charset="0"/>
              </a:rPr>
              <a:t>(=</a:t>
            </a:r>
            <a:r>
              <a:rPr lang="en-US" sz="44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120)</a:t>
            </a:r>
          </a:p>
        </p:txBody>
      </p:sp>
      <p:sp>
        <p:nvSpPr>
          <p:cNvPr id="17" name="TextBox 16">
            <a:extLst>
              <a:ext uri="{FF2B5EF4-FFF2-40B4-BE49-F238E27FC236}">
                <a16:creationId xmlns:a16="http://schemas.microsoft.com/office/drawing/2014/main" id="{325A1C2A-F433-C3E6-E32F-6507AED37A5F}"/>
              </a:ext>
            </a:extLst>
          </p:cNvPr>
          <p:cNvSpPr txBox="1"/>
          <p:nvPr/>
        </p:nvSpPr>
        <p:spPr>
          <a:xfrm>
            <a:off x="7590601" y="6147140"/>
            <a:ext cx="1286955" cy="769441"/>
          </a:xfrm>
          <a:prstGeom prst="rect">
            <a:avLst/>
          </a:prstGeom>
          <a:noFill/>
        </p:spPr>
        <p:txBody>
          <a:bodyPr wrap="square">
            <a:spAutoFit/>
          </a:bodyPr>
          <a:lstStyle/>
          <a:p>
            <a:r>
              <a:rPr lang="en-US" sz="44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120</a:t>
            </a:r>
          </a:p>
        </p:txBody>
      </p:sp>
      <p:cxnSp>
        <p:nvCxnSpPr>
          <p:cNvPr id="19" name="Straight Arrow Connector 18">
            <a:extLst>
              <a:ext uri="{FF2B5EF4-FFF2-40B4-BE49-F238E27FC236}">
                <a16:creationId xmlns:a16="http://schemas.microsoft.com/office/drawing/2014/main" id="{2D366A7F-3C27-01B5-6F01-30E5A96225DB}"/>
              </a:ext>
            </a:extLst>
          </p:cNvPr>
          <p:cNvCxnSpPr/>
          <p:nvPr/>
        </p:nvCxnSpPr>
        <p:spPr>
          <a:xfrm>
            <a:off x="6950789" y="8293768"/>
            <a:ext cx="1419604" cy="0"/>
          </a:xfrm>
          <a:prstGeom prst="straightConnector1">
            <a:avLst/>
          </a:prstGeom>
          <a:ln w="76200">
            <a:solidFill>
              <a:srgbClr val="EF700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40879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1" nodeType="clickEffect">
                                  <p:stCondLst>
                                    <p:cond delay="0"/>
                                  </p:stCondLst>
                                  <p:childTnLst>
                                    <p:animMotion origin="layout" path="M -8.00677E-7 1.85185E-7 L 0.07883 -0.40428 " pathEditMode="relative" rAng="0" ptsTypes="AA">
                                      <p:cBhvr>
                                        <p:cTn id="16" dur="1000" fill="hold"/>
                                        <p:tgtEl>
                                          <p:spTgt spid="11"/>
                                        </p:tgtEl>
                                        <p:attrNameLst>
                                          <p:attrName>ppt_x</p:attrName>
                                          <p:attrName>ppt_y</p:attrName>
                                        </p:attrNameLst>
                                      </p:cBhvr>
                                      <p:rCtr x="3938" y="-20220"/>
                                    </p:animMotion>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par>
                          <p:cTn id="20" fill="hold">
                            <p:stCondLst>
                              <p:cond delay="1000"/>
                            </p:stCondLst>
                            <p:childTnLst>
                              <p:par>
                                <p:cTn id="21" presetID="1" presetClass="entr" presetSubtype="0" fill="hold" grpId="1" nodeType="afterEffect">
                                  <p:stCondLst>
                                    <p:cond delay="1000"/>
                                  </p:stCondLst>
                                  <p:childTnLst>
                                    <p:set>
                                      <p:cBhvr>
                                        <p:cTn id="22" dur="1" fill="hold">
                                          <p:stCondLst>
                                            <p:cond delay="0"/>
                                          </p:stCondLst>
                                        </p:cTn>
                                        <p:tgtEl>
                                          <p:spTgt spid="16"/>
                                        </p:tgtEl>
                                        <p:attrNameLst>
                                          <p:attrName>style.visibility</p:attrName>
                                        </p:attrNameLst>
                                      </p:cBhvr>
                                      <p:to>
                                        <p:strVal val="visible"/>
                                      </p:to>
                                    </p:set>
                                  </p:childTnLst>
                                </p:cTn>
                              </p:par>
                            </p:childTnLst>
                          </p:cTn>
                        </p:par>
                        <p:par>
                          <p:cTn id="23" fill="hold">
                            <p:stCondLst>
                              <p:cond delay="2000"/>
                            </p:stCondLst>
                            <p:childTnLst>
                              <p:par>
                                <p:cTn id="24" presetID="1" presetClass="entr" presetSubtype="0" fill="hold" grpId="1" nodeType="after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par>
                          <p:cTn id="26" fill="hold">
                            <p:stCondLst>
                              <p:cond delay="2000"/>
                            </p:stCondLst>
                            <p:childTnLst>
                              <p:par>
                                <p:cTn id="27" presetID="42" presetClass="path" presetSubtype="0" accel="50000" decel="50000" fill="hold" grpId="2" nodeType="afterEffect">
                                  <p:stCondLst>
                                    <p:cond delay="1000"/>
                                  </p:stCondLst>
                                  <p:childTnLst>
                                    <p:animMotion origin="layout" path="M 3.74821E-6 2.59259E-6 L 0.02792 0.12847 " pathEditMode="relative" rAng="0" ptsTypes="AA">
                                      <p:cBhvr>
                                        <p:cTn id="28" dur="1000" fill="hold"/>
                                        <p:tgtEl>
                                          <p:spTgt spid="17"/>
                                        </p:tgtEl>
                                        <p:attrNameLst>
                                          <p:attrName>ppt_x</p:attrName>
                                          <p:attrName>ppt_y</p:attrName>
                                        </p:attrNameLst>
                                      </p:cBhvr>
                                      <p:rCtr x="1393" y="6424"/>
                                    </p:animMotion>
                                  </p:childTnLst>
                                </p:cTn>
                              </p:par>
                            </p:childTnLst>
                          </p:cTn>
                        </p:par>
                        <p:par>
                          <p:cTn id="29" fill="hold">
                            <p:stCondLst>
                              <p:cond delay="4000"/>
                            </p:stCondLst>
                            <p:childTnLst>
                              <p:par>
                                <p:cTn id="30" presetID="1" presetClass="entr" presetSubtype="0" fill="hold" nodeType="after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11" grpId="0"/>
      <p:bldP spid="11" grpId="1"/>
      <p:bldP spid="14" grpId="0"/>
      <p:bldP spid="16" grpId="1"/>
      <p:bldP spid="17" grpId="1"/>
      <p:bldP spid="17" grpId="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 name="TextBox 4">
            <a:extLst>
              <a:ext uri="{FF2B5EF4-FFF2-40B4-BE49-F238E27FC236}">
                <a16:creationId xmlns:a16="http://schemas.microsoft.com/office/drawing/2014/main" id="{D40623D0-8EC6-97B2-61C8-8CA56B16AE95}"/>
              </a:ext>
            </a:extLst>
          </p:cNvPr>
          <p:cNvSpPr txBox="1"/>
          <p:nvPr/>
        </p:nvSpPr>
        <p:spPr>
          <a:xfrm>
            <a:off x="2791327" y="2989531"/>
            <a:ext cx="12192000" cy="3477875"/>
          </a:xfrm>
          <a:prstGeom prst="rect">
            <a:avLst/>
          </a:prstGeom>
          <a:noFill/>
        </p:spPr>
        <p:txBody>
          <a:bodyPr wrap="square">
            <a:spAutoFit/>
          </a:bodyPr>
          <a:lstStyle/>
          <a:p>
            <a:r>
              <a:rPr lang="en-US" sz="4400" b="0" dirty="0">
                <a:solidFill>
                  <a:srgbClr val="0000FF"/>
                </a:solidFill>
                <a:effectLst/>
                <a:latin typeface="Courier New" panose="02070309020205020404" pitchFamily="49" charset="0"/>
              </a:rPr>
              <a:t>def</a:t>
            </a:r>
            <a:r>
              <a:rPr lang="en-US" sz="4400" b="0" dirty="0">
                <a:solidFill>
                  <a:srgbClr val="000000"/>
                </a:solidFill>
                <a:effectLst/>
                <a:latin typeface="Courier New" panose="02070309020205020404" pitchFamily="49" charset="0"/>
              </a:rPr>
              <a:t> </a:t>
            </a:r>
            <a:r>
              <a:rPr lang="en-US" sz="4400" b="0" dirty="0">
                <a:solidFill>
                  <a:srgbClr val="795E26"/>
                </a:solidFill>
                <a:effectLst/>
                <a:latin typeface="Courier New" panose="02070309020205020404" pitchFamily="49" charset="0"/>
              </a:rPr>
              <a:t>factorial</a:t>
            </a:r>
            <a:r>
              <a:rPr lang="en-US" sz="4400" b="0" dirty="0">
                <a:solidFill>
                  <a:srgbClr val="000000"/>
                </a:solidFill>
                <a:effectLst/>
                <a:latin typeface="Courier New" panose="02070309020205020404" pitchFamily="49" charset="0"/>
              </a:rPr>
              <a:t>(</a:t>
            </a:r>
            <a:r>
              <a:rPr lang="en-US" sz="4400" b="0" dirty="0">
                <a:solidFill>
                  <a:srgbClr val="001080"/>
                </a:solidFill>
                <a:effectLst/>
                <a:latin typeface="Courier New" panose="02070309020205020404" pitchFamily="49" charset="0"/>
              </a:rPr>
              <a:t>n</a:t>
            </a:r>
            <a:r>
              <a:rPr lang="en-US" sz="4400" b="0" dirty="0">
                <a:solidFill>
                  <a:srgbClr val="000000"/>
                </a:solidFill>
                <a:effectLst/>
                <a:latin typeface="Courier New" panose="02070309020205020404" pitchFamily="49" charset="0"/>
              </a:rPr>
              <a:t>):</a:t>
            </a:r>
          </a:p>
          <a:p>
            <a:pPr lvl="1"/>
            <a:r>
              <a:rPr lang="en-US" sz="4400" b="0" dirty="0">
                <a:solidFill>
                  <a:srgbClr val="000000"/>
                </a:solidFill>
                <a:effectLst/>
                <a:latin typeface="Courier New" panose="02070309020205020404" pitchFamily="49" charset="0"/>
              </a:rPr>
              <a:t>total = </a:t>
            </a:r>
            <a:r>
              <a:rPr lang="en-US" sz="4400" b="0" dirty="0">
                <a:solidFill>
                  <a:srgbClr val="098156"/>
                </a:solidFill>
                <a:effectLst/>
                <a:latin typeface="Courier New" panose="02070309020205020404" pitchFamily="49" charset="0"/>
              </a:rPr>
              <a:t>1</a:t>
            </a:r>
            <a:endParaRPr lang="en-US" sz="4400" b="0" dirty="0">
              <a:solidFill>
                <a:srgbClr val="000000"/>
              </a:solidFill>
              <a:effectLst/>
              <a:latin typeface="Courier New" panose="02070309020205020404" pitchFamily="49" charset="0"/>
            </a:endParaRPr>
          </a:p>
          <a:p>
            <a:pPr lvl="1"/>
            <a:r>
              <a:rPr lang="en-US" sz="4400" b="0" dirty="0">
                <a:solidFill>
                  <a:srgbClr val="AF00DB"/>
                </a:solidFill>
                <a:effectLst/>
                <a:latin typeface="Courier New" panose="02070309020205020404" pitchFamily="49" charset="0"/>
              </a:rPr>
              <a:t>for</a:t>
            </a:r>
            <a:r>
              <a:rPr lang="en-US" sz="4400" b="0" dirty="0">
                <a:solidFill>
                  <a:srgbClr val="000000"/>
                </a:solidFill>
                <a:effectLst/>
                <a:latin typeface="Courier New" panose="02070309020205020404" pitchFamily="49" charset="0"/>
              </a:rPr>
              <a:t> </a:t>
            </a:r>
            <a:r>
              <a:rPr lang="en-US" sz="4400" b="0" dirty="0" err="1">
                <a:solidFill>
                  <a:srgbClr val="000000"/>
                </a:solidFill>
                <a:effectLst/>
                <a:latin typeface="Courier New" panose="02070309020205020404" pitchFamily="49" charset="0"/>
              </a:rPr>
              <a:t>i</a:t>
            </a:r>
            <a:r>
              <a:rPr lang="en-US" sz="4400" b="0" dirty="0">
                <a:solidFill>
                  <a:srgbClr val="000000"/>
                </a:solidFill>
                <a:effectLst/>
                <a:latin typeface="Courier New" panose="02070309020205020404" pitchFamily="49" charset="0"/>
              </a:rPr>
              <a:t> </a:t>
            </a:r>
            <a:r>
              <a:rPr lang="en-US" sz="4400" b="0" dirty="0">
                <a:solidFill>
                  <a:srgbClr val="0000FF"/>
                </a:solidFill>
                <a:effectLst/>
                <a:latin typeface="Courier New" panose="02070309020205020404" pitchFamily="49" charset="0"/>
              </a:rPr>
              <a:t>in</a:t>
            </a:r>
            <a:r>
              <a:rPr lang="en-US" sz="4400" b="0" dirty="0">
                <a:solidFill>
                  <a:srgbClr val="000000"/>
                </a:solidFill>
                <a:effectLst/>
                <a:latin typeface="Courier New" panose="02070309020205020404" pitchFamily="49" charset="0"/>
              </a:rPr>
              <a:t> </a:t>
            </a:r>
            <a:r>
              <a:rPr lang="en-US" sz="4400" b="0" dirty="0">
                <a:solidFill>
                  <a:srgbClr val="795E26"/>
                </a:solidFill>
                <a:effectLst/>
                <a:latin typeface="Courier New" panose="02070309020205020404" pitchFamily="49" charset="0"/>
              </a:rPr>
              <a:t>range</a:t>
            </a:r>
            <a:r>
              <a:rPr lang="en-US" sz="4400" b="0" dirty="0">
                <a:solidFill>
                  <a:srgbClr val="000000"/>
                </a:solidFill>
                <a:effectLst/>
                <a:latin typeface="Courier New" panose="02070309020205020404" pitchFamily="49" charset="0"/>
              </a:rPr>
              <a:t>(</a:t>
            </a:r>
            <a:r>
              <a:rPr lang="en-US" sz="4400" b="0" dirty="0">
                <a:solidFill>
                  <a:srgbClr val="098156"/>
                </a:solidFill>
                <a:effectLst/>
                <a:latin typeface="Courier New" panose="02070309020205020404" pitchFamily="49" charset="0"/>
              </a:rPr>
              <a:t>1</a:t>
            </a:r>
            <a:r>
              <a:rPr lang="en-US" sz="4400" b="0" dirty="0">
                <a:solidFill>
                  <a:srgbClr val="000000"/>
                </a:solidFill>
                <a:effectLst/>
                <a:latin typeface="Courier New" panose="02070309020205020404" pitchFamily="49" charset="0"/>
              </a:rPr>
              <a:t>, n+</a:t>
            </a:r>
            <a:r>
              <a:rPr lang="en-US" sz="4400" b="0" dirty="0">
                <a:solidFill>
                  <a:srgbClr val="098156"/>
                </a:solidFill>
                <a:effectLst/>
                <a:latin typeface="Courier New" panose="02070309020205020404" pitchFamily="49" charset="0"/>
              </a:rPr>
              <a:t>1</a:t>
            </a:r>
            <a:r>
              <a:rPr lang="en-US" sz="4400" b="0" dirty="0">
                <a:solidFill>
                  <a:srgbClr val="000000"/>
                </a:solidFill>
                <a:effectLst/>
                <a:latin typeface="Courier New" panose="02070309020205020404" pitchFamily="49" charset="0"/>
              </a:rPr>
              <a:t>):</a:t>
            </a:r>
          </a:p>
          <a:p>
            <a:pPr lvl="1"/>
            <a:r>
              <a:rPr lang="en-US" sz="4400" b="0" dirty="0">
                <a:solidFill>
                  <a:srgbClr val="000000"/>
                </a:solidFill>
                <a:effectLst/>
                <a:latin typeface="Courier New" panose="02070309020205020404" pitchFamily="49" charset="0"/>
              </a:rPr>
              <a:t>	total *= </a:t>
            </a:r>
            <a:r>
              <a:rPr lang="en-US" sz="4400" b="0" dirty="0" err="1">
                <a:solidFill>
                  <a:srgbClr val="000000"/>
                </a:solidFill>
                <a:effectLst/>
                <a:latin typeface="Courier New" panose="02070309020205020404" pitchFamily="49" charset="0"/>
              </a:rPr>
              <a:t>i</a:t>
            </a:r>
            <a:endParaRPr lang="en-US" sz="4400" b="0" dirty="0">
              <a:solidFill>
                <a:srgbClr val="000000"/>
              </a:solidFill>
              <a:effectLst/>
              <a:latin typeface="Courier New" panose="02070309020205020404" pitchFamily="49" charset="0"/>
            </a:endParaRPr>
          </a:p>
          <a:p>
            <a:pPr lvl="1"/>
            <a:r>
              <a:rPr lang="en-US" sz="4400" b="0" dirty="0">
                <a:solidFill>
                  <a:srgbClr val="AF00DB"/>
                </a:solidFill>
                <a:effectLst/>
                <a:latin typeface="Courier New" panose="02070309020205020404" pitchFamily="49" charset="0"/>
              </a:rPr>
              <a:t>return</a:t>
            </a:r>
            <a:r>
              <a:rPr lang="en-US" sz="4400" b="0" dirty="0">
                <a:solidFill>
                  <a:srgbClr val="000000"/>
                </a:solidFill>
                <a:effectLst/>
                <a:latin typeface="Courier New" panose="02070309020205020404" pitchFamily="49" charset="0"/>
              </a:rPr>
              <a:t> total</a:t>
            </a:r>
            <a:endParaRPr lang="en-US" sz="4400" dirty="0">
              <a:solidFill>
                <a:srgbClr val="000000"/>
              </a:solidFill>
              <a:latin typeface="Courier New" panose="02070309020205020404" pitchFamily="49" charset="0"/>
            </a:endParaRPr>
          </a:p>
        </p:txBody>
      </p:sp>
      <p:sp>
        <p:nvSpPr>
          <p:cNvPr id="16" name="TextBox 15">
            <a:extLst>
              <a:ext uri="{FF2B5EF4-FFF2-40B4-BE49-F238E27FC236}">
                <a16:creationId xmlns:a16="http://schemas.microsoft.com/office/drawing/2014/main" id="{DF9636B7-948E-2315-AF58-3C6BCB763063}"/>
              </a:ext>
            </a:extLst>
          </p:cNvPr>
          <p:cNvSpPr txBox="1"/>
          <p:nvPr/>
        </p:nvSpPr>
        <p:spPr>
          <a:xfrm>
            <a:off x="7090611" y="6147141"/>
            <a:ext cx="2342149" cy="769441"/>
          </a:xfrm>
          <a:prstGeom prst="rect">
            <a:avLst/>
          </a:prstGeom>
          <a:noFill/>
        </p:spPr>
        <p:txBody>
          <a:bodyPr wrap="square">
            <a:spAutoFit/>
          </a:bodyPr>
          <a:lstStyle/>
          <a:p>
            <a:r>
              <a:rPr lang="en-US" sz="4400" b="1" dirty="0">
                <a:solidFill>
                  <a:srgbClr val="004C7F"/>
                </a:solidFill>
                <a:effectLst/>
                <a:latin typeface="Helvetica Neue" panose="02000503000000020004" pitchFamily="2" charset="0"/>
                <a:ea typeface="Helvetica Neue" panose="02000503000000020004" pitchFamily="2" charset="0"/>
                <a:cs typeface="Helvetica Neue" panose="02000503000000020004" pitchFamily="2" charset="0"/>
              </a:rPr>
              <a:t>(=</a:t>
            </a:r>
            <a:r>
              <a:rPr lang="en-US" sz="44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120)</a:t>
            </a:r>
          </a:p>
        </p:txBody>
      </p:sp>
      <p:sp>
        <p:nvSpPr>
          <p:cNvPr id="555" name="Google Shape;555;p72"/>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14</a:t>
            </a:fld>
            <a:endParaRPr>
              <a:solidFill>
                <a:schemeClr val="accent1"/>
              </a:solidFill>
              <a:latin typeface="Lato"/>
              <a:ea typeface="Lato"/>
              <a:cs typeface="Lato"/>
              <a:sym typeface="Lato"/>
            </a:endParaRPr>
          </a:p>
        </p:txBody>
      </p:sp>
      <p:sp>
        <p:nvSpPr>
          <p:cNvPr id="2" name="Google Shape;412;p56">
            <a:extLst>
              <a:ext uri="{FF2B5EF4-FFF2-40B4-BE49-F238E27FC236}">
                <a16:creationId xmlns:a16="http://schemas.microsoft.com/office/drawing/2014/main" id="{F81861FD-DBDB-5FB7-3535-716614487707}"/>
              </a:ext>
            </a:extLst>
          </p:cNvPr>
          <p:cNvSpPr txBox="1">
            <a:spLocks/>
          </p:cNvSpPr>
          <p:nvPr/>
        </p:nvSpPr>
        <p:spPr>
          <a:xfrm>
            <a:off x="298453" y="249400"/>
            <a:ext cx="20503200" cy="1468069"/>
          </a:xfrm>
          <a:prstGeom prst="rect">
            <a:avLst/>
          </a:prstGeom>
        </p:spPr>
        <p:txBody>
          <a:bodyPr spcFirstLastPara="1" vert="horz" wrap="square" lIns="243800" tIns="243800" rIns="243800" bIns="243800" rtlCol="0" anchor="t" anchorCtr="0">
            <a:no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Function defining</a:t>
            </a:r>
          </a:p>
          <a:p>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Google Shape;412;p56">
            <a:extLst>
              <a:ext uri="{FF2B5EF4-FFF2-40B4-BE49-F238E27FC236}">
                <a16:creationId xmlns:a16="http://schemas.microsoft.com/office/drawing/2014/main" id="{370DE068-D627-73F7-E8EC-46C9AFAD1686}"/>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return</a:t>
            </a:r>
          </a:p>
        </p:txBody>
      </p:sp>
      <p:sp>
        <p:nvSpPr>
          <p:cNvPr id="4" name="TextBox 3">
            <a:extLst>
              <a:ext uri="{FF2B5EF4-FFF2-40B4-BE49-F238E27FC236}">
                <a16:creationId xmlns:a16="http://schemas.microsoft.com/office/drawing/2014/main" id="{EA9AACEA-904C-838F-31B9-328169F839E4}"/>
              </a:ext>
            </a:extLst>
          </p:cNvPr>
          <p:cNvSpPr txBox="1"/>
          <p:nvPr/>
        </p:nvSpPr>
        <p:spPr>
          <a:xfrm>
            <a:off x="2791327" y="7248595"/>
            <a:ext cx="12192000" cy="1446550"/>
          </a:xfrm>
          <a:prstGeom prst="rect">
            <a:avLst/>
          </a:prstGeom>
          <a:noFill/>
        </p:spPr>
        <p:txBody>
          <a:bodyPr wrap="square">
            <a:spAutoFit/>
          </a:bodyPr>
          <a:lstStyle/>
          <a:p>
            <a:r>
              <a:rPr lang="en-US" sz="4400" b="0" dirty="0">
                <a:solidFill>
                  <a:srgbClr val="008000"/>
                </a:solidFill>
                <a:effectLst/>
                <a:latin typeface="Courier New" panose="02070309020205020404" pitchFamily="49" charset="0"/>
              </a:rPr>
              <a:t># some code later</a:t>
            </a:r>
            <a:endParaRPr lang="en-US" sz="4400" b="0" dirty="0">
              <a:solidFill>
                <a:srgbClr val="000000"/>
              </a:solidFill>
              <a:effectLst/>
              <a:latin typeface="Courier New" panose="02070309020205020404" pitchFamily="49" charset="0"/>
            </a:endParaRPr>
          </a:p>
          <a:p>
            <a:r>
              <a:rPr lang="en-US" sz="4400" b="0" dirty="0">
                <a:solidFill>
                  <a:srgbClr val="000000"/>
                </a:solidFill>
                <a:effectLst/>
                <a:latin typeface="Courier New" panose="02070309020205020404" pitchFamily="49" charset="0"/>
              </a:rPr>
              <a:t>factorial(</a:t>
            </a:r>
            <a:r>
              <a:rPr lang="en-US" sz="4400" dirty="0">
                <a:solidFill>
                  <a:srgbClr val="001080"/>
                </a:solidFill>
                <a:latin typeface="Courier New" panose="02070309020205020404" pitchFamily="49" charset="0"/>
              </a:rPr>
              <a:t>n</a:t>
            </a:r>
            <a:r>
              <a:rPr lang="en-US" sz="4400" dirty="0">
                <a:latin typeface="Courier New" panose="02070309020205020404" pitchFamily="49" charset="0"/>
              </a:rPr>
              <a:t>=</a:t>
            </a:r>
            <a:r>
              <a:rPr lang="en-US" sz="4400" dirty="0">
                <a:solidFill>
                  <a:srgbClr val="098156"/>
                </a:solidFill>
                <a:latin typeface="Courier New" panose="02070309020205020404" pitchFamily="49" charset="0"/>
              </a:rPr>
              <a:t>5</a:t>
            </a:r>
            <a:r>
              <a:rPr lang="en-US" sz="4400" b="0" dirty="0">
                <a:solidFill>
                  <a:srgbClr val="000000"/>
                </a:solidFill>
                <a:effectLst/>
                <a:latin typeface="Courier New" panose="02070309020205020404" pitchFamily="49" charset="0"/>
              </a:rPr>
              <a:t>)</a:t>
            </a:r>
          </a:p>
        </p:txBody>
      </p:sp>
      <p:sp>
        <p:nvSpPr>
          <p:cNvPr id="11" name="TextBox 10">
            <a:extLst>
              <a:ext uri="{FF2B5EF4-FFF2-40B4-BE49-F238E27FC236}">
                <a16:creationId xmlns:a16="http://schemas.microsoft.com/office/drawing/2014/main" id="{E0265EC1-6CD7-1BE9-6649-9B7B06F4E764}"/>
              </a:ext>
            </a:extLst>
          </p:cNvPr>
          <p:cNvSpPr txBox="1"/>
          <p:nvPr/>
        </p:nvSpPr>
        <p:spPr>
          <a:xfrm>
            <a:off x="6142456" y="7919354"/>
            <a:ext cx="1798385" cy="769441"/>
          </a:xfrm>
          <a:prstGeom prst="rect">
            <a:avLst/>
          </a:prstGeom>
          <a:noFill/>
        </p:spPr>
        <p:txBody>
          <a:bodyPr wrap="square">
            <a:spAutoFit/>
          </a:bodyPr>
          <a:lstStyle/>
          <a:p>
            <a:r>
              <a:rPr lang="en-US" sz="4400" dirty="0">
                <a:solidFill>
                  <a:srgbClr val="001080"/>
                </a:solidFill>
                <a:latin typeface="Courier New" panose="02070309020205020404" pitchFamily="49" charset="0"/>
              </a:rPr>
              <a:t>n</a:t>
            </a:r>
            <a:r>
              <a:rPr lang="en-US" sz="4400" dirty="0">
                <a:latin typeface="Courier New" panose="02070309020205020404" pitchFamily="49" charset="0"/>
              </a:rPr>
              <a:t>=</a:t>
            </a:r>
            <a:r>
              <a:rPr lang="en-US" sz="4400" b="0" dirty="0">
                <a:solidFill>
                  <a:srgbClr val="098156"/>
                </a:solidFill>
                <a:effectLst/>
                <a:latin typeface="Courier New" panose="02070309020205020404" pitchFamily="49" charset="0"/>
              </a:rPr>
              <a:t>5</a:t>
            </a:r>
            <a:endParaRPr lang="en-US" sz="4400" b="0" dirty="0">
              <a:solidFill>
                <a:srgbClr val="000000"/>
              </a:solidFill>
              <a:effectLst/>
              <a:latin typeface="Courier New" panose="02070309020205020404" pitchFamily="49" charset="0"/>
            </a:endParaRPr>
          </a:p>
        </p:txBody>
      </p:sp>
      <p:sp>
        <p:nvSpPr>
          <p:cNvPr id="17" name="TextBox 16">
            <a:extLst>
              <a:ext uri="{FF2B5EF4-FFF2-40B4-BE49-F238E27FC236}">
                <a16:creationId xmlns:a16="http://schemas.microsoft.com/office/drawing/2014/main" id="{325A1C2A-F433-C3E6-E32F-6507AED37A5F}"/>
              </a:ext>
            </a:extLst>
          </p:cNvPr>
          <p:cNvSpPr txBox="1"/>
          <p:nvPr/>
        </p:nvSpPr>
        <p:spPr>
          <a:xfrm>
            <a:off x="7591139" y="6147140"/>
            <a:ext cx="1286955" cy="769441"/>
          </a:xfrm>
          <a:prstGeom prst="rect">
            <a:avLst/>
          </a:prstGeom>
          <a:noFill/>
        </p:spPr>
        <p:txBody>
          <a:bodyPr wrap="square">
            <a:spAutoFit/>
          </a:bodyPr>
          <a:lstStyle/>
          <a:p>
            <a:r>
              <a:rPr lang="en-US" sz="44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120</a:t>
            </a:r>
          </a:p>
        </p:txBody>
      </p:sp>
      <p:cxnSp>
        <p:nvCxnSpPr>
          <p:cNvPr id="19" name="Straight Arrow Connector 18">
            <a:extLst>
              <a:ext uri="{FF2B5EF4-FFF2-40B4-BE49-F238E27FC236}">
                <a16:creationId xmlns:a16="http://schemas.microsoft.com/office/drawing/2014/main" id="{2D366A7F-3C27-01B5-6F01-30E5A96225DB}"/>
              </a:ext>
            </a:extLst>
          </p:cNvPr>
          <p:cNvCxnSpPr/>
          <p:nvPr/>
        </p:nvCxnSpPr>
        <p:spPr>
          <a:xfrm>
            <a:off x="7571871" y="8309810"/>
            <a:ext cx="1419604" cy="0"/>
          </a:xfrm>
          <a:prstGeom prst="straightConnector1">
            <a:avLst/>
          </a:prstGeom>
          <a:ln w="76200">
            <a:solidFill>
              <a:srgbClr val="EF7001"/>
            </a:solidFill>
            <a:tailEnd type="triangle"/>
          </a:ln>
        </p:spPr>
        <p:style>
          <a:lnRef idx="1">
            <a:schemeClr val="accent1"/>
          </a:lnRef>
          <a:fillRef idx="0">
            <a:schemeClr val="accent1"/>
          </a:fillRef>
          <a:effectRef idx="0">
            <a:schemeClr val="accent1"/>
          </a:effectRef>
          <a:fontRef idx="minor">
            <a:schemeClr val="tx1"/>
          </a:fontRef>
        </p:style>
      </p:cxnSp>
      <p:sp>
        <p:nvSpPr>
          <p:cNvPr id="6" name="that’s a lot of features!">
            <a:extLst>
              <a:ext uri="{FF2B5EF4-FFF2-40B4-BE49-F238E27FC236}">
                <a16:creationId xmlns:a16="http://schemas.microsoft.com/office/drawing/2014/main" id="{9A4D65D7-6BB6-639E-1289-BFCF30E7C4CC}"/>
              </a:ext>
            </a:extLst>
          </p:cNvPr>
          <p:cNvSpPr txBox="1"/>
          <p:nvPr/>
        </p:nvSpPr>
        <p:spPr>
          <a:xfrm>
            <a:off x="4489284" y="8688795"/>
            <a:ext cx="4398042"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4000" b="1">
                <a:solidFill>
                  <a:schemeClr val="accent4">
                    <a:hueOff val="-1247790"/>
                    <a:lumOff val="-12326"/>
                  </a:schemeClr>
                </a:solidFill>
              </a:defRPr>
            </a:lvl1pPr>
          </a:lstStyle>
          <a:p>
            <a:r>
              <a:rPr lang="en-US" dirty="0">
                <a:solidFill>
                  <a:srgbClr val="EF7001"/>
                </a:solidFill>
              </a:rPr>
              <a:t>An alternative…</a:t>
            </a:r>
            <a:endParaRPr dirty="0">
              <a:solidFill>
                <a:srgbClr val="EF7001"/>
              </a:solidFill>
            </a:endParaRPr>
          </a:p>
        </p:txBody>
      </p:sp>
    </p:spTree>
    <p:extLst>
      <p:ext uri="{BB962C8B-B14F-4D97-AF65-F5344CB8AC3E}">
        <p14:creationId xmlns:p14="http://schemas.microsoft.com/office/powerpoint/2010/main" val="35944422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1" nodeType="clickEffect">
                                  <p:stCondLst>
                                    <p:cond delay="0"/>
                                  </p:stCondLst>
                                  <p:childTnLst>
                                    <p:animMotion origin="layout" path="M 6.11899E-7 1.85185E-7 L 0.06444 -0.41273 " pathEditMode="relative" rAng="0" ptsTypes="AA">
                                      <p:cBhvr>
                                        <p:cTn id="14" dur="1000" fill="hold"/>
                                        <p:tgtEl>
                                          <p:spTgt spid="11"/>
                                        </p:tgtEl>
                                        <p:attrNameLst>
                                          <p:attrName>ppt_x</p:attrName>
                                          <p:attrName>ppt_y</p:attrName>
                                        </p:attrNameLst>
                                      </p:cBhvr>
                                      <p:rCtr x="3222" y="-20637"/>
                                    </p:animMotion>
                                  </p:childTnLst>
                                </p:cTn>
                              </p:par>
                            </p:childTnLst>
                          </p:cTn>
                        </p:par>
                        <p:par>
                          <p:cTn id="15" fill="hold">
                            <p:stCondLst>
                              <p:cond delay="1000"/>
                            </p:stCondLst>
                            <p:childTnLst>
                              <p:par>
                                <p:cTn id="16" presetID="1" presetClass="entr" presetSubtype="0" fill="hold" grpId="0" nodeType="afterEffect">
                                  <p:stCondLst>
                                    <p:cond delay="1000"/>
                                  </p:stCondLst>
                                  <p:childTnLst>
                                    <p:set>
                                      <p:cBhvr>
                                        <p:cTn id="17" dur="1" fill="hold">
                                          <p:stCondLst>
                                            <p:cond delay="0"/>
                                          </p:stCondLst>
                                        </p:cTn>
                                        <p:tgtEl>
                                          <p:spTgt spid="16"/>
                                        </p:tgtEl>
                                        <p:attrNameLst>
                                          <p:attrName>style.visibility</p:attrName>
                                        </p:attrNameLst>
                                      </p:cBhvr>
                                      <p:to>
                                        <p:strVal val="visible"/>
                                      </p:to>
                                    </p:se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par>
                          <p:cTn id="21" fill="hold">
                            <p:stCondLst>
                              <p:cond delay="2000"/>
                            </p:stCondLst>
                            <p:childTnLst>
                              <p:par>
                                <p:cTn id="22" presetID="42" presetClass="path" presetSubtype="0" accel="50000" decel="50000" fill="hold" grpId="1" nodeType="afterEffect">
                                  <p:stCondLst>
                                    <p:cond delay="1000"/>
                                  </p:stCondLst>
                                  <p:childTnLst>
                                    <p:animMotion origin="layout" path="M -1.34748E-6 2.59259E-6 L 0.0582 0.12974 " pathEditMode="relative" rAng="0" ptsTypes="AA">
                                      <p:cBhvr>
                                        <p:cTn id="23" dur="1000" fill="hold"/>
                                        <p:tgtEl>
                                          <p:spTgt spid="17"/>
                                        </p:tgtEl>
                                        <p:attrNameLst>
                                          <p:attrName>ppt_x</p:attrName>
                                          <p:attrName>ppt_y</p:attrName>
                                        </p:attrNameLst>
                                      </p:cBhvr>
                                      <p:rCtr x="2910" y="6481"/>
                                    </p:animMotion>
                                  </p:childTnLst>
                                </p:cTn>
                              </p:par>
                            </p:childTnLst>
                          </p:cTn>
                        </p:par>
                        <p:par>
                          <p:cTn id="24" fill="hold">
                            <p:stCondLst>
                              <p:cond delay="4000"/>
                            </p:stCondLst>
                            <p:childTnLst>
                              <p:par>
                                <p:cTn id="25" presetID="1" presetClass="entr" presetSubtype="0"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 grpId="0"/>
      <p:bldP spid="11" grpId="0"/>
      <p:bldP spid="11" grpId="1"/>
      <p:bldP spid="17" grpId="0"/>
      <p:bldP spid="17" grpId="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 name="TextBox 4">
            <a:extLst>
              <a:ext uri="{FF2B5EF4-FFF2-40B4-BE49-F238E27FC236}">
                <a16:creationId xmlns:a16="http://schemas.microsoft.com/office/drawing/2014/main" id="{D40623D0-8EC6-97B2-61C8-8CA56B16AE95}"/>
              </a:ext>
            </a:extLst>
          </p:cNvPr>
          <p:cNvSpPr txBox="1"/>
          <p:nvPr/>
        </p:nvSpPr>
        <p:spPr>
          <a:xfrm>
            <a:off x="2791327" y="2989531"/>
            <a:ext cx="12192000" cy="3477875"/>
          </a:xfrm>
          <a:prstGeom prst="rect">
            <a:avLst/>
          </a:prstGeom>
          <a:noFill/>
        </p:spPr>
        <p:txBody>
          <a:bodyPr wrap="square">
            <a:spAutoFit/>
          </a:bodyPr>
          <a:lstStyle/>
          <a:p>
            <a:r>
              <a:rPr lang="en-US" sz="4400" b="0" dirty="0">
                <a:solidFill>
                  <a:srgbClr val="0000FF"/>
                </a:solidFill>
                <a:effectLst/>
                <a:latin typeface="Courier New" panose="02070309020205020404" pitchFamily="49" charset="0"/>
              </a:rPr>
              <a:t>def</a:t>
            </a:r>
            <a:r>
              <a:rPr lang="en-US" sz="4400" b="0" dirty="0">
                <a:solidFill>
                  <a:srgbClr val="000000"/>
                </a:solidFill>
                <a:effectLst/>
                <a:latin typeface="Courier New" panose="02070309020205020404" pitchFamily="49" charset="0"/>
              </a:rPr>
              <a:t> </a:t>
            </a:r>
            <a:r>
              <a:rPr lang="en-US" sz="4400" b="0" dirty="0">
                <a:solidFill>
                  <a:srgbClr val="795E26"/>
                </a:solidFill>
                <a:effectLst/>
                <a:latin typeface="Courier New" panose="02070309020205020404" pitchFamily="49" charset="0"/>
              </a:rPr>
              <a:t>factorial</a:t>
            </a:r>
            <a:r>
              <a:rPr lang="en-US" sz="4400" b="0" dirty="0">
                <a:solidFill>
                  <a:srgbClr val="000000"/>
                </a:solidFill>
                <a:effectLst/>
                <a:latin typeface="Courier New" panose="02070309020205020404" pitchFamily="49" charset="0"/>
              </a:rPr>
              <a:t>(</a:t>
            </a:r>
            <a:r>
              <a:rPr lang="en-US" sz="4400" b="0" dirty="0">
                <a:solidFill>
                  <a:srgbClr val="001080"/>
                </a:solidFill>
                <a:effectLst/>
                <a:latin typeface="Courier New" panose="02070309020205020404" pitchFamily="49" charset="0"/>
              </a:rPr>
              <a:t>n</a:t>
            </a:r>
            <a:r>
              <a:rPr lang="en-US" sz="4400" dirty="0">
                <a:latin typeface="Courier New" panose="02070309020205020404" pitchFamily="49" charset="0"/>
              </a:rPr>
              <a:t>=</a:t>
            </a:r>
            <a:r>
              <a:rPr lang="en-US" sz="4400" dirty="0">
                <a:solidFill>
                  <a:srgbClr val="098156"/>
                </a:solidFill>
                <a:latin typeface="Courier New" panose="02070309020205020404" pitchFamily="49" charset="0"/>
              </a:rPr>
              <a:t>6</a:t>
            </a:r>
            <a:r>
              <a:rPr lang="en-US" sz="4400" b="0" dirty="0">
                <a:solidFill>
                  <a:srgbClr val="000000"/>
                </a:solidFill>
                <a:effectLst/>
                <a:latin typeface="Courier New" panose="02070309020205020404" pitchFamily="49" charset="0"/>
              </a:rPr>
              <a:t>):</a:t>
            </a:r>
          </a:p>
          <a:p>
            <a:pPr lvl="1"/>
            <a:r>
              <a:rPr lang="en-US" sz="4400" b="0" dirty="0">
                <a:solidFill>
                  <a:srgbClr val="000000"/>
                </a:solidFill>
                <a:effectLst/>
                <a:latin typeface="Courier New" panose="02070309020205020404" pitchFamily="49" charset="0"/>
              </a:rPr>
              <a:t>total = </a:t>
            </a:r>
            <a:r>
              <a:rPr lang="en-US" sz="4400" b="0" dirty="0">
                <a:solidFill>
                  <a:srgbClr val="098156"/>
                </a:solidFill>
                <a:effectLst/>
                <a:latin typeface="Courier New" panose="02070309020205020404" pitchFamily="49" charset="0"/>
              </a:rPr>
              <a:t>1</a:t>
            </a:r>
            <a:endParaRPr lang="en-US" sz="4400" b="0" dirty="0">
              <a:solidFill>
                <a:srgbClr val="000000"/>
              </a:solidFill>
              <a:effectLst/>
              <a:latin typeface="Courier New" panose="02070309020205020404" pitchFamily="49" charset="0"/>
            </a:endParaRPr>
          </a:p>
          <a:p>
            <a:pPr lvl="1"/>
            <a:r>
              <a:rPr lang="en-US" sz="4400" b="0" dirty="0">
                <a:solidFill>
                  <a:srgbClr val="AF00DB"/>
                </a:solidFill>
                <a:effectLst/>
                <a:latin typeface="Courier New" panose="02070309020205020404" pitchFamily="49" charset="0"/>
              </a:rPr>
              <a:t>for</a:t>
            </a:r>
            <a:r>
              <a:rPr lang="en-US" sz="4400" b="0" dirty="0">
                <a:solidFill>
                  <a:srgbClr val="000000"/>
                </a:solidFill>
                <a:effectLst/>
                <a:latin typeface="Courier New" panose="02070309020205020404" pitchFamily="49" charset="0"/>
              </a:rPr>
              <a:t> </a:t>
            </a:r>
            <a:r>
              <a:rPr lang="en-US" sz="4400" b="0" dirty="0" err="1">
                <a:solidFill>
                  <a:srgbClr val="000000"/>
                </a:solidFill>
                <a:effectLst/>
                <a:latin typeface="Courier New" panose="02070309020205020404" pitchFamily="49" charset="0"/>
              </a:rPr>
              <a:t>i</a:t>
            </a:r>
            <a:r>
              <a:rPr lang="en-US" sz="4400" b="0" dirty="0">
                <a:solidFill>
                  <a:srgbClr val="000000"/>
                </a:solidFill>
                <a:effectLst/>
                <a:latin typeface="Courier New" panose="02070309020205020404" pitchFamily="49" charset="0"/>
              </a:rPr>
              <a:t> </a:t>
            </a:r>
            <a:r>
              <a:rPr lang="en-US" sz="4400" b="0" dirty="0">
                <a:solidFill>
                  <a:srgbClr val="0000FF"/>
                </a:solidFill>
                <a:effectLst/>
                <a:latin typeface="Courier New" panose="02070309020205020404" pitchFamily="49" charset="0"/>
              </a:rPr>
              <a:t>in</a:t>
            </a:r>
            <a:r>
              <a:rPr lang="en-US" sz="4400" b="0" dirty="0">
                <a:solidFill>
                  <a:srgbClr val="000000"/>
                </a:solidFill>
                <a:effectLst/>
                <a:latin typeface="Courier New" panose="02070309020205020404" pitchFamily="49" charset="0"/>
              </a:rPr>
              <a:t> </a:t>
            </a:r>
            <a:r>
              <a:rPr lang="en-US" sz="4400" b="0" dirty="0">
                <a:solidFill>
                  <a:srgbClr val="795E26"/>
                </a:solidFill>
                <a:effectLst/>
                <a:latin typeface="Courier New" panose="02070309020205020404" pitchFamily="49" charset="0"/>
              </a:rPr>
              <a:t>range</a:t>
            </a:r>
            <a:r>
              <a:rPr lang="en-US" sz="4400" b="0" dirty="0">
                <a:solidFill>
                  <a:srgbClr val="000000"/>
                </a:solidFill>
                <a:effectLst/>
                <a:latin typeface="Courier New" panose="02070309020205020404" pitchFamily="49" charset="0"/>
              </a:rPr>
              <a:t>(</a:t>
            </a:r>
            <a:r>
              <a:rPr lang="en-US" sz="4400" b="0" dirty="0">
                <a:solidFill>
                  <a:srgbClr val="098156"/>
                </a:solidFill>
                <a:effectLst/>
                <a:latin typeface="Courier New" panose="02070309020205020404" pitchFamily="49" charset="0"/>
              </a:rPr>
              <a:t>1</a:t>
            </a:r>
            <a:r>
              <a:rPr lang="en-US" sz="4400" b="0" dirty="0">
                <a:solidFill>
                  <a:srgbClr val="000000"/>
                </a:solidFill>
                <a:effectLst/>
                <a:latin typeface="Courier New" panose="02070309020205020404" pitchFamily="49" charset="0"/>
              </a:rPr>
              <a:t>, n+</a:t>
            </a:r>
            <a:r>
              <a:rPr lang="en-US" sz="4400" b="0" dirty="0">
                <a:solidFill>
                  <a:srgbClr val="098156"/>
                </a:solidFill>
                <a:effectLst/>
                <a:latin typeface="Courier New" panose="02070309020205020404" pitchFamily="49" charset="0"/>
              </a:rPr>
              <a:t>1</a:t>
            </a:r>
            <a:r>
              <a:rPr lang="en-US" sz="4400" b="0" dirty="0">
                <a:solidFill>
                  <a:srgbClr val="000000"/>
                </a:solidFill>
                <a:effectLst/>
                <a:latin typeface="Courier New" panose="02070309020205020404" pitchFamily="49" charset="0"/>
              </a:rPr>
              <a:t>):</a:t>
            </a:r>
          </a:p>
          <a:p>
            <a:pPr lvl="1"/>
            <a:r>
              <a:rPr lang="en-US" sz="4400" b="0" dirty="0">
                <a:solidFill>
                  <a:srgbClr val="000000"/>
                </a:solidFill>
                <a:effectLst/>
                <a:latin typeface="Courier New" panose="02070309020205020404" pitchFamily="49" charset="0"/>
              </a:rPr>
              <a:t>	total *= </a:t>
            </a:r>
            <a:r>
              <a:rPr lang="en-US" sz="4400" b="0" dirty="0" err="1">
                <a:solidFill>
                  <a:srgbClr val="000000"/>
                </a:solidFill>
                <a:effectLst/>
                <a:latin typeface="Courier New" panose="02070309020205020404" pitchFamily="49" charset="0"/>
              </a:rPr>
              <a:t>i</a:t>
            </a:r>
            <a:endParaRPr lang="en-US" sz="4400" b="0" dirty="0">
              <a:solidFill>
                <a:srgbClr val="000000"/>
              </a:solidFill>
              <a:effectLst/>
              <a:latin typeface="Courier New" panose="02070309020205020404" pitchFamily="49" charset="0"/>
            </a:endParaRPr>
          </a:p>
          <a:p>
            <a:pPr lvl="1"/>
            <a:r>
              <a:rPr lang="en-US" sz="4400" b="0" dirty="0">
                <a:solidFill>
                  <a:srgbClr val="AF00DB"/>
                </a:solidFill>
                <a:effectLst/>
                <a:latin typeface="Courier New" panose="02070309020205020404" pitchFamily="49" charset="0"/>
              </a:rPr>
              <a:t>return</a:t>
            </a:r>
            <a:r>
              <a:rPr lang="en-US" sz="4400" b="0" dirty="0">
                <a:solidFill>
                  <a:srgbClr val="000000"/>
                </a:solidFill>
                <a:effectLst/>
                <a:latin typeface="Courier New" panose="02070309020205020404" pitchFamily="49" charset="0"/>
              </a:rPr>
              <a:t> total</a:t>
            </a:r>
            <a:endParaRPr lang="en-US" sz="4400" dirty="0">
              <a:solidFill>
                <a:srgbClr val="000000"/>
              </a:solidFill>
              <a:latin typeface="Courier New" panose="02070309020205020404" pitchFamily="49" charset="0"/>
            </a:endParaRPr>
          </a:p>
        </p:txBody>
      </p:sp>
      <p:sp>
        <p:nvSpPr>
          <p:cNvPr id="16" name="TextBox 15">
            <a:extLst>
              <a:ext uri="{FF2B5EF4-FFF2-40B4-BE49-F238E27FC236}">
                <a16:creationId xmlns:a16="http://schemas.microsoft.com/office/drawing/2014/main" id="{DF9636B7-948E-2315-AF58-3C6BCB763063}"/>
              </a:ext>
            </a:extLst>
          </p:cNvPr>
          <p:cNvSpPr txBox="1"/>
          <p:nvPr/>
        </p:nvSpPr>
        <p:spPr>
          <a:xfrm>
            <a:off x="7090611" y="6147141"/>
            <a:ext cx="2342149" cy="769441"/>
          </a:xfrm>
          <a:prstGeom prst="rect">
            <a:avLst/>
          </a:prstGeom>
          <a:noFill/>
        </p:spPr>
        <p:txBody>
          <a:bodyPr wrap="square">
            <a:spAutoFit/>
          </a:bodyPr>
          <a:lstStyle/>
          <a:p>
            <a:r>
              <a:rPr lang="en-US" sz="4400" b="1" dirty="0">
                <a:solidFill>
                  <a:srgbClr val="004C7F"/>
                </a:solidFill>
                <a:effectLst/>
                <a:latin typeface="Helvetica Neue" panose="02000503000000020004" pitchFamily="2" charset="0"/>
                <a:ea typeface="Helvetica Neue" panose="02000503000000020004" pitchFamily="2" charset="0"/>
                <a:cs typeface="Helvetica Neue" panose="02000503000000020004" pitchFamily="2" charset="0"/>
              </a:rPr>
              <a:t>(=</a:t>
            </a:r>
            <a:r>
              <a:rPr lang="en-US" sz="44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720)</a:t>
            </a:r>
          </a:p>
        </p:txBody>
      </p:sp>
      <p:sp>
        <p:nvSpPr>
          <p:cNvPr id="555" name="Google Shape;555;p72"/>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15</a:t>
            </a:fld>
            <a:endParaRPr>
              <a:solidFill>
                <a:schemeClr val="accent1"/>
              </a:solidFill>
              <a:latin typeface="Lato"/>
              <a:ea typeface="Lato"/>
              <a:cs typeface="Lato"/>
              <a:sym typeface="Lato"/>
            </a:endParaRPr>
          </a:p>
        </p:txBody>
      </p:sp>
      <p:sp>
        <p:nvSpPr>
          <p:cNvPr id="2" name="Google Shape;412;p56">
            <a:extLst>
              <a:ext uri="{FF2B5EF4-FFF2-40B4-BE49-F238E27FC236}">
                <a16:creationId xmlns:a16="http://schemas.microsoft.com/office/drawing/2014/main" id="{F81861FD-DBDB-5FB7-3535-716614487707}"/>
              </a:ext>
            </a:extLst>
          </p:cNvPr>
          <p:cNvSpPr txBox="1">
            <a:spLocks/>
          </p:cNvSpPr>
          <p:nvPr/>
        </p:nvSpPr>
        <p:spPr>
          <a:xfrm>
            <a:off x="298453" y="249400"/>
            <a:ext cx="20503200" cy="1468069"/>
          </a:xfrm>
          <a:prstGeom prst="rect">
            <a:avLst/>
          </a:prstGeom>
        </p:spPr>
        <p:txBody>
          <a:bodyPr spcFirstLastPara="1" vert="horz" wrap="square" lIns="243800" tIns="243800" rIns="243800" bIns="243800" rtlCol="0" anchor="t" anchorCtr="0">
            <a:no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Function defining</a:t>
            </a:r>
          </a:p>
          <a:p>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Google Shape;412;p56">
            <a:extLst>
              <a:ext uri="{FF2B5EF4-FFF2-40B4-BE49-F238E27FC236}">
                <a16:creationId xmlns:a16="http://schemas.microsoft.com/office/drawing/2014/main" id="{370DE068-D627-73F7-E8EC-46C9AFAD1686}"/>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Default</a:t>
            </a:r>
          </a:p>
        </p:txBody>
      </p:sp>
      <p:sp>
        <p:nvSpPr>
          <p:cNvPr id="4" name="TextBox 3">
            <a:extLst>
              <a:ext uri="{FF2B5EF4-FFF2-40B4-BE49-F238E27FC236}">
                <a16:creationId xmlns:a16="http://schemas.microsoft.com/office/drawing/2014/main" id="{EA9AACEA-904C-838F-31B9-328169F839E4}"/>
              </a:ext>
            </a:extLst>
          </p:cNvPr>
          <p:cNvSpPr txBox="1"/>
          <p:nvPr/>
        </p:nvSpPr>
        <p:spPr>
          <a:xfrm>
            <a:off x="2791327" y="7248595"/>
            <a:ext cx="12192000" cy="1446550"/>
          </a:xfrm>
          <a:prstGeom prst="rect">
            <a:avLst/>
          </a:prstGeom>
          <a:noFill/>
        </p:spPr>
        <p:txBody>
          <a:bodyPr wrap="square">
            <a:spAutoFit/>
          </a:bodyPr>
          <a:lstStyle/>
          <a:p>
            <a:r>
              <a:rPr lang="en-US" sz="4400" b="0" dirty="0">
                <a:solidFill>
                  <a:srgbClr val="008000"/>
                </a:solidFill>
                <a:effectLst/>
                <a:latin typeface="Courier New" panose="02070309020205020404" pitchFamily="49" charset="0"/>
              </a:rPr>
              <a:t># some code later</a:t>
            </a:r>
            <a:endParaRPr lang="en-US" sz="4400" b="0" dirty="0">
              <a:solidFill>
                <a:srgbClr val="000000"/>
              </a:solidFill>
              <a:effectLst/>
              <a:latin typeface="Courier New" panose="02070309020205020404" pitchFamily="49" charset="0"/>
            </a:endParaRPr>
          </a:p>
          <a:p>
            <a:r>
              <a:rPr lang="en-US" sz="4400" b="0" dirty="0">
                <a:solidFill>
                  <a:srgbClr val="000000"/>
                </a:solidFill>
                <a:effectLst/>
                <a:latin typeface="Courier New" panose="02070309020205020404" pitchFamily="49" charset="0"/>
              </a:rPr>
              <a:t>factorial()</a:t>
            </a:r>
          </a:p>
        </p:txBody>
      </p:sp>
      <p:sp>
        <p:nvSpPr>
          <p:cNvPr id="17" name="TextBox 16">
            <a:extLst>
              <a:ext uri="{FF2B5EF4-FFF2-40B4-BE49-F238E27FC236}">
                <a16:creationId xmlns:a16="http://schemas.microsoft.com/office/drawing/2014/main" id="{325A1C2A-F433-C3E6-E32F-6507AED37A5F}"/>
              </a:ext>
            </a:extLst>
          </p:cNvPr>
          <p:cNvSpPr txBox="1"/>
          <p:nvPr/>
        </p:nvSpPr>
        <p:spPr>
          <a:xfrm>
            <a:off x="7591139" y="6147140"/>
            <a:ext cx="1286955" cy="769441"/>
          </a:xfrm>
          <a:prstGeom prst="rect">
            <a:avLst/>
          </a:prstGeom>
          <a:noFill/>
        </p:spPr>
        <p:txBody>
          <a:bodyPr wrap="square">
            <a:spAutoFit/>
          </a:bodyPr>
          <a:lstStyle/>
          <a:p>
            <a:r>
              <a:rPr lang="en-US" sz="44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720</a:t>
            </a:r>
          </a:p>
        </p:txBody>
      </p:sp>
      <p:cxnSp>
        <p:nvCxnSpPr>
          <p:cNvPr id="19" name="Straight Arrow Connector 18">
            <a:extLst>
              <a:ext uri="{FF2B5EF4-FFF2-40B4-BE49-F238E27FC236}">
                <a16:creationId xmlns:a16="http://schemas.microsoft.com/office/drawing/2014/main" id="{2D366A7F-3C27-01B5-6F01-30E5A96225DB}"/>
              </a:ext>
            </a:extLst>
          </p:cNvPr>
          <p:cNvCxnSpPr/>
          <p:nvPr/>
        </p:nvCxnSpPr>
        <p:spPr>
          <a:xfrm>
            <a:off x="6753723" y="8309810"/>
            <a:ext cx="1419604" cy="0"/>
          </a:xfrm>
          <a:prstGeom prst="straightConnector1">
            <a:avLst/>
          </a:prstGeom>
          <a:ln w="76200">
            <a:solidFill>
              <a:srgbClr val="EF7001"/>
            </a:solidFill>
            <a:tailEnd type="triangl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5408CDC5-9FFD-269A-F809-754D18AAA21D}"/>
              </a:ext>
            </a:extLst>
          </p:cNvPr>
          <p:cNvGrpSpPr/>
          <p:nvPr/>
        </p:nvGrpSpPr>
        <p:grpSpPr>
          <a:xfrm>
            <a:off x="7887399" y="1098316"/>
            <a:ext cx="4398042" cy="1735797"/>
            <a:chOff x="11008340" y="2575652"/>
            <a:chExt cx="4398042" cy="1735797"/>
          </a:xfrm>
        </p:grpSpPr>
        <p:sp>
          <p:nvSpPr>
            <p:cNvPr id="8" name="that’s a lot of features!">
              <a:extLst>
                <a:ext uri="{FF2B5EF4-FFF2-40B4-BE49-F238E27FC236}">
                  <a16:creationId xmlns:a16="http://schemas.microsoft.com/office/drawing/2014/main" id="{98A2ED55-1D81-3EE5-9598-4DE6561EFD08}"/>
                </a:ext>
              </a:extLst>
            </p:cNvPr>
            <p:cNvSpPr txBox="1"/>
            <p:nvPr/>
          </p:nvSpPr>
          <p:spPr>
            <a:xfrm>
              <a:off x="11008340" y="2575652"/>
              <a:ext cx="4398042"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4000" b="1">
                  <a:solidFill>
                    <a:schemeClr val="accent4">
                      <a:hueOff val="-1247790"/>
                      <a:lumOff val="-12326"/>
                    </a:schemeClr>
                  </a:solidFill>
                </a:defRPr>
              </a:lvl1pPr>
            </a:lstStyle>
            <a:p>
              <a:r>
                <a:rPr lang="en-US" dirty="0">
                  <a:solidFill>
                    <a:srgbClr val="EF7001"/>
                  </a:solidFill>
                </a:rPr>
                <a:t>Assumes default</a:t>
              </a:r>
              <a:endParaRPr dirty="0">
                <a:solidFill>
                  <a:srgbClr val="EF7001"/>
                </a:solidFill>
              </a:endParaRPr>
            </a:p>
          </p:txBody>
        </p:sp>
        <p:pic>
          <p:nvPicPr>
            <p:cNvPr id="9" name="Line Line" descr="Line Line">
              <a:extLst>
                <a:ext uri="{FF2B5EF4-FFF2-40B4-BE49-F238E27FC236}">
                  <a16:creationId xmlns:a16="http://schemas.microsoft.com/office/drawing/2014/main" id="{7AB34B4D-F7F1-DDDE-0FCE-9FF9960DD298}"/>
                </a:ext>
              </a:extLst>
            </p:cNvPr>
            <p:cNvPicPr>
              <a:picLocks/>
            </p:cNvPicPr>
            <p:nvPr/>
          </p:nvPicPr>
          <p:blipFill>
            <a:blip r:embed="rId3"/>
            <a:stretch>
              <a:fillRect/>
            </a:stretch>
          </p:blipFill>
          <p:spPr>
            <a:xfrm rot="6998290">
              <a:off x="10953217" y="3566822"/>
              <a:ext cx="997180" cy="492074"/>
            </a:xfrm>
            <a:prstGeom prst="rect">
              <a:avLst/>
            </a:prstGeom>
          </p:spPr>
        </p:pic>
      </p:grpSp>
    </p:spTree>
    <p:extLst>
      <p:ext uri="{BB962C8B-B14F-4D97-AF65-F5344CB8AC3E}">
        <p14:creationId xmlns:p14="http://schemas.microsoft.com/office/powerpoint/2010/main" val="15117160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16"/>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par>
                          <p:cTn id="16" fill="hold">
                            <p:stCondLst>
                              <p:cond delay="2000"/>
                            </p:stCondLst>
                            <p:childTnLst>
                              <p:par>
                                <p:cTn id="17" presetID="42" presetClass="path" presetSubtype="0" accel="50000" decel="50000" fill="hold" grpId="1" nodeType="afterEffect">
                                  <p:stCondLst>
                                    <p:cond delay="1000"/>
                                  </p:stCondLst>
                                  <p:childTnLst>
                                    <p:animMotion origin="layout" path="M -1.34748E-6 2.59259E-6 L 0.036 0.12974 " pathEditMode="relative" rAng="0" ptsTypes="AA">
                                      <p:cBhvr>
                                        <p:cTn id="18" dur="1000" fill="hold"/>
                                        <p:tgtEl>
                                          <p:spTgt spid="17"/>
                                        </p:tgtEl>
                                        <p:attrNameLst>
                                          <p:attrName>ppt_x</p:attrName>
                                          <p:attrName>ppt_y</p:attrName>
                                        </p:attrNameLst>
                                      </p:cBhvr>
                                      <p:rCtr x="1797" y="6481"/>
                                    </p:animMotion>
                                  </p:childTnLst>
                                </p:cTn>
                              </p:par>
                            </p:childTnLst>
                          </p:cTn>
                        </p:par>
                        <p:par>
                          <p:cTn id="19" fill="hold">
                            <p:stCondLst>
                              <p:cond delay="4000"/>
                            </p:stCondLst>
                            <p:childTnLst>
                              <p:par>
                                <p:cTn id="20" presetID="1" presetClass="entr" presetSubtype="0" fill="hold" nodeType="after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 grpId="0"/>
      <p:bldP spid="17" grpId="0"/>
      <p:bldP spid="17" grpId="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 2013 - 2022</Template>
  <TotalTime>911</TotalTime>
  <Words>587</Words>
  <Application>Microsoft Macintosh PowerPoint</Application>
  <PresentationFormat>Custom</PresentationFormat>
  <Paragraphs>113</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Calibri</vt:lpstr>
      <vt:lpstr>Courier New</vt:lpstr>
      <vt:lpstr>Helvetica Neue</vt:lpstr>
      <vt:lpstr>Calibri Light</vt:lpstr>
      <vt:lpstr>Arial</vt:lpstr>
      <vt:lpstr>Lato</vt:lpstr>
      <vt:lpstr>Office Theme</vt:lpstr>
      <vt:lpstr>PowerPoint Presentation</vt:lpstr>
      <vt:lpstr>Lecture Outline</vt:lpstr>
      <vt:lpstr>What is a function? </vt:lpstr>
      <vt:lpstr>What is a function?  </vt:lpstr>
      <vt:lpstr>Lecture Outline</vt:lpstr>
      <vt:lpstr>Built-ins</vt:lpstr>
      <vt:lpstr>Lecture Outline</vt:lpstr>
      <vt:lpstr>PowerPoint Presentation</vt:lpstr>
      <vt:lpstr>PowerPoint Presentation</vt:lpstr>
      <vt:lpstr>Lecture Outline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rensamuel.2007@gmail.com</cp:lastModifiedBy>
  <cp:revision>8</cp:revision>
  <dcterms:modified xsi:type="dcterms:W3CDTF">2023-07-08T06:23:36Z</dcterms:modified>
</cp:coreProperties>
</file>