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5" r:id="rId1"/>
  </p:sldMasterIdLst>
  <p:notesMasterIdLst>
    <p:notesMasterId r:id="rId60"/>
  </p:notesMasterIdLst>
  <p:sldIdLst>
    <p:sldId id="256" r:id="rId2"/>
    <p:sldId id="297" r:id="rId3"/>
    <p:sldId id="373" r:id="rId4"/>
    <p:sldId id="374" r:id="rId5"/>
    <p:sldId id="298" r:id="rId6"/>
    <p:sldId id="301" r:id="rId7"/>
    <p:sldId id="302" r:id="rId8"/>
    <p:sldId id="303" r:id="rId9"/>
    <p:sldId id="375" r:id="rId10"/>
    <p:sldId id="304" r:id="rId11"/>
    <p:sldId id="337" r:id="rId12"/>
    <p:sldId id="338" r:id="rId13"/>
    <p:sldId id="339" r:id="rId14"/>
    <p:sldId id="340" r:id="rId15"/>
    <p:sldId id="341" r:id="rId16"/>
    <p:sldId id="342" r:id="rId17"/>
    <p:sldId id="343" r:id="rId18"/>
    <p:sldId id="344" r:id="rId19"/>
    <p:sldId id="345" r:id="rId20"/>
    <p:sldId id="346" r:id="rId21"/>
    <p:sldId id="347" r:id="rId22"/>
    <p:sldId id="348" r:id="rId23"/>
    <p:sldId id="349" r:id="rId24"/>
    <p:sldId id="350" r:id="rId25"/>
    <p:sldId id="351" r:id="rId26"/>
    <p:sldId id="352" r:id="rId27"/>
    <p:sldId id="354" r:id="rId28"/>
    <p:sldId id="355" r:id="rId29"/>
    <p:sldId id="356" r:id="rId30"/>
    <p:sldId id="357" r:id="rId31"/>
    <p:sldId id="376" r:id="rId32"/>
    <p:sldId id="306" r:id="rId33"/>
    <p:sldId id="358" r:id="rId34"/>
    <p:sldId id="377" r:id="rId35"/>
    <p:sldId id="378" r:id="rId36"/>
    <p:sldId id="363" r:id="rId37"/>
    <p:sldId id="364" r:id="rId38"/>
    <p:sldId id="365" r:id="rId39"/>
    <p:sldId id="366" r:id="rId40"/>
    <p:sldId id="379" r:id="rId41"/>
    <p:sldId id="360" r:id="rId42"/>
    <p:sldId id="361" r:id="rId43"/>
    <p:sldId id="368" r:id="rId44"/>
    <p:sldId id="369" r:id="rId45"/>
    <p:sldId id="370" r:id="rId46"/>
    <p:sldId id="323" r:id="rId47"/>
    <p:sldId id="324" r:id="rId48"/>
    <p:sldId id="322" r:id="rId49"/>
    <p:sldId id="325" r:id="rId50"/>
    <p:sldId id="314" r:id="rId51"/>
    <p:sldId id="326" r:id="rId52"/>
    <p:sldId id="327" r:id="rId53"/>
    <p:sldId id="328" r:id="rId54"/>
    <p:sldId id="329" r:id="rId55"/>
    <p:sldId id="330" r:id="rId56"/>
    <p:sldId id="371" r:id="rId57"/>
    <p:sldId id="372" r:id="rId58"/>
    <p:sldId id="367" r:id="rId59"/>
  </p:sldIdLst>
  <p:sldSz cx="24387175" cy="13716000"/>
  <p:notesSz cx="6858000" cy="9144000"/>
  <p:embeddedFontLst>
    <p:embeddedFont>
      <p:font typeface="Lato" panose="020F0502020204030203" pitchFamily="34" charset="0"/>
      <p:regular r:id="rId61"/>
      <p:bold r:id="rId62"/>
      <p:italic r:id="rId63"/>
      <p:boldItalic r:id="rId6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20" userDrawn="1">
          <p15:clr>
            <a:srgbClr val="A4A3A4"/>
          </p15:clr>
        </p15:guide>
        <p15:guide id="2" pos="7681"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iaming Situ"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F7001"/>
    <a:srgbClr val="004C7F"/>
    <a:srgbClr val="006B64"/>
    <a:srgbClr val="795E2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E4E0612-D268-425B-B802-00A6AB32C0B4}">
  <a:tblStyle styleId="{0E4E0612-D268-425B-B802-00A6AB32C0B4}"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3"/>
              </a:solidFill>
              <a:prstDash val="solid"/>
              <a:round/>
              <a:headEnd type="none" w="sm" len="sm"/>
              <a:tailEnd type="none" w="sm" len="sm"/>
            </a:ln>
          </a:top>
          <a:bottom>
            <a:ln w="12700"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20000"/>
            </a:schemeClr>
          </a:solidFill>
        </a:fill>
      </a:tcStyle>
    </a:band1H>
    <a:band2H>
      <a:tcTxStyle/>
      <a:tcStyle>
        <a:tcBdr/>
      </a:tcStyle>
    </a:band2H>
    <a:band1V>
      <a:tcTxStyle/>
      <a:tcStyle>
        <a:tcBdr/>
        <a:fill>
          <a:solidFill>
            <a:schemeClr val="accent3">
              <a:alpha val="20000"/>
            </a:schemeClr>
          </a:solidFill>
        </a:fill>
      </a:tcStyle>
    </a:band1V>
    <a:band2V>
      <a:tcTxStyle/>
      <a:tcStyle>
        <a:tcBdr/>
      </a:tcStyle>
    </a:band2V>
    <a:lastCol>
      <a:tcTxStyle b="on" i="off"/>
      <a:tcStyle>
        <a:tcBdr/>
      </a:tcStyle>
    </a:lastCol>
    <a:firstCol>
      <a:tcTxStyle b="on" i="off"/>
      <a:tcStyle>
        <a:tcBdr/>
      </a:tcStyle>
    </a:firstCol>
    <a:lastRow>
      <a:tcTxStyle b="on" i="off"/>
      <a:tcStyle>
        <a:tcBdr>
          <a:top>
            <a:ln w="12700" cap="flat" cmpd="sng">
              <a:solidFill>
                <a:schemeClr val="accent3"/>
              </a:solidFill>
              <a:prstDash val="solid"/>
              <a:round/>
              <a:headEnd type="none" w="sm" len="sm"/>
              <a:tailEnd type="none" w="sm" len="sm"/>
            </a:ln>
          </a:top>
        </a:tcBdr>
        <a:fill>
          <a:solidFill>
            <a:srgbClr val="FFFFFF">
              <a:alpha val="0"/>
            </a:srgbClr>
          </a:solidFill>
        </a:fill>
      </a:tcStyle>
    </a:lastRow>
    <a:seCell>
      <a:tcTxStyle/>
      <a:tcStyle>
        <a:tcBdr/>
      </a:tcStyle>
    </a:seCell>
    <a:swCell>
      <a:tcTxStyle/>
      <a:tcStyle>
        <a:tcBdr/>
      </a:tcStyle>
    </a:swCell>
    <a:firstRow>
      <a:tcTxStyle b="on" i="off"/>
      <a:tcStyle>
        <a:tcBdr>
          <a:bottom>
            <a:ln w="12700" cap="flat" cmpd="sng">
              <a:solidFill>
                <a:schemeClr val="accent3"/>
              </a:solidFill>
              <a:prstDash val="solid"/>
              <a:round/>
              <a:headEnd type="none" w="sm" len="sm"/>
              <a:tailEnd type="none" w="sm" len="sm"/>
            </a:ln>
          </a:bottom>
        </a:tcBdr>
        <a:fill>
          <a:solidFill>
            <a:srgbClr val="FFFFFF">
              <a:alpha val="0"/>
            </a:srgbClr>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558"/>
    <p:restoredTop sz="70348"/>
  </p:normalViewPr>
  <p:slideViewPr>
    <p:cSldViewPr snapToGrid="0">
      <p:cViewPr varScale="1">
        <p:scale>
          <a:sx n="39" d="100"/>
          <a:sy n="39" d="100"/>
        </p:scale>
        <p:origin x="2432" y="176"/>
      </p:cViewPr>
      <p:guideLst>
        <p:guide orient="horz" pos="4320"/>
        <p:guide pos="768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3.fntdata"/><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4.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3734"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22ec44096ab_1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2ec44096ab_1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dirty="0"/>
              <a:t>Hello everybody! Welcome back to lecture 2. (click)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25742e2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25742e274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 this lecture, we will be covering two main things: input and output, and list manipulation. Don’t think you got off easy yet with just these two topics, as these are some quite complicated and tough topics. Let’s dive on 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C2C04F2C-81FB-7EF1-C7E1-291680B45F14}"/>
            </a:ext>
          </a:extLst>
        </p:cNvPr>
        <p:cNvGrpSpPr/>
        <p:nvPr/>
      </p:nvGrpSpPr>
      <p:grpSpPr>
        <a:xfrm>
          <a:off x="0" y="0"/>
          <a:ext cx="0" cy="0"/>
          <a:chOff x="0" y="0"/>
          <a:chExt cx="0" cy="0"/>
        </a:xfrm>
      </p:grpSpPr>
      <p:sp>
        <p:nvSpPr>
          <p:cNvPr id="427" name="Google Shape;427;g25742e2745f_0_12:notes">
            <a:extLst>
              <a:ext uri="{FF2B5EF4-FFF2-40B4-BE49-F238E27FC236}">
                <a16:creationId xmlns:a16="http://schemas.microsoft.com/office/drawing/2014/main" id="{E93E60DF-987E-B193-480F-949ABEFB77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25742e2745f_0_12:notes">
            <a:extLst>
              <a:ext uri="{FF2B5EF4-FFF2-40B4-BE49-F238E27FC236}">
                <a16:creationId xmlns:a16="http://schemas.microsoft.com/office/drawing/2014/main" id="{142AA0B2-3432-2BAE-91B9-BCD9AA5612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Last lecture we learned about variables, which is a value stored in a name. If we want to know about which value is currently stored in that variable, we can use `print` to output it to </a:t>
            </a:r>
            <a:r>
              <a:rPr lang="en-US" dirty="0"/>
              <a:t>what’s called the “console.” The console is basically a bridge between our code and the user. This is the simplest way to access information currently in our code.</a:t>
            </a:r>
            <a:endParaRPr dirty="0"/>
          </a:p>
        </p:txBody>
      </p:sp>
    </p:spTree>
    <p:extLst>
      <p:ext uri="{BB962C8B-B14F-4D97-AF65-F5344CB8AC3E}">
        <p14:creationId xmlns:p14="http://schemas.microsoft.com/office/powerpoint/2010/main" val="3864054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472C26D-35D8-9E19-29FD-8304E42F4D45}"/>
            </a:ext>
          </a:extLst>
        </p:cNvPr>
        <p:cNvGrpSpPr/>
        <p:nvPr/>
      </p:nvGrpSpPr>
      <p:grpSpPr>
        <a:xfrm>
          <a:off x="0" y="0"/>
          <a:ext cx="0" cy="0"/>
          <a:chOff x="0" y="0"/>
          <a:chExt cx="0" cy="0"/>
        </a:xfrm>
      </p:grpSpPr>
      <p:sp>
        <p:nvSpPr>
          <p:cNvPr id="427" name="Google Shape;427;g25742e2745f_0_12:notes">
            <a:extLst>
              <a:ext uri="{FF2B5EF4-FFF2-40B4-BE49-F238E27FC236}">
                <a16:creationId xmlns:a16="http://schemas.microsoft.com/office/drawing/2014/main" id="{2663D03C-E63C-AE24-5733-64C48E5EA6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25742e2745f_0_12:notes">
            <a:extLst>
              <a:ext uri="{FF2B5EF4-FFF2-40B4-BE49-F238E27FC236}">
                <a16:creationId xmlns:a16="http://schemas.microsoft.com/office/drawing/2014/main" id="{968CF8E5-16D9-4DB9-0EFC-6F3F5E75AE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Similarly, if we want gather information from a user, we can use the `input`, which will collect information from via the console. </a:t>
            </a:r>
            <a:br>
              <a:rPr lang="en-US" dirty="0"/>
            </a:br>
            <a:r>
              <a:rPr lang="en-US" dirty="0"/>
              <a:t>Demo</a:t>
            </a:r>
            <a:br>
              <a:rPr lang="en-US" dirty="0"/>
            </a:br>
            <a:r>
              <a:rPr lang="en-US" dirty="0"/>
              <a:t>However, if we need a lot of information to input or output, for example we have millions of data that we’d like to process, and then output the results, doing this manually via the console be would not be feasible</a:t>
            </a:r>
            <a:endParaRPr dirty="0"/>
          </a:p>
        </p:txBody>
      </p:sp>
    </p:spTree>
    <p:extLst>
      <p:ext uri="{BB962C8B-B14F-4D97-AF65-F5344CB8AC3E}">
        <p14:creationId xmlns:p14="http://schemas.microsoft.com/office/powerpoint/2010/main" val="3925547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25742e2745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25742e2745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we can take input from what’s called the “console.” On Google </a:t>
            </a:r>
            <a:r>
              <a:rPr lang="en-US" dirty="0" err="1"/>
              <a:t>Colab</a:t>
            </a:r>
            <a:r>
              <a:rPr lang="en-US" dirty="0"/>
              <a:t>, the console is right below a cell where code runs, with this type of input being taken there. However, the location of the console is different for each environment, so just be aware of that. Let’s go over to Google </a:t>
            </a:r>
            <a:r>
              <a:rPr lang="en-US" dirty="0" err="1"/>
              <a:t>Colab</a:t>
            </a:r>
            <a:r>
              <a:rPr lang="en-US" dirty="0"/>
              <a:t> to test this out! (stretch boundary so that </a:t>
            </a:r>
            <a:r>
              <a:rPr lang="en-US" dirty="0" err="1"/>
              <a:t>Colab</a:t>
            </a:r>
            <a:r>
              <a:rPr lang="en-US" dirty="0"/>
              <a:t> is larger) (demonstrate over in </a:t>
            </a:r>
            <a:r>
              <a:rPr lang="en-US" dirty="0" err="1"/>
              <a:t>Colab</a:t>
            </a:r>
            <a:r>
              <a:rPr lang="en-US" dirty="0"/>
              <a:t>) Now, we don’t always want to be inputting like this into our code. Imagine doing that for thousands or even millions of numbers. Even with copying and pasting, that would be quite tedious. So how should we do this? Well, we can use python to read from a file. (click) Now we would want to use files because they’re commonly how data is stored. For example, you might want to get data from an xlsx spreadsheet for your code. In Python, we read from a file using the (click) “open” function. You also need to declare which mode you want to access the file in, which in this case, is (click) read mode. What the “file” refers to here is the path to the file, and we’ll get into that in a moment. There are several ways to read out of the </a:t>
            </a:r>
            <a:r>
              <a:rPr lang="en-US" dirty="0" err="1"/>
              <a:t>fileFirst</a:t>
            </a:r>
            <a:r>
              <a:rPr lang="en-US" dirty="0"/>
              <a:t>, we can use the (click) read function. This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12f7bb1be36_0_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12f7bb1be36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12f7bb1be36_0_6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7" name="Google Shape;457;g12f7bb1be36_0_6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Clarify that slices work through the ENTIRE array subsection </a:t>
            </a:r>
            <a:endParaRPr/>
          </a:p>
          <a:p>
            <a:pPr marL="0" lvl="0" indent="0" algn="l" rtl="0">
              <a:spcBef>
                <a:spcPts val="0"/>
              </a:spcBef>
              <a:spcAft>
                <a:spcPts val="0"/>
              </a:spcAft>
              <a:buNone/>
            </a:pPr>
            <a:r>
              <a:rPr lang="en"/>
              <a:t>Mention that it works with strings too</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7"/>
        <p:cNvGrpSpPr/>
        <p:nvPr/>
      </p:nvGrpSpPr>
      <p:grpSpPr>
        <a:xfrm>
          <a:off x="0" y="0"/>
          <a:ext cx="0" cy="0"/>
          <a:chOff x="0" y="0"/>
          <a:chExt cx="0" cy="0"/>
        </a:xfrm>
      </p:grpSpPr>
      <p:sp>
        <p:nvSpPr>
          <p:cNvPr id="478" name="Google Shape;478;g223e6376945_2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9" name="Google Shape;479;g223e6376945_2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a:extLst>
            <a:ext uri="{FF2B5EF4-FFF2-40B4-BE49-F238E27FC236}">
              <a16:creationId xmlns:a16="http://schemas.microsoft.com/office/drawing/2014/main" id="{6D347270-B4DE-CD6D-697D-600B43D29B21}"/>
            </a:ext>
          </a:extLst>
        </p:cNvPr>
        <p:cNvGrpSpPr/>
        <p:nvPr/>
      </p:nvGrpSpPr>
      <p:grpSpPr>
        <a:xfrm>
          <a:off x="0" y="0"/>
          <a:ext cx="0" cy="0"/>
          <a:chOff x="0" y="0"/>
          <a:chExt cx="0" cy="0"/>
        </a:xfrm>
      </p:grpSpPr>
      <p:sp>
        <p:nvSpPr>
          <p:cNvPr id="448" name="Google Shape;448;g12f7bb1be36_0_152:notes">
            <a:extLst>
              <a:ext uri="{FF2B5EF4-FFF2-40B4-BE49-F238E27FC236}">
                <a16:creationId xmlns:a16="http://schemas.microsoft.com/office/drawing/2014/main" id="{B6A737A6-2662-E6ED-73DA-EADF3D3DD8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12f7bb1be36_0_152:notes">
            <a:extLst>
              <a:ext uri="{FF2B5EF4-FFF2-40B4-BE49-F238E27FC236}">
                <a16:creationId xmlns:a16="http://schemas.microsoft.com/office/drawing/2014/main" id="{F862EB7D-9D86-86F9-8F4C-38EB0D3F3D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13289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Switch over to Colab to demonstrate code reading</a:t>
            </a:r>
            <a:endParaRPr/>
          </a:p>
          <a:p>
            <a:pPr marL="0" lvl="0" indent="0" algn="l" rtl="0">
              <a:spcBef>
                <a:spcPts val="0"/>
              </a:spcBef>
              <a:spcAft>
                <a:spcPts val="0"/>
              </a:spcAft>
              <a:buNone/>
            </a:pPr>
            <a:r>
              <a:rPr lang="en"/>
              <a:t>Mention no need to memorize these</a:t>
            </a:r>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330206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28904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1296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2121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06454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79986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65037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338660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49120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937656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533701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777014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899059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2108718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20250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165956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318902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799515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611299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12f7bb1be36_0_6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7" name="Google Shape;487;g12f7bb1be36_0_6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262980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a:extLst>
            <a:ext uri="{FF2B5EF4-FFF2-40B4-BE49-F238E27FC236}">
              <a16:creationId xmlns:a16="http://schemas.microsoft.com/office/drawing/2014/main" id="{D355ADA6-76E2-9C28-FA55-01652118E226}"/>
            </a:ext>
          </a:extLst>
        </p:cNvPr>
        <p:cNvGrpSpPr/>
        <p:nvPr/>
      </p:nvGrpSpPr>
      <p:grpSpPr>
        <a:xfrm>
          <a:off x="0" y="0"/>
          <a:ext cx="0" cy="0"/>
          <a:chOff x="0" y="0"/>
          <a:chExt cx="0" cy="0"/>
        </a:xfrm>
      </p:grpSpPr>
      <p:sp>
        <p:nvSpPr>
          <p:cNvPr id="448" name="Google Shape;448;g12f7bb1be36_0_152:notes">
            <a:extLst>
              <a:ext uri="{FF2B5EF4-FFF2-40B4-BE49-F238E27FC236}">
                <a16:creationId xmlns:a16="http://schemas.microsoft.com/office/drawing/2014/main" id="{A81BCBD1-4C33-00ED-844B-4E3B6E50F1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12f7bb1be36_0_152:notes">
            <a:extLst>
              <a:ext uri="{FF2B5EF4-FFF2-40B4-BE49-F238E27FC236}">
                <a16:creationId xmlns:a16="http://schemas.microsoft.com/office/drawing/2014/main" id="{0B973B6F-DC98-7613-82BA-72E43A7569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74797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 even cleaner code that uses less lines, you can consider using list comprehension. Usually, you want to use them when you generate a new list based on an existing list, string, or range</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 even cleaner code that uses less lines, you can consider using list comprehension. Usually, you want to use them when you generate a new list based on an existing list, string, or range</a:t>
            </a:r>
            <a:endParaRPr/>
          </a:p>
        </p:txBody>
      </p:sp>
    </p:spTree>
    <p:extLst>
      <p:ext uri="{BB962C8B-B14F-4D97-AF65-F5344CB8AC3E}">
        <p14:creationId xmlns:p14="http://schemas.microsoft.com/office/powerpoint/2010/main" val="11547524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a:extLst>
            <a:ext uri="{FF2B5EF4-FFF2-40B4-BE49-F238E27FC236}">
              <a16:creationId xmlns:a16="http://schemas.microsoft.com/office/drawing/2014/main" id="{32FB7967-2880-2A94-D82F-6754C662235D}"/>
            </a:ext>
          </a:extLst>
        </p:cNvPr>
        <p:cNvGrpSpPr/>
        <p:nvPr/>
      </p:nvGrpSpPr>
      <p:grpSpPr>
        <a:xfrm>
          <a:off x="0" y="0"/>
          <a:ext cx="0" cy="0"/>
          <a:chOff x="0" y="0"/>
          <a:chExt cx="0" cy="0"/>
        </a:xfrm>
      </p:grpSpPr>
      <p:sp>
        <p:nvSpPr>
          <p:cNvPr id="499" name="Google Shape;499;g12f8f4948e5_0_0:notes">
            <a:extLst>
              <a:ext uri="{FF2B5EF4-FFF2-40B4-BE49-F238E27FC236}">
                <a16:creationId xmlns:a16="http://schemas.microsoft.com/office/drawing/2014/main" id="{4A0EAB0B-AF46-F4C4-14F8-9F08B027E7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a:extLst>
              <a:ext uri="{FF2B5EF4-FFF2-40B4-BE49-F238E27FC236}">
                <a16:creationId xmlns:a16="http://schemas.microsoft.com/office/drawing/2014/main" id="{04A33498-A96C-472E-E561-6C3A2A2955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For even cleaner code that uses less lines, you can consider using list comprehension. Usually, you want to use them when you generate a new list based on an existing list, string, or range</a:t>
            </a:r>
            <a:endParaRPr/>
          </a:p>
        </p:txBody>
      </p:sp>
    </p:spTree>
    <p:extLst>
      <p:ext uri="{BB962C8B-B14F-4D97-AF65-F5344CB8AC3E}">
        <p14:creationId xmlns:p14="http://schemas.microsoft.com/office/powerpoint/2010/main" val="7248312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a:extLst>
            <a:ext uri="{FF2B5EF4-FFF2-40B4-BE49-F238E27FC236}">
              <a16:creationId xmlns:a16="http://schemas.microsoft.com/office/drawing/2014/main" id="{BBE85EB0-9D58-6A5F-3ED8-673AAB2AF12E}"/>
            </a:ext>
          </a:extLst>
        </p:cNvPr>
        <p:cNvGrpSpPr/>
        <p:nvPr/>
      </p:nvGrpSpPr>
      <p:grpSpPr>
        <a:xfrm>
          <a:off x="0" y="0"/>
          <a:ext cx="0" cy="0"/>
          <a:chOff x="0" y="0"/>
          <a:chExt cx="0" cy="0"/>
        </a:xfrm>
      </p:grpSpPr>
      <p:sp>
        <p:nvSpPr>
          <p:cNvPr id="448" name="Google Shape;448;g12f7bb1be36_0_152:notes">
            <a:extLst>
              <a:ext uri="{FF2B5EF4-FFF2-40B4-BE49-F238E27FC236}">
                <a16:creationId xmlns:a16="http://schemas.microsoft.com/office/drawing/2014/main" id="{138DDE8B-4C42-FE3D-2991-BF23A66554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12f7bb1be36_0_152:notes">
            <a:extLst>
              <a:ext uri="{FF2B5EF4-FFF2-40B4-BE49-F238E27FC236}">
                <a16:creationId xmlns:a16="http://schemas.microsoft.com/office/drawing/2014/main" id="{C407B9E9-6A6C-1A54-BAB9-82ECC52246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80481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09929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759803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2493542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551352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a:extLst>
            <a:ext uri="{FF2B5EF4-FFF2-40B4-BE49-F238E27FC236}">
              <a16:creationId xmlns:a16="http://schemas.microsoft.com/office/drawing/2014/main" id="{52AEF3B3-712F-86ED-FF84-9F2B6A087025}"/>
            </a:ext>
          </a:extLst>
        </p:cNvPr>
        <p:cNvGrpSpPr/>
        <p:nvPr/>
      </p:nvGrpSpPr>
      <p:grpSpPr>
        <a:xfrm>
          <a:off x="0" y="0"/>
          <a:ext cx="0" cy="0"/>
          <a:chOff x="0" y="0"/>
          <a:chExt cx="0" cy="0"/>
        </a:xfrm>
      </p:grpSpPr>
      <p:sp>
        <p:nvSpPr>
          <p:cNvPr id="448" name="Google Shape;448;g12f7bb1be36_0_152:notes">
            <a:extLst>
              <a:ext uri="{FF2B5EF4-FFF2-40B4-BE49-F238E27FC236}">
                <a16:creationId xmlns:a16="http://schemas.microsoft.com/office/drawing/2014/main" id="{067C04CF-68EA-E1D6-2FA7-AFFD570174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12f7bb1be36_0_152:notes">
            <a:extLst>
              <a:ext uri="{FF2B5EF4-FFF2-40B4-BE49-F238E27FC236}">
                <a16:creationId xmlns:a16="http://schemas.microsoft.com/office/drawing/2014/main" id="{ACD97FF5-B34D-C2FB-A301-2B5B658C7D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09753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472828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8"/>
        <p:cNvGrpSpPr/>
        <p:nvPr/>
      </p:nvGrpSpPr>
      <p:grpSpPr>
        <a:xfrm>
          <a:off x="0" y="0"/>
          <a:ext cx="0" cy="0"/>
          <a:chOff x="0" y="0"/>
          <a:chExt cx="0" cy="0"/>
        </a:xfrm>
      </p:grpSpPr>
      <p:sp>
        <p:nvSpPr>
          <p:cNvPr id="499" name="Google Shape;499;g12f8f4948e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0" name="Google Shape;500;g12f8f4948e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766452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25742e2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25742e274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25742e2745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25742e2745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25742e2745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25742e2745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476527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25742e2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25742e274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6543487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g25742e2745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7" name="Google Shape;407;g25742e2745f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Standard input and output formats vary with compiler.</a:t>
            </a:r>
            <a:endParaRPr/>
          </a:p>
          <a:p>
            <a:pPr marL="0" lvl="0" indent="0" algn="l" rtl="0">
              <a:spcBef>
                <a:spcPts val="0"/>
              </a:spcBef>
              <a:spcAft>
                <a:spcPts val="0"/>
              </a:spcAft>
              <a:buNone/>
            </a:pPr>
            <a:r>
              <a:rPr lang="en"/>
              <a:t>Emphasize that you have to close file</a:t>
            </a:r>
            <a:endParaRPr/>
          </a:p>
        </p:txBody>
      </p:sp>
    </p:spTree>
    <p:extLst>
      <p:ext uri="{BB962C8B-B14F-4D97-AF65-F5344CB8AC3E}">
        <p14:creationId xmlns:p14="http://schemas.microsoft.com/office/powerpoint/2010/main" val="1884412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25742e2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25742e274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57479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28264041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25742e2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0" name="Google Shape;400;g25742e2745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19234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209011901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161650558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33157477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243597096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g135c8e6e33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1" name="Google Shape;551;g135c8e6e33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Importing is particularly important because we don’t want to reinvent the wheel. Other people have already heavily optimized and published modules and functions and we can build up from that foundation. The general syntax for importing is…</a:t>
            </a:r>
            <a:endParaRPr/>
          </a:p>
        </p:txBody>
      </p:sp>
    </p:spTree>
    <p:extLst>
      <p:ext uri="{BB962C8B-B14F-4D97-AF65-F5344CB8AC3E}">
        <p14:creationId xmlns:p14="http://schemas.microsoft.com/office/powerpoint/2010/main" val="152459057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4" name="Shape 1834"/>
          <p:cNvSpPr>
            <a:spLocks noGrp="1" noRot="1" noChangeAspect="1"/>
          </p:cNvSpPr>
          <p:nvPr>
            <p:ph type="sldImg"/>
          </p:nvPr>
        </p:nvSpPr>
        <p:spPr>
          <a:xfrm>
            <a:off x="381000" y="685800"/>
            <a:ext cx="6096000" cy="3429000"/>
          </a:xfrm>
          <a:prstGeom prst="rect">
            <a:avLst/>
          </a:prstGeom>
        </p:spPr>
        <p:txBody>
          <a:bodyPr/>
          <a:lstStyle/>
          <a:p>
            <a:endParaRPr/>
          </a:p>
        </p:txBody>
      </p:sp>
      <p:sp>
        <p:nvSpPr>
          <p:cNvPr id="1835" name="Shape 1835"/>
          <p:cNvSpPr>
            <a:spLocks noGrp="1"/>
          </p:cNvSpPr>
          <p:nvPr>
            <p:ph type="body" sz="quarter" idx="1"/>
          </p:nvPr>
        </p:nvSpPr>
        <p:spPr>
          <a:prstGeom prst="rect">
            <a:avLst/>
          </a:prstGeom>
        </p:spPr>
        <p:txBody>
          <a:bodyPr/>
          <a:lstStyle/>
          <a:p>
            <a:r>
              <a:t>Let’s get to the lab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US"/>
              <a:t>Click to edit Master title style</a:t>
            </a:r>
            <a:endParaRPr lang="en-US" dirty="0"/>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397D72F-E915-9846-8E67-29872E9CA90B}" type="datetimeFigureOut">
              <a:rPr lang="en-US" smtClean="0"/>
              <a:t>8/2/26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58777181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102020867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US"/>
              <a:t>Click to edit Master title style</a:t>
            </a:r>
            <a:endParaRPr lang="en-US" dirty="0"/>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97D72F-E915-9846-8E67-29872E9CA90B}" type="datetimeFigureOut">
              <a:rPr lang="en-US" smtClean="0"/>
              <a:t>8/2/26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5015292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676618" y="3651250"/>
            <a:ext cx="10364549"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346008" y="3651250"/>
            <a:ext cx="10364549"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397D72F-E915-9846-8E67-29872E9CA90B}" type="datetimeFigureOut">
              <a:rPr lang="en-US" smtClean="0"/>
              <a:t>8/2/26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3426277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US"/>
              <a:t>Click to edit Master title style</a:t>
            </a:r>
            <a:endParaRPr lang="en-US" dirty="0"/>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397D72F-E915-9846-8E67-29872E9CA90B}" type="datetimeFigureOut">
              <a:rPr lang="en-US" smtClean="0"/>
              <a:t>8/2/26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38286980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397D72F-E915-9846-8E67-29872E9CA90B}" type="datetimeFigureOut">
              <a:rPr lang="en-US" smtClean="0"/>
              <a:t>8/2/26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8090453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397D72F-E915-9846-8E67-29872E9CA90B}" type="datetimeFigureOut">
              <a:rPr lang="en-US" smtClean="0"/>
              <a:t>8/2/26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120442871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US"/>
              <a:t>Click to edit Master title style</a:t>
            </a:r>
            <a:endParaRPr lang="en-US" dirty="0"/>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E397D72F-E915-9846-8E67-29872E9CA90B}" type="datetimeFigureOut">
              <a:rPr lang="en-US" smtClean="0"/>
              <a:t>8/2/26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34730734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E397D72F-E915-9846-8E67-29872E9CA90B}" type="datetimeFigureOut">
              <a:rPr lang="en-US" smtClean="0"/>
              <a:t>8/2/26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9211998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397D72F-E915-9846-8E67-29872E9CA90B}" type="datetimeFigureOut">
              <a:rPr lang="en-US" smtClean="0"/>
              <a:t>8/2/26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117765485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397D72F-E915-9846-8E67-29872E9CA90B}" type="datetimeFigureOut">
              <a:rPr lang="en-US" smtClean="0"/>
              <a:t>8/2/26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smtClean="0"/>
              <a:pPr/>
              <a:t>‹#›</a:t>
            </a:fld>
            <a:endParaRPr lang="en"/>
          </a:p>
        </p:txBody>
      </p:sp>
    </p:spTree>
    <p:extLst>
      <p:ext uri="{BB962C8B-B14F-4D97-AF65-F5344CB8AC3E}">
        <p14:creationId xmlns:p14="http://schemas.microsoft.com/office/powerpoint/2010/main" val="406281081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3"/>
        <p:cNvGrpSpPr/>
        <p:nvPr/>
      </p:nvGrpSpPr>
      <p:grpSpPr>
        <a:xfrm>
          <a:off x="0" y="0"/>
          <a:ext cx="0" cy="0"/>
          <a:chOff x="0" y="0"/>
          <a:chExt cx="0" cy="0"/>
        </a:xfrm>
      </p:grpSpPr>
      <p:sp>
        <p:nvSpPr>
          <p:cNvPr id="28" name="Google Shape;28;p4"/>
          <p:cNvSpPr txBox="1">
            <a:spLocks noGrp="1"/>
          </p:cNvSpPr>
          <p:nvPr>
            <p:ph type="title"/>
          </p:nvPr>
        </p:nvSpPr>
        <p:spPr>
          <a:xfrm>
            <a:off x="1945453" y="3516400"/>
            <a:ext cx="20505870" cy="1427200"/>
          </a:xfrm>
          <a:prstGeom prst="rect">
            <a:avLst/>
          </a:prstGeom>
        </p:spPr>
        <p:txBody>
          <a:bodyPr spcFirstLastPara="1" wrap="square" lIns="91425" tIns="91425" rIns="91425" bIns="91425" anchor="t" anchorCtr="0">
            <a:normAutofit/>
          </a:bodyPr>
          <a:lstStyle>
            <a:lvl1pPr lvl="0" rtl="0">
              <a:spcBef>
                <a:spcPts val="0"/>
              </a:spcBef>
              <a:spcAft>
                <a:spcPts val="0"/>
              </a:spcAft>
              <a:buSzPts val="2600"/>
              <a:buNone/>
              <a:defRPr sz="6933"/>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endParaRPr/>
          </a:p>
        </p:txBody>
      </p:sp>
      <p:sp>
        <p:nvSpPr>
          <p:cNvPr id="29" name="Google Shape;29;p4"/>
          <p:cNvSpPr txBox="1">
            <a:spLocks noGrp="1"/>
          </p:cNvSpPr>
          <p:nvPr>
            <p:ph type="body" idx="1"/>
          </p:nvPr>
        </p:nvSpPr>
        <p:spPr>
          <a:xfrm>
            <a:off x="1945453" y="5543667"/>
            <a:ext cx="20505870" cy="6029600"/>
          </a:xfrm>
          <a:prstGeom prst="rect">
            <a:avLst/>
          </a:prstGeom>
        </p:spPr>
        <p:txBody>
          <a:bodyPr spcFirstLastPara="1" wrap="square" lIns="91425" tIns="91425" rIns="91425" bIns="91425" anchor="t" anchorCtr="0">
            <a:normAutofit/>
          </a:bodyPr>
          <a:lstStyle>
            <a:lvl1pPr marL="1219367" lvl="0" indent="-829848" rtl="0">
              <a:spcBef>
                <a:spcPts val="0"/>
              </a:spcBef>
              <a:spcAft>
                <a:spcPts val="0"/>
              </a:spcAft>
              <a:buSzPts val="1300"/>
              <a:buChar char="●"/>
              <a:defRPr/>
            </a:lvl1pPr>
            <a:lvl2pPr marL="2438734" lvl="1" indent="-795975" rtl="0">
              <a:spcBef>
                <a:spcPts val="0"/>
              </a:spcBef>
              <a:spcAft>
                <a:spcPts val="0"/>
              </a:spcAft>
              <a:buSzPts val="1100"/>
              <a:buChar char="○"/>
              <a:defRPr/>
            </a:lvl2pPr>
            <a:lvl3pPr marL="3658102" lvl="2" indent="-795975" rtl="0">
              <a:spcBef>
                <a:spcPts val="0"/>
              </a:spcBef>
              <a:spcAft>
                <a:spcPts val="0"/>
              </a:spcAft>
              <a:buSzPts val="1100"/>
              <a:buChar char="■"/>
              <a:defRPr/>
            </a:lvl3pPr>
            <a:lvl4pPr marL="4877472" lvl="3" indent="-795975" rtl="0">
              <a:spcBef>
                <a:spcPts val="0"/>
              </a:spcBef>
              <a:spcAft>
                <a:spcPts val="0"/>
              </a:spcAft>
              <a:buSzPts val="1100"/>
              <a:buChar char="●"/>
              <a:defRPr/>
            </a:lvl4pPr>
            <a:lvl5pPr marL="6096839" lvl="4" indent="-795975" rtl="0">
              <a:spcBef>
                <a:spcPts val="0"/>
              </a:spcBef>
              <a:spcAft>
                <a:spcPts val="0"/>
              </a:spcAft>
              <a:buSzPts val="1100"/>
              <a:buChar char="○"/>
              <a:defRPr/>
            </a:lvl5pPr>
            <a:lvl6pPr marL="7316206" lvl="5" indent="-795975" rtl="0">
              <a:spcBef>
                <a:spcPts val="0"/>
              </a:spcBef>
              <a:spcAft>
                <a:spcPts val="0"/>
              </a:spcAft>
              <a:buSzPts val="1100"/>
              <a:buChar char="■"/>
              <a:defRPr/>
            </a:lvl6pPr>
            <a:lvl7pPr marL="8535573" lvl="6" indent="-795975" rtl="0">
              <a:spcBef>
                <a:spcPts val="0"/>
              </a:spcBef>
              <a:spcAft>
                <a:spcPts val="0"/>
              </a:spcAft>
              <a:buSzPts val="1100"/>
              <a:buChar char="●"/>
              <a:defRPr/>
            </a:lvl7pPr>
            <a:lvl8pPr marL="9754941" lvl="7" indent="-795975" rtl="0">
              <a:spcBef>
                <a:spcPts val="0"/>
              </a:spcBef>
              <a:spcAft>
                <a:spcPts val="0"/>
              </a:spcAft>
              <a:buSzPts val="1100"/>
              <a:buChar char="○"/>
              <a:defRPr/>
            </a:lvl8pPr>
            <a:lvl9pPr marL="10974311" lvl="8" indent="-795975" rtl="0">
              <a:spcBef>
                <a:spcPts val="0"/>
              </a:spcBef>
              <a:spcAft>
                <a:spcPts val="0"/>
              </a:spcAft>
              <a:buSzPts val="1100"/>
              <a:buChar char="■"/>
              <a:defRPr/>
            </a:lvl9pPr>
          </a:lstStyle>
          <a:p>
            <a:endParaRPr/>
          </a:p>
        </p:txBody>
      </p:sp>
      <p:sp>
        <p:nvSpPr>
          <p:cNvPr id="30" name="Google Shape;30;p4"/>
          <p:cNvSpPr txBox="1">
            <a:spLocks noGrp="1"/>
          </p:cNvSpPr>
          <p:nvPr>
            <p:ph type="sldNum" idx="12"/>
          </p:nvPr>
        </p:nvSpPr>
        <p:spPr>
          <a:xfrm>
            <a:off x="22766436" y="12666269"/>
            <a:ext cx="1463391" cy="1049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84922992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7"/>
        <p:cNvGrpSpPr/>
        <p:nvPr/>
      </p:nvGrpSpPr>
      <p:grpSpPr>
        <a:xfrm>
          <a:off x="0" y="0"/>
          <a:ext cx="0" cy="0"/>
          <a:chOff x="0" y="0"/>
          <a:chExt cx="0" cy="0"/>
        </a:xfrm>
      </p:grpSpPr>
      <p:sp>
        <p:nvSpPr>
          <p:cNvPr id="52" name="Google Shape;52;p7"/>
          <p:cNvSpPr txBox="1">
            <a:spLocks noGrp="1"/>
          </p:cNvSpPr>
          <p:nvPr>
            <p:ph type="title"/>
          </p:nvPr>
        </p:nvSpPr>
        <p:spPr>
          <a:xfrm>
            <a:off x="1946920" y="3516400"/>
            <a:ext cx="8803546" cy="3684000"/>
          </a:xfrm>
          <a:prstGeom prst="rect">
            <a:avLst/>
          </a:prstGeom>
        </p:spPr>
        <p:txBody>
          <a:bodyPr spcFirstLastPara="1" wrap="square" lIns="91425" tIns="91425" rIns="91425" bIns="91425" anchor="t" anchorCtr="0">
            <a:normAutofit/>
          </a:bodyPr>
          <a:lstStyle>
            <a:lvl1pPr lvl="0" rtl="0">
              <a:spcBef>
                <a:spcPts val="0"/>
              </a:spcBef>
              <a:spcAft>
                <a:spcPts val="0"/>
              </a:spcAft>
              <a:buSzPts val="2600"/>
              <a:buNone/>
              <a:defRPr sz="6933"/>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endParaRPr/>
          </a:p>
        </p:txBody>
      </p:sp>
      <p:sp>
        <p:nvSpPr>
          <p:cNvPr id="53" name="Google Shape;53;p7"/>
          <p:cNvSpPr txBox="1">
            <a:spLocks noGrp="1"/>
          </p:cNvSpPr>
          <p:nvPr>
            <p:ph type="body" idx="1"/>
          </p:nvPr>
        </p:nvSpPr>
        <p:spPr>
          <a:xfrm>
            <a:off x="1923517" y="7417933"/>
            <a:ext cx="8803546" cy="4260000"/>
          </a:xfrm>
          <a:prstGeom prst="rect">
            <a:avLst/>
          </a:prstGeom>
        </p:spPr>
        <p:txBody>
          <a:bodyPr spcFirstLastPara="1" wrap="square" lIns="91425" tIns="91425" rIns="91425" bIns="91425" anchor="t" anchorCtr="0">
            <a:normAutofit/>
          </a:bodyPr>
          <a:lstStyle>
            <a:lvl1pPr marL="1219367" lvl="0" indent="-829848" rtl="0">
              <a:spcBef>
                <a:spcPts val="0"/>
              </a:spcBef>
              <a:spcAft>
                <a:spcPts val="0"/>
              </a:spcAft>
              <a:buSzPts val="1300"/>
              <a:buChar char="●"/>
              <a:defRPr/>
            </a:lvl1pPr>
            <a:lvl2pPr marL="2438734" lvl="1" indent="-795975" rtl="0">
              <a:spcBef>
                <a:spcPts val="0"/>
              </a:spcBef>
              <a:spcAft>
                <a:spcPts val="0"/>
              </a:spcAft>
              <a:buSzPts val="1100"/>
              <a:buChar char="○"/>
              <a:defRPr/>
            </a:lvl2pPr>
            <a:lvl3pPr marL="3658102" lvl="2" indent="-795975" rtl="0">
              <a:spcBef>
                <a:spcPts val="0"/>
              </a:spcBef>
              <a:spcAft>
                <a:spcPts val="0"/>
              </a:spcAft>
              <a:buSzPts val="1100"/>
              <a:buChar char="■"/>
              <a:defRPr/>
            </a:lvl3pPr>
            <a:lvl4pPr marL="4877472" lvl="3" indent="-795975" rtl="0">
              <a:spcBef>
                <a:spcPts val="0"/>
              </a:spcBef>
              <a:spcAft>
                <a:spcPts val="0"/>
              </a:spcAft>
              <a:buSzPts val="1100"/>
              <a:buChar char="●"/>
              <a:defRPr/>
            </a:lvl4pPr>
            <a:lvl5pPr marL="6096839" lvl="4" indent="-795975" rtl="0">
              <a:spcBef>
                <a:spcPts val="0"/>
              </a:spcBef>
              <a:spcAft>
                <a:spcPts val="0"/>
              </a:spcAft>
              <a:buSzPts val="1100"/>
              <a:buChar char="○"/>
              <a:defRPr/>
            </a:lvl5pPr>
            <a:lvl6pPr marL="7316206" lvl="5" indent="-795975" rtl="0">
              <a:spcBef>
                <a:spcPts val="0"/>
              </a:spcBef>
              <a:spcAft>
                <a:spcPts val="0"/>
              </a:spcAft>
              <a:buSzPts val="1100"/>
              <a:buChar char="■"/>
              <a:defRPr/>
            </a:lvl6pPr>
            <a:lvl7pPr marL="8535573" lvl="6" indent="-795975" rtl="0">
              <a:spcBef>
                <a:spcPts val="0"/>
              </a:spcBef>
              <a:spcAft>
                <a:spcPts val="0"/>
              </a:spcAft>
              <a:buSzPts val="1100"/>
              <a:buChar char="●"/>
              <a:defRPr/>
            </a:lvl7pPr>
            <a:lvl8pPr marL="9754941" lvl="7" indent="-795975" rtl="0">
              <a:spcBef>
                <a:spcPts val="0"/>
              </a:spcBef>
              <a:spcAft>
                <a:spcPts val="0"/>
              </a:spcAft>
              <a:buSzPts val="1100"/>
              <a:buChar char="○"/>
              <a:defRPr/>
            </a:lvl8pPr>
            <a:lvl9pPr marL="10974311" lvl="8" indent="-795975" rtl="0">
              <a:spcBef>
                <a:spcPts val="0"/>
              </a:spcBef>
              <a:spcAft>
                <a:spcPts val="0"/>
              </a:spcAft>
              <a:buSzPts val="1100"/>
              <a:buChar char="■"/>
              <a:defRPr/>
            </a:lvl9pPr>
          </a:lstStyle>
          <a:p>
            <a:endParaRPr/>
          </a:p>
        </p:txBody>
      </p:sp>
      <p:sp>
        <p:nvSpPr>
          <p:cNvPr id="54" name="Google Shape;54;p7"/>
          <p:cNvSpPr txBox="1">
            <a:spLocks noGrp="1"/>
          </p:cNvSpPr>
          <p:nvPr>
            <p:ph type="sldNum" idx="12"/>
          </p:nvPr>
        </p:nvSpPr>
        <p:spPr>
          <a:xfrm>
            <a:off x="22766436" y="12666269"/>
            <a:ext cx="1463391" cy="1049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1911659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1" name="Author and Date"/>
          <p:cNvSpPr txBox="1">
            <a:spLocks noGrp="1"/>
          </p:cNvSpPr>
          <p:nvPr>
            <p:ph type="body" sz="quarter" idx="21" hasCustomPrompt="1"/>
          </p:nvPr>
        </p:nvSpPr>
        <p:spPr>
          <a:xfrm>
            <a:off x="1201497" y="11859863"/>
            <a:ext cx="21973864" cy="636979"/>
          </a:xfrm>
          <a:prstGeom prst="rect">
            <a:avLst/>
          </a:prstGeom>
        </p:spPr>
        <p:txBody>
          <a:bodyPr lIns="45719" tIns="45719" rIns="45719" bIns="45719"/>
          <a:lstStyle>
            <a:lvl1pPr marL="0" indent="0" defTabSz="825500">
              <a:lnSpc>
                <a:spcPct val="100000"/>
              </a:lnSpc>
              <a:spcBef>
                <a:spcPts val="0"/>
              </a:spcBef>
              <a:buSzTx/>
              <a:buNone/>
              <a:defRPr sz="3600" b="1"/>
            </a:lvl1pPr>
          </a:lstStyle>
          <a:p>
            <a:r>
              <a:t>Author and Date</a:t>
            </a:r>
          </a:p>
        </p:txBody>
      </p:sp>
      <p:sp>
        <p:nvSpPr>
          <p:cNvPr id="12" name="Presentation Title"/>
          <p:cNvSpPr txBox="1">
            <a:spLocks noGrp="1"/>
          </p:cNvSpPr>
          <p:nvPr>
            <p:ph type="title" hasCustomPrompt="1"/>
          </p:nvPr>
        </p:nvSpPr>
        <p:spPr>
          <a:xfrm>
            <a:off x="1206653" y="2574991"/>
            <a:ext cx="21973865" cy="4648201"/>
          </a:xfrm>
          <a:prstGeom prst="rect">
            <a:avLst/>
          </a:prstGeom>
        </p:spPr>
        <p:txBody>
          <a:bodyPr anchor="b"/>
          <a:lstStyle>
            <a:lvl1pPr>
              <a:defRPr sz="11600" spc="-232"/>
            </a:lvl1pPr>
          </a:lstStyle>
          <a:p>
            <a:r>
              <a:t>Presentation Title</a:t>
            </a:r>
          </a:p>
        </p:txBody>
      </p:sp>
      <p:sp>
        <p:nvSpPr>
          <p:cNvPr id="13" name="Body Level One…"/>
          <p:cNvSpPr txBox="1">
            <a:spLocks noGrp="1"/>
          </p:cNvSpPr>
          <p:nvPr>
            <p:ph type="body" sz="quarter" idx="1" hasCustomPrompt="1"/>
          </p:nvPr>
        </p:nvSpPr>
        <p:spPr>
          <a:xfrm>
            <a:off x="1201499" y="7223191"/>
            <a:ext cx="21973862" cy="1905001"/>
          </a:xfrm>
          <a:prstGeom prst="rect">
            <a:avLst/>
          </a:prstGeom>
        </p:spPr>
        <p:txBody>
          <a:bodyPr/>
          <a:lstStyle>
            <a:lvl1pPr marL="0" indent="0" defTabSz="825500">
              <a:lnSpc>
                <a:spcPct val="100000"/>
              </a:lnSpc>
              <a:spcBef>
                <a:spcPts val="0"/>
              </a:spcBef>
              <a:buSzTx/>
              <a:buNone/>
              <a:defRPr sz="5500" b="1"/>
            </a:lvl1pPr>
            <a:lvl2pPr marL="0" indent="457200" defTabSz="825500">
              <a:lnSpc>
                <a:spcPct val="100000"/>
              </a:lnSpc>
              <a:spcBef>
                <a:spcPts val="0"/>
              </a:spcBef>
              <a:buSzTx/>
              <a:buNone/>
              <a:defRPr sz="5500" b="1"/>
            </a:lvl2pPr>
            <a:lvl3pPr marL="0" indent="914400" defTabSz="825500">
              <a:lnSpc>
                <a:spcPct val="100000"/>
              </a:lnSpc>
              <a:spcBef>
                <a:spcPts val="0"/>
              </a:spcBef>
              <a:buSzTx/>
              <a:buNone/>
              <a:defRPr sz="5500" b="1"/>
            </a:lvl3pPr>
            <a:lvl4pPr marL="0" indent="1371600" defTabSz="825500">
              <a:lnSpc>
                <a:spcPct val="100000"/>
              </a:lnSpc>
              <a:spcBef>
                <a:spcPts val="0"/>
              </a:spcBef>
              <a:buSzTx/>
              <a:buNone/>
              <a:defRPr sz="5500" b="1"/>
            </a:lvl4pPr>
            <a:lvl5pPr marL="0" indent="1828800" defTabSz="825500">
              <a:lnSpc>
                <a:spcPct val="100000"/>
              </a:lnSpc>
              <a:spcBef>
                <a:spcPts val="0"/>
              </a:spcBef>
              <a:buSzTx/>
              <a:buNone/>
              <a:defRPr sz="5500" b="1"/>
            </a:lvl5pPr>
          </a:lstStyle>
          <a:p>
            <a:r>
              <a:t>Presentation Subtitle</a:t>
            </a:r>
          </a:p>
          <a:p>
            <a:pPr lvl="1"/>
            <a:endParaRPr/>
          </a:p>
          <a:p>
            <a:pPr lvl="2"/>
            <a:endParaRPr/>
          </a:p>
          <a:p>
            <a:pPr lvl="3"/>
            <a:endParaRPr/>
          </a:p>
          <a:p>
            <a:pPr lvl="4"/>
            <a:endParaRPr/>
          </a:p>
        </p:txBody>
      </p:sp>
      <p:sp>
        <p:nvSpPr>
          <p:cNvPr id="14" name="Slide Number"/>
          <p:cNvSpPr txBox="1">
            <a:spLocks noGrp="1"/>
          </p:cNvSpPr>
          <p:nvPr>
            <p:ph type="sldNum" sz="quarter" idx="2"/>
          </p:nvPr>
        </p:nvSpPr>
        <p:spPr>
          <a:xfrm>
            <a:off x="23743059" y="13161035"/>
            <a:ext cx="368552" cy="374600"/>
          </a:xfrm>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1475529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E397D72F-E915-9846-8E67-29872E9CA90B}" type="datetimeFigureOut">
              <a:rPr lang="en-US" smtClean="0"/>
              <a:t>8/2/26</a:t>
            </a:fld>
            <a:endParaRPr lang="en-US"/>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00000000-1234-1234-1234-123412341234}" type="slidenum">
              <a:rPr lang="en" smtClean="0"/>
              <a:pPr/>
              <a:t>‹#›</a:t>
            </a:fld>
            <a:endParaRPr lang="en"/>
          </a:p>
        </p:txBody>
      </p:sp>
    </p:spTree>
    <p:extLst>
      <p:ext uri="{BB962C8B-B14F-4D97-AF65-F5344CB8AC3E}">
        <p14:creationId xmlns:p14="http://schemas.microsoft.com/office/powerpoint/2010/main" val="232710508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sldNum="0" hdr="0" ft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tutorial/datastructures.html"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3" Type="http://schemas.openxmlformats.org/officeDocument/2006/relationships/hyperlink" Target="https://docs.python.org/3/tutorial/datastructures.html" TargetMode="External"/><Relationship Id="rId2" Type="http://schemas.openxmlformats.org/officeDocument/2006/relationships/notesSlide" Target="../notesSlides/notesSlide47.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10.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49.xml"/><Relationship Id="rId1" Type="http://schemas.openxmlformats.org/officeDocument/2006/relationships/slideLayout" Target="../slideLayouts/slideLayout12.xml"/><Relationship Id="rId4" Type="http://schemas.openxmlformats.org/officeDocument/2006/relationships/image" Target="../media/image13.sv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4" descr="Image"/>
          <p:cNvPicPr preferRelativeResize="0"/>
          <p:nvPr/>
        </p:nvPicPr>
        <p:blipFill>
          <a:blip r:embed="rId3">
            <a:alphaModFix/>
          </a:blip>
          <a:stretch>
            <a:fillRect/>
          </a:stretch>
        </p:blipFill>
        <p:spPr>
          <a:xfrm>
            <a:off x="21122987" y="406337"/>
            <a:ext cx="2895600" cy="3225800"/>
          </a:xfrm>
          <a:prstGeom prst="rect">
            <a:avLst/>
          </a:prstGeom>
          <a:noFill/>
          <a:ln>
            <a:noFill/>
          </a:ln>
        </p:spPr>
      </p:pic>
      <p:pic>
        <p:nvPicPr>
          <p:cNvPr id="93" name="Google Shape;93;p14" descr="Image"/>
          <p:cNvPicPr preferRelativeResize="0"/>
          <p:nvPr/>
        </p:nvPicPr>
        <p:blipFill>
          <a:blip r:embed="rId4">
            <a:alphaModFix/>
          </a:blip>
          <a:stretch>
            <a:fillRect/>
          </a:stretch>
        </p:blipFill>
        <p:spPr>
          <a:xfrm>
            <a:off x="1074587" y="5245134"/>
            <a:ext cx="6438053" cy="3225733"/>
          </a:xfrm>
          <a:prstGeom prst="rect">
            <a:avLst/>
          </a:prstGeom>
          <a:noFill/>
          <a:ln>
            <a:noFill/>
          </a:ln>
        </p:spPr>
      </p:pic>
      <p:sp>
        <p:nvSpPr>
          <p:cNvPr id="94" name="Google Shape;94;p14"/>
          <p:cNvSpPr txBox="1"/>
          <p:nvPr/>
        </p:nvSpPr>
        <p:spPr>
          <a:xfrm>
            <a:off x="8142854" y="3372667"/>
            <a:ext cx="23164800" cy="8000000"/>
          </a:xfrm>
          <a:prstGeom prst="rect">
            <a:avLst/>
          </a:prstGeom>
          <a:noFill/>
          <a:ln>
            <a:noFill/>
          </a:ln>
        </p:spPr>
        <p:txBody>
          <a:bodyPr spcFirstLastPara="1" wrap="square" lIns="243800" tIns="243800" rIns="243800" bIns="243800" anchor="ctr" anchorCtr="0">
            <a:noAutofit/>
          </a:bodyPr>
          <a:lstStyle/>
          <a:p>
            <a:pPr>
              <a:lnSpc>
                <a:spcPct val="115000"/>
              </a:lnSpc>
            </a:pPr>
            <a:endParaRPr sz="12800" dirty="0"/>
          </a:p>
          <a:p>
            <a:pPr>
              <a:lnSpc>
                <a:spcPct val="96000"/>
              </a:lnSpc>
            </a:pPr>
            <a:r>
              <a:rPr lang="en" sz="16003" b="1" dirty="0" err="1">
                <a:solidFill>
                  <a:srgbClr val="006B64"/>
                </a:solidFill>
                <a:latin typeface="Helvetica Neue"/>
                <a:ea typeface="Helvetica Neue"/>
                <a:cs typeface="Helvetica Neue"/>
                <a:sym typeface="Helvetica Neue"/>
              </a:rPr>
              <a:t>AI</a:t>
            </a:r>
            <a:r>
              <a:rPr lang="en" sz="16003" b="1" dirty="0" err="1">
                <a:solidFill>
                  <a:srgbClr val="004C7F"/>
                </a:solidFill>
                <a:latin typeface="Helvetica Neue"/>
                <a:ea typeface="Helvetica Neue"/>
                <a:cs typeface="Helvetica Neue"/>
                <a:sym typeface="Helvetica Neue"/>
              </a:rPr>
              <a:t>Bridge</a:t>
            </a:r>
            <a:endParaRPr sz="16003" b="1" dirty="0">
              <a:solidFill>
                <a:srgbClr val="004C7F"/>
              </a:solidFill>
              <a:latin typeface="Helvetica Neue"/>
              <a:ea typeface="Helvetica Neue"/>
              <a:cs typeface="Helvetica Neue"/>
              <a:sym typeface="Helvetica Neue"/>
            </a:endParaRPr>
          </a:p>
          <a:p>
            <a:pPr>
              <a:lnSpc>
                <a:spcPct val="115000"/>
              </a:lnSpc>
            </a:pPr>
            <a:endParaRPr sz="2933" dirty="0"/>
          </a:p>
          <a:p>
            <a:pPr>
              <a:lnSpc>
                <a:spcPct val="120000"/>
              </a:lnSpc>
            </a:pPr>
            <a:r>
              <a:rPr lang="en" sz="8000" b="1" dirty="0">
                <a:solidFill>
                  <a:srgbClr val="004C7F"/>
                </a:solidFill>
                <a:latin typeface="Helvetica Neue"/>
                <a:ea typeface="Helvetica Neue"/>
                <a:cs typeface="Helvetica Neue"/>
                <a:sym typeface="Helvetica Neue"/>
              </a:rPr>
              <a:t>Lecture 2</a:t>
            </a:r>
            <a:endParaRPr sz="8000" b="1" dirty="0">
              <a:solidFill>
                <a:srgbClr val="004C7F"/>
              </a:solidFill>
              <a:latin typeface="Helvetica Neue"/>
              <a:ea typeface="Helvetica Neue"/>
              <a:cs typeface="Helvetica Neue"/>
              <a:sym typeface="Helvetica Neue"/>
            </a:endParaRPr>
          </a:p>
          <a:p>
            <a:pPr>
              <a:lnSpc>
                <a:spcPct val="115000"/>
              </a:lnSpc>
            </a:pPr>
            <a:endParaRPr sz="2933" dirty="0"/>
          </a:p>
          <a:p>
            <a:endParaRPr sz="2933" dirty="0"/>
          </a:p>
          <a:p>
            <a:endParaRPr sz="2933"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a:spLocks noGrp="1"/>
          </p:cNvSpPr>
          <p:nvPr>
            <p:ph type="title"/>
          </p:nvPr>
        </p:nvSpPr>
        <p:spPr>
          <a:xfrm>
            <a:off x="1768836" y="1543984"/>
            <a:ext cx="20505870" cy="1427200"/>
          </a:xfrm>
          <a:prstGeom prst="rect">
            <a:avLst/>
          </a:prstGeom>
        </p:spPr>
        <p:txBody>
          <a:bodyPr spcFirstLastPara="1" vert="horz" wrap="square" lIns="243800" tIns="243800" rIns="243800" bIns="243800" rtlCol="0" anchor="t" anchorCtr="0">
            <a:normAutofit fontScale="90000"/>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Lecture Outline</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4" name="Google Shape;404;p55"/>
          <p:cNvSpPr txBox="1">
            <a:spLocks noGrp="1"/>
          </p:cNvSpPr>
          <p:nvPr>
            <p:ph type="body" idx="1"/>
          </p:nvPr>
        </p:nvSpPr>
        <p:spPr>
          <a:xfrm>
            <a:off x="1940652" y="3100270"/>
            <a:ext cx="2901171" cy="2713415"/>
          </a:xfrm>
          <a:prstGeom prst="rect">
            <a:avLst/>
          </a:prstGeom>
        </p:spPr>
        <p:txBody>
          <a:bodyPr spcFirstLastPara="1" vert="horz" wrap="square" lIns="243800" tIns="243800" rIns="243800" bIns="243800" rtlCol="0" anchor="t" anchorCtr="0">
            <a:normAutofit/>
          </a:bodyPr>
          <a:lstStyle/>
          <a:p>
            <a:pPr marL="455568" indent="0">
              <a:lnSpc>
                <a:spcPct val="200000"/>
              </a:lnSpc>
              <a:buSzPct val="1000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I/O</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3" name="Google Shape;403;p55"/>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2</a:t>
            </a:fld>
            <a:endParaRPr>
              <a:solidFill>
                <a:schemeClr val="accent1"/>
              </a:solidFill>
              <a:latin typeface="Lato"/>
              <a:ea typeface="Lato"/>
              <a:cs typeface="Lato"/>
              <a:sym typeface="Lato"/>
            </a:endParaRPr>
          </a:p>
        </p:txBody>
      </p:sp>
      <p:sp>
        <p:nvSpPr>
          <p:cNvPr id="2" name="Google Shape;404;p55">
            <a:extLst>
              <a:ext uri="{FF2B5EF4-FFF2-40B4-BE49-F238E27FC236}">
                <a16:creationId xmlns:a16="http://schemas.microsoft.com/office/drawing/2014/main" id="{C23724DE-D0F4-1B60-8BA5-494F5A90BC74}"/>
              </a:ext>
            </a:extLst>
          </p:cNvPr>
          <p:cNvSpPr txBox="1">
            <a:spLocks/>
          </p:cNvSpPr>
          <p:nvPr/>
        </p:nvSpPr>
        <p:spPr>
          <a:xfrm>
            <a:off x="1943152" y="4916575"/>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04;p55">
            <a:extLst>
              <a:ext uri="{FF2B5EF4-FFF2-40B4-BE49-F238E27FC236}">
                <a16:creationId xmlns:a16="http://schemas.microsoft.com/office/drawing/2014/main" id="{40DCE949-F68E-6C38-FCBC-720DB9A850C4}"/>
              </a:ext>
            </a:extLst>
          </p:cNvPr>
          <p:cNvSpPr txBox="1">
            <a:spLocks/>
          </p:cNvSpPr>
          <p:nvPr/>
        </p:nvSpPr>
        <p:spPr>
          <a:xfrm>
            <a:off x="1943152" y="6832460"/>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Functions</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7E15AADB-4B17-CC22-6180-68CFDD1CBDC0}"/>
            </a:ext>
          </a:extLst>
        </p:cNvPr>
        <p:cNvGrpSpPr/>
        <p:nvPr/>
      </p:nvGrpSpPr>
      <p:grpSpPr>
        <a:xfrm>
          <a:off x="0" y="0"/>
          <a:ext cx="0" cy="0"/>
          <a:chOff x="0" y="0"/>
          <a:chExt cx="0" cy="0"/>
        </a:xfrm>
      </p:grpSpPr>
      <p:sp>
        <p:nvSpPr>
          <p:cNvPr id="431" name="Google Shape;431;p57">
            <a:extLst>
              <a:ext uri="{FF2B5EF4-FFF2-40B4-BE49-F238E27FC236}">
                <a16:creationId xmlns:a16="http://schemas.microsoft.com/office/drawing/2014/main" id="{9F72D3D3-8459-2A4A-DE94-ABB444AB0810}"/>
              </a:ext>
            </a:extLst>
          </p:cNvPr>
          <p:cNvSpPr txBox="1">
            <a:spLocks noGrp="1"/>
          </p:cNvSpPr>
          <p:nvPr>
            <p:ph type="body" idx="1"/>
          </p:nvPr>
        </p:nvSpPr>
        <p:spPr>
          <a:xfrm>
            <a:off x="1537255" y="4451865"/>
            <a:ext cx="14149600" cy="1085600"/>
          </a:xfrm>
          <a:prstGeom prst="rect">
            <a:avLst/>
          </a:prstGeom>
        </p:spPr>
        <p:txBody>
          <a:bodyPr spcFirstLastPara="1" vert="horz" wrap="square" lIns="243800" tIns="243800" rIns="243800" bIns="243800" rtlCol="0" anchor="t" anchorCtr="0">
            <a:noAutofit/>
          </a:bodyPr>
          <a:lstStyle/>
          <a:p>
            <a:pPr marL="389519" indent="0">
              <a:buNone/>
            </a:pPr>
            <a:r>
              <a:rPr lang="en" sz="4000" dirty="0"/>
              <a:t>Output to Console:  </a:t>
            </a:r>
            <a:r>
              <a:rPr lang="en" sz="4000" dirty="0">
                <a:latin typeface="Courier New"/>
                <a:ea typeface="Courier New"/>
                <a:cs typeface="Courier New"/>
                <a:sym typeface="Courier New"/>
              </a:rPr>
              <a:t>print(object1, object2, ...)</a:t>
            </a:r>
            <a:endParaRPr sz="4000" b="1" dirty="0"/>
          </a:p>
        </p:txBody>
      </p:sp>
      <p:sp>
        <p:nvSpPr>
          <p:cNvPr id="434" name="Google Shape;434;p57">
            <a:extLst>
              <a:ext uri="{FF2B5EF4-FFF2-40B4-BE49-F238E27FC236}">
                <a16:creationId xmlns:a16="http://schemas.microsoft.com/office/drawing/2014/main" id="{11F85A2F-721C-F697-9D30-88A159B1F9EA}"/>
              </a:ext>
            </a:extLst>
          </p:cNvPr>
          <p:cNvSpPr txBox="1"/>
          <p:nvPr/>
        </p:nvSpPr>
        <p:spPr>
          <a:xfrm>
            <a:off x="1941987" y="5399046"/>
            <a:ext cx="80000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solidFill>
                  <a:srgbClr val="795E26"/>
                </a:solidFill>
                <a:latin typeface="Courier New"/>
                <a:ea typeface="Courier New"/>
                <a:cs typeface="Courier New"/>
                <a:sym typeface="Courier New"/>
              </a:rPr>
              <a:t>print</a:t>
            </a:r>
            <a:r>
              <a:rPr lang="en" sz="3467">
                <a:latin typeface="Courier New"/>
                <a:ea typeface="Courier New"/>
                <a:cs typeface="Courier New"/>
                <a:sym typeface="Courier New"/>
              </a:rPr>
              <a:t>(</a:t>
            </a:r>
            <a:r>
              <a:rPr lang="en" sz="3467">
                <a:solidFill>
                  <a:srgbClr val="A31515"/>
                </a:solidFill>
                <a:latin typeface="Courier New"/>
                <a:ea typeface="Courier New"/>
                <a:cs typeface="Courier New"/>
                <a:sym typeface="Courier New"/>
              </a:rPr>
              <a:t>'a'</a:t>
            </a:r>
            <a:r>
              <a:rPr lang="en" sz="3467">
                <a:latin typeface="Courier New"/>
                <a:ea typeface="Courier New"/>
                <a:cs typeface="Courier New"/>
                <a:sym typeface="Courier New"/>
              </a:rPr>
              <a:t>, </a:t>
            </a:r>
            <a:r>
              <a:rPr lang="en" sz="3467">
                <a:solidFill>
                  <a:srgbClr val="A31515"/>
                </a:solidFill>
                <a:latin typeface="Courier New"/>
                <a:ea typeface="Courier New"/>
                <a:cs typeface="Courier New"/>
                <a:sym typeface="Courier New"/>
              </a:rPr>
              <a:t>'b'</a:t>
            </a:r>
            <a:r>
              <a:rPr lang="en" sz="3467">
                <a:latin typeface="Courier New"/>
                <a:ea typeface="Courier New"/>
                <a:cs typeface="Courier New"/>
                <a:sym typeface="Courier New"/>
              </a:rPr>
              <a:t>, </a:t>
            </a:r>
            <a:r>
              <a:rPr lang="en" sz="3467">
                <a:solidFill>
                  <a:srgbClr val="A31515"/>
                </a:solidFill>
                <a:latin typeface="Courier New"/>
                <a:ea typeface="Courier New"/>
                <a:cs typeface="Courier New"/>
                <a:sym typeface="Courier New"/>
              </a:rPr>
              <a:t>'c'</a:t>
            </a:r>
            <a:r>
              <a:rPr lang="en" sz="3467">
                <a:latin typeface="Courier New"/>
                <a:ea typeface="Courier New"/>
                <a:cs typeface="Courier New"/>
                <a:sym typeface="Courier New"/>
              </a:rPr>
              <a:t>, </a:t>
            </a:r>
            <a:r>
              <a:rPr lang="en" sz="3467">
                <a:solidFill>
                  <a:srgbClr val="A31515"/>
                </a:solidFill>
                <a:latin typeface="Courier New"/>
                <a:ea typeface="Courier New"/>
                <a:cs typeface="Courier New"/>
                <a:sym typeface="Courier New"/>
              </a:rPr>
              <a:t>'d'</a:t>
            </a:r>
            <a:r>
              <a:rPr lang="en" sz="3467">
                <a:latin typeface="Courier New"/>
                <a:ea typeface="Courier New"/>
                <a:cs typeface="Courier New"/>
                <a:sym typeface="Courier New"/>
              </a:rPr>
              <a:t>)</a:t>
            </a:r>
            <a:endParaRPr sz="3467">
              <a:latin typeface="Courier New"/>
              <a:ea typeface="Courier New"/>
              <a:cs typeface="Courier New"/>
              <a:sym typeface="Courier New"/>
            </a:endParaRPr>
          </a:p>
        </p:txBody>
      </p:sp>
      <p:pic>
        <p:nvPicPr>
          <p:cNvPr id="435" name="Google Shape;435;p57">
            <a:extLst>
              <a:ext uri="{FF2B5EF4-FFF2-40B4-BE49-F238E27FC236}">
                <a16:creationId xmlns:a16="http://schemas.microsoft.com/office/drawing/2014/main" id="{82B2AF61-C209-7A45-5C76-27A47141B69E}"/>
              </a:ext>
            </a:extLst>
          </p:cNvPr>
          <p:cNvPicPr preferRelativeResize="0"/>
          <p:nvPr/>
        </p:nvPicPr>
        <p:blipFill>
          <a:blip r:embed="rId3">
            <a:alphaModFix/>
          </a:blip>
          <a:stretch>
            <a:fillRect/>
          </a:stretch>
        </p:blipFill>
        <p:spPr>
          <a:xfrm>
            <a:off x="12526254" y="5446316"/>
            <a:ext cx="4612667" cy="2356467"/>
          </a:xfrm>
          <a:prstGeom prst="rect">
            <a:avLst/>
          </a:prstGeom>
          <a:noFill/>
          <a:ln>
            <a:noFill/>
          </a:ln>
        </p:spPr>
      </p:pic>
      <p:sp>
        <p:nvSpPr>
          <p:cNvPr id="436" name="Google Shape;436;p57">
            <a:extLst>
              <a:ext uri="{FF2B5EF4-FFF2-40B4-BE49-F238E27FC236}">
                <a16:creationId xmlns:a16="http://schemas.microsoft.com/office/drawing/2014/main" id="{11435A5C-F64B-B4D9-5ED7-F303D98E07A7}"/>
              </a:ext>
            </a:extLst>
          </p:cNvPr>
          <p:cNvSpPr txBox="1"/>
          <p:nvPr/>
        </p:nvSpPr>
        <p:spPr>
          <a:xfrm>
            <a:off x="1941987" y="6111379"/>
            <a:ext cx="80000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dirty="0">
                <a:solidFill>
                  <a:srgbClr val="795E26"/>
                </a:solidFill>
                <a:latin typeface="Courier New"/>
                <a:ea typeface="Courier New"/>
                <a:cs typeface="Courier New"/>
                <a:sym typeface="Courier New"/>
              </a:rPr>
              <a:t>print</a:t>
            </a:r>
            <a:r>
              <a:rPr lang="en" sz="3467" dirty="0">
                <a:latin typeface="Courier New"/>
                <a:ea typeface="Courier New"/>
                <a:cs typeface="Courier New"/>
                <a:sym typeface="Courier New"/>
              </a:rPr>
              <a:t>(</a:t>
            </a:r>
            <a:r>
              <a:rPr lang="en" sz="3467" dirty="0">
                <a:solidFill>
                  <a:srgbClr val="A31515"/>
                </a:solidFill>
                <a:latin typeface="Courier New"/>
                <a:ea typeface="Courier New"/>
                <a:cs typeface="Courier New"/>
                <a:sym typeface="Courier New"/>
              </a:rPr>
              <a:t>'e'</a:t>
            </a:r>
            <a:r>
              <a:rPr lang="en" sz="3467" dirty="0">
                <a:latin typeface="Courier New"/>
                <a:ea typeface="Courier New"/>
                <a:cs typeface="Courier New"/>
                <a:sym typeface="Courier New"/>
              </a:rPr>
              <a:t>, </a:t>
            </a:r>
            <a:r>
              <a:rPr lang="en" sz="3467" dirty="0">
                <a:solidFill>
                  <a:srgbClr val="A31515"/>
                </a:solidFill>
                <a:latin typeface="Courier New"/>
                <a:ea typeface="Courier New"/>
                <a:cs typeface="Courier New"/>
                <a:sym typeface="Courier New"/>
              </a:rPr>
              <a:t>'f'</a:t>
            </a:r>
            <a:r>
              <a:rPr lang="en" sz="3467" dirty="0">
                <a:latin typeface="Courier New"/>
                <a:ea typeface="Courier New"/>
                <a:cs typeface="Courier New"/>
                <a:sym typeface="Courier New"/>
              </a:rPr>
              <a:t>, </a:t>
            </a:r>
            <a:r>
              <a:rPr lang="en" sz="3467" dirty="0">
                <a:solidFill>
                  <a:srgbClr val="A31515"/>
                </a:solidFill>
                <a:latin typeface="Courier New"/>
                <a:ea typeface="Courier New"/>
                <a:cs typeface="Courier New"/>
                <a:sym typeface="Courier New"/>
              </a:rPr>
              <a:t>'g'</a:t>
            </a:r>
            <a:r>
              <a:rPr lang="en" sz="3467" dirty="0">
                <a:latin typeface="Courier New"/>
                <a:ea typeface="Courier New"/>
                <a:cs typeface="Courier New"/>
                <a:sym typeface="Courier New"/>
              </a:rPr>
              <a:t>)</a:t>
            </a:r>
            <a:endParaRPr sz="3467" dirty="0">
              <a:latin typeface="Courier New"/>
              <a:ea typeface="Courier New"/>
              <a:cs typeface="Courier New"/>
              <a:sym typeface="Courier New"/>
            </a:endParaRPr>
          </a:p>
        </p:txBody>
      </p:sp>
      <p:cxnSp>
        <p:nvCxnSpPr>
          <p:cNvPr id="437" name="Google Shape;437;p57">
            <a:extLst>
              <a:ext uri="{FF2B5EF4-FFF2-40B4-BE49-F238E27FC236}">
                <a16:creationId xmlns:a16="http://schemas.microsoft.com/office/drawing/2014/main" id="{0EC9D691-AEF5-9EA5-A187-EF25F1521C4F}"/>
              </a:ext>
            </a:extLst>
          </p:cNvPr>
          <p:cNvCxnSpPr/>
          <p:nvPr/>
        </p:nvCxnSpPr>
        <p:spPr>
          <a:xfrm>
            <a:off x="8906320" y="5964179"/>
            <a:ext cx="5330400" cy="320800"/>
          </a:xfrm>
          <a:prstGeom prst="straightConnector1">
            <a:avLst/>
          </a:prstGeom>
          <a:noFill/>
          <a:ln w="9525" cap="flat" cmpd="sng">
            <a:solidFill>
              <a:schemeClr val="dk2"/>
            </a:solidFill>
            <a:prstDash val="solid"/>
            <a:round/>
            <a:headEnd type="none" w="med" len="med"/>
            <a:tailEnd type="triangle" w="med" len="med"/>
          </a:ln>
        </p:spPr>
      </p:cxnSp>
      <p:cxnSp>
        <p:nvCxnSpPr>
          <p:cNvPr id="438" name="Google Shape;438;p57">
            <a:extLst>
              <a:ext uri="{FF2B5EF4-FFF2-40B4-BE49-F238E27FC236}">
                <a16:creationId xmlns:a16="http://schemas.microsoft.com/office/drawing/2014/main" id="{E3C7B9F0-EB83-331D-5937-3BFF92688C8F}"/>
              </a:ext>
            </a:extLst>
          </p:cNvPr>
          <p:cNvCxnSpPr/>
          <p:nvPr/>
        </p:nvCxnSpPr>
        <p:spPr>
          <a:xfrm>
            <a:off x="7623254" y="6682045"/>
            <a:ext cx="6674400" cy="260000"/>
          </a:xfrm>
          <a:prstGeom prst="straightConnector1">
            <a:avLst/>
          </a:prstGeom>
          <a:noFill/>
          <a:ln w="9525" cap="flat" cmpd="sng">
            <a:solidFill>
              <a:schemeClr val="dk2"/>
            </a:solidFill>
            <a:prstDash val="solid"/>
            <a:round/>
            <a:headEnd type="none" w="med" len="med"/>
            <a:tailEnd type="triangle" w="med" len="med"/>
          </a:ln>
        </p:spPr>
      </p:cxnSp>
      <p:pic>
        <p:nvPicPr>
          <p:cNvPr id="439" name="Google Shape;439;p57">
            <a:extLst>
              <a:ext uri="{FF2B5EF4-FFF2-40B4-BE49-F238E27FC236}">
                <a16:creationId xmlns:a16="http://schemas.microsoft.com/office/drawing/2014/main" id="{3E13040F-ED2A-0ABD-9F83-99805A4FAE50}"/>
              </a:ext>
            </a:extLst>
          </p:cNvPr>
          <p:cNvPicPr preferRelativeResize="0"/>
          <p:nvPr/>
        </p:nvPicPr>
        <p:blipFill>
          <a:blip r:embed="rId4">
            <a:alphaModFix/>
          </a:blip>
          <a:stretch>
            <a:fillRect/>
          </a:stretch>
        </p:blipFill>
        <p:spPr>
          <a:xfrm>
            <a:off x="14419254" y="6594512"/>
            <a:ext cx="2337867" cy="762000"/>
          </a:xfrm>
          <a:prstGeom prst="rect">
            <a:avLst/>
          </a:prstGeom>
          <a:noFill/>
          <a:ln>
            <a:noFill/>
          </a:ln>
        </p:spPr>
      </p:pic>
      <p:sp>
        <p:nvSpPr>
          <p:cNvPr id="4" name="Google Shape;412;p56">
            <a:extLst>
              <a:ext uri="{FF2B5EF4-FFF2-40B4-BE49-F238E27FC236}">
                <a16:creationId xmlns:a16="http://schemas.microsoft.com/office/drawing/2014/main" id="{DA269D58-9E0A-77BE-1870-D9F676879A54}"/>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I/O</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Google Shape;412;p56">
            <a:extLst>
              <a:ext uri="{FF2B5EF4-FFF2-40B4-BE49-F238E27FC236}">
                <a16:creationId xmlns:a16="http://schemas.microsoft.com/office/drawing/2014/main" id="{40662EE9-3CED-692A-22E4-D493053EEF4C}"/>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Standard Output</a:t>
            </a:r>
          </a:p>
        </p:txBody>
      </p:sp>
    </p:spTree>
    <p:extLst>
      <p:ext uri="{BB962C8B-B14F-4D97-AF65-F5344CB8AC3E}">
        <p14:creationId xmlns:p14="http://schemas.microsoft.com/office/powerpoint/2010/main" val="18788176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1"/>
                                        </p:tgtEl>
                                        <p:attrNameLst>
                                          <p:attrName>style.visibility</p:attrName>
                                        </p:attrNameLst>
                                      </p:cBhvr>
                                      <p:to>
                                        <p:strVal val="visible"/>
                                      </p:to>
                                    </p:set>
                                    <p:animEffect transition="in" filter="fade">
                                      <p:cBhvr>
                                        <p:cTn id="7" dur="400"/>
                                        <p:tgtEl>
                                          <p:spTgt spid="4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34"/>
                                        </p:tgtEl>
                                        <p:attrNameLst>
                                          <p:attrName>style.visibility</p:attrName>
                                        </p:attrNameLst>
                                      </p:cBhvr>
                                      <p:to>
                                        <p:strVal val="visible"/>
                                      </p:to>
                                    </p:set>
                                    <p:animEffect transition="in" filter="fade">
                                      <p:cBhvr>
                                        <p:cTn id="12" dur="400"/>
                                        <p:tgtEl>
                                          <p:spTgt spid="4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37"/>
                                        </p:tgtEl>
                                        <p:attrNameLst>
                                          <p:attrName>style.visibility</p:attrName>
                                        </p:attrNameLst>
                                      </p:cBhvr>
                                      <p:to>
                                        <p:strVal val="visible"/>
                                      </p:to>
                                    </p:set>
                                    <p:animEffect transition="in" filter="fade">
                                      <p:cBhvr>
                                        <p:cTn id="17" dur="400"/>
                                        <p:tgtEl>
                                          <p:spTgt spid="437"/>
                                        </p:tgtEl>
                                      </p:cBhvr>
                                    </p:animEffect>
                                  </p:childTnLst>
                                </p:cTn>
                              </p:par>
                              <p:par>
                                <p:cTn id="18" presetID="10" presetClass="entr" presetSubtype="0" fill="hold" nodeType="withEffect">
                                  <p:stCondLst>
                                    <p:cond delay="0"/>
                                  </p:stCondLst>
                                  <p:childTnLst>
                                    <p:set>
                                      <p:cBhvr>
                                        <p:cTn id="19" dur="1" fill="hold">
                                          <p:stCondLst>
                                            <p:cond delay="0"/>
                                          </p:stCondLst>
                                        </p:cTn>
                                        <p:tgtEl>
                                          <p:spTgt spid="435"/>
                                        </p:tgtEl>
                                        <p:attrNameLst>
                                          <p:attrName>style.visibility</p:attrName>
                                        </p:attrNameLst>
                                      </p:cBhvr>
                                      <p:to>
                                        <p:strVal val="visible"/>
                                      </p:to>
                                    </p:set>
                                    <p:animEffect transition="in" filter="fade">
                                      <p:cBhvr>
                                        <p:cTn id="20" dur="400"/>
                                        <p:tgtEl>
                                          <p:spTgt spid="43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436"/>
                                        </p:tgtEl>
                                        <p:attrNameLst>
                                          <p:attrName>style.visibility</p:attrName>
                                        </p:attrNameLst>
                                      </p:cBhvr>
                                      <p:to>
                                        <p:strVal val="visible"/>
                                      </p:to>
                                    </p:set>
                                    <p:animEffect transition="in" filter="fade">
                                      <p:cBhvr>
                                        <p:cTn id="25" dur="400"/>
                                        <p:tgtEl>
                                          <p:spTgt spid="43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438"/>
                                        </p:tgtEl>
                                        <p:attrNameLst>
                                          <p:attrName>style.visibility</p:attrName>
                                        </p:attrNameLst>
                                      </p:cBhvr>
                                      <p:to>
                                        <p:strVal val="visible"/>
                                      </p:to>
                                    </p:set>
                                    <p:animEffect transition="in" filter="fade">
                                      <p:cBhvr>
                                        <p:cTn id="30" dur="400"/>
                                        <p:tgtEl>
                                          <p:spTgt spid="438"/>
                                        </p:tgtEl>
                                      </p:cBhvr>
                                    </p:animEffect>
                                  </p:childTnLst>
                                </p:cTn>
                              </p:par>
                              <p:par>
                                <p:cTn id="31" presetID="10" presetClass="exit" presetSubtype="0" fill="hold" nodeType="withEffect">
                                  <p:stCondLst>
                                    <p:cond delay="0"/>
                                  </p:stCondLst>
                                  <p:childTnLst>
                                    <p:animEffect transition="out" filter="fade">
                                      <p:cBhvr>
                                        <p:cTn id="32" dur="400"/>
                                        <p:tgtEl>
                                          <p:spTgt spid="439"/>
                                        </p:tgtEl>
                                      </p:cBhvr>
                                    </p:animEffect>
                                    <p:set>
                                      <p:cBhvr>
                                        <p:cTn id="33" dur="1" fill="hold">
                                          <p:stCondLst>
                                            <p:cond delay="400"/>
                                          </p:stCondLst>
                                        </p:cTn>
                                        <p:tgtEl>
                                          <p:spTgt spid="43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65E20B16-30A4-B892-1F79-E735BBAC8A20}"/>
            </a:ext>
          </a:extLst>
        </p:cNvPr>
        <p:cNvGrpSpPr/>
        <p:nvPr/>
      </p:nvGrpSpPr>
      <p:grpSpPr>
        <a:xfrm>
          <a:off x="0" y="0"/>
          <a:ext cx="0" cy="0"/>
          <a:chOff x="0" y="0"/>
          <a:chExt cx="0" cy="0"/>
        </a:xfrm>
      </p:grpSpPr>
      <p:sp>
        <p:nvSpPr>
          <p:cNvPr id="431" name="Google Shape;431;p57">
            <a:extLst>
              <a:ext uri="{FF2B5EF4-FFF2-40B4-BE49-F238E27FC236}">
                <a16:creationId xmlns:a16="http://schemas.microsoft.com/office/drawing/2014/main" id="{2A95699C-2B32-E9DD-7F79-FE1C380DC436}"/>
              </a:ext>
            </a:extLst>
          </p:cNvPr>
          <p:cNvSpPr txBox="1">
            <a:spLocks noGrp="1"/>
          </p:cNvSpPr>
          <p:nvPr>
            <p:ph type="body" idx="1"/>
          </p:nvPr>
        </p:nvSpPr>
        <p:spPr>
          <a:xfrm>
            <a:off x="1537255" y="4451865"/>
            <a:ext cx="14149600" cy="1085600"/>
          </a:xfrm>
          <a:prstGeom prst="rect">
            <a:avLst/>
          </a:prstGeom>
        </p:spPr>
        <p:txBody>
          <a:bodyPr spcFirstLastPara="1" vert="horz" wrap="square" lIns="243800" tIns="243800" rIns="243800" bIns="243800" rtlCol="0" anchor="t" anchorCtr="0">
            <a:noAutofit/>
          </a:bodyPr>
          <a:lstStyle/>
          <a:p>
            <a:pPr marL="389519" indent="0">
              <a:buNone/>
            </a:pPr>
            <a:r>
              <a:rPr lang="en" sz="4000" dirty="0"/>
              <a:t>Input from Console: </a:t>
            </a:r>
            <a:r>
              <a:rPr lang="en" sz="4000" dirty="0">
                <a:solidFill>
                  <a:srgbClr val="795E26"/>
                </a:solidFill>
                <a:highlight>
                  <a:srgbClr val="FFFFFE"/>
                </a:highlight>
                <a:latin typeface="Courier New"/>
                <a:ea typeface="Courier New"/>
                <a:cs typeface="Courier New"/>
                <a:sym typeface="Courier New"/>
              </a:rPr>
              <a:t>input</a:t>
            </a:r>
            <a:r>
              <a:rPr lang="en" sz="4000" dirty="0">
                <a:solidFill>
                  <a:srgbClr val="000000"/>
                </a:solidFill>
                <a:highlight>
                  <a:srgbClr val="FFFFFE"/>
                </a:highlight>
                <a:latin typeface="Courier New"/>
                <a:ea typeface="Courier New"/>
                <a:cs typeface="Courier New"/>
                <a:sym typeface="Courier New"/>
              </a:rPr>
              <a:t>(</a:t>
            </a:r>
            <a:r>
              <a:rPr lang="en" sz="4000" dirty="0">
                <a:solidFill>
                  <a:srgbClr val="A31515"/>
                </a:solidFill>
                <a:highlight>
                  <a:srgbClr val="FFFFFE"/>
                </a:highlight>
                <a:latin typeface="Courier New"/>
                <a:ea typeface="Courier New"/>
                <a:cs typeface="Courier New"/>
                <a:sym typeface="Courier New"/>
              </a:rPr>
              <a:t>'prompt'</a:t>
            </a:r>
            <a:r>
              <a:rPr lang="en" sz="4000" dirty="0">
                <a:solidFill>
                  <a:srgbClr val="000000"/>
                </a:solidFill>
                <a:highlight>
                  <a:srgbClr val="FFFFFE"/>
                </a:highlight>
                <a:latin typeface="Courier New"/>
                <a:ea typeface="Courier New"/>
                <a:cs typeface="Courier New"/>
                <a:sym typeface="Courier New"/>
              </a:rPr>
              <a:t>)</a:t>
            </a:r>
            <a:endParaRPr sz="4000" b="1" dirty="0"/>
          </a:p>
        </p:txBody>
      </p:sp>
      <p:sp>
        <p:nvSpPr>
          <p:cNvPr id="4" name="Google Shape;412;p56">
            <a:extLst>
              <a:ext uri="{FF2B5EF4-FFF2-40B4-BE49-F238E27FC236}">
                <a16:creationId xmlns:a16="http://schemas.microsoft.com/office/drawing/2014/main" id="{03AF3A1C-8B8A-63BD-AC98-68E74855E82E}"/>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I/O</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Google Shape;412;p56">
            <a:extLst>
              <a:ext uri="{FF2B5EF4-FFF2-40B4-BE49-F238E27FC236}">
                <a16:creationId xmlns:a16="http://schemas.microsoft.com/office/drawing/2014/main" id="{93073A82-4990-E6E6-6848-2B13F12046E1}"/>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Standard Input</a:t>
            </a:r>
          </a:p>
        </p:txBody>
      </p:sp>
      <p:sp>
        <p:nvSpPr>
          <p:cNvPr id="2" name="Google Shape;431;p57">
            <a:extLst>
              <a:ext uri="{FF2B5EF4-FFF2-40B4-BE49-F238E27FC236}">
                <a16:creationId xmlns:a16="http://schemas.microsoft.com/office/drawing/2014/main" id="{098CB8C4-8E4C-1C41-3456-A079E1F030A8}"/>
              </a:ext>
            </a:extLst>
          </p:cNvPr>
          <p:cNvSpPr txBox="1">
            <a:spLocks/>
          </p:cNvSpPr>
          <p:nvPr/>
        </p:nvSpPr>
        <p:spPr>
          <a:xfrm>
            <a:off x="1537255" y="6705206"/>
            <a:ext cx="14149600" cy="1720337"/>
          </a:xfrm>
          <a:prstGeom prst="rect">
            <a:avLst/>
          </a:prstGeom>
        </p:spPr>
        <p:txBody>
          <a:bodyPr spcFirstLastPara="1" vert="horz" wrap="square" lIns="243800" tIns="243800" rIns="243800" bIns="243800" rtlCol="0" anchor="t" anchorCtr="0">
            <a:no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389519" indent="0">
              <a:buNone/>
            </a:pPr>
            <a:r>
              <a:rPr lang="en-US" sz="4000" dirty="0">
                <a:solidFill>
                  <a:srgbClr val="000000"/>
                </a:solidFill>
                <a:highlight>
                  <a:srgbClr val="FFFFFE"/>
                </a:highlight>
                <a:latin typeface="Courier New"/>
                <a:ea typeface="Courier New"/>
                <a:cs typeface="Courier New"/>
                <a:sym typeface="Courier New"/>
              </a:rPr>
              <a:t>x =</a:t>
            </a:r>
            <a:r>
              <a:rPr lang="en-US" sz="4000" dirty="0">
                <a:solidFill>
                  <a:srgbClr val="795E26"/>
                </a:solidFill>
                <a:highlight>
                  <a:srgbClr val="FFFFFE"/>
                </a:highlight>
                <a:latin typeface="Courier New"/>
                <a:ea typeface="Courier New"/>
                <a:cs typeface="Courier New"/>
                <a:sym typeface="Courier New"/>
              </a:rPr>
              <a:t> input</a:t>
            </a:r>
            <a:r>
              <a:rPr lang="en-US" sz="4000" dirty="0">
                <a:solidFill>
                  <a:srgbClr val="000000"/>
                </a:solidFill>
                <a:highlight>
                  <a:srgbClr val="FFFFFE"/>
                </a:highlight>
                <a:latin typeface="Courier New"/>
                <a:ea typeface="Courier New"/>
                <a:cs typeface="Courier New"/>
                <a:sym typeface="Courier New"/>
              </a:rPr>
              <a:t>(</a:t>
            </a:r>
            <a:r>
              <a:rPr lang="en" sz="4000" dirty="0">
                <a:solidFill>
                  <a:srgbClr val="A31515"/>
                </a:solidFill>
                <a:highlight>
                  <a:srgbClr val="FFFFFE"/>
                </a:highlight>
                <a:latin typeface="Courier New"/>
                <a:ea typeface="Courier New"/>
                <a:cs typeface="Courier New"/>
                <a:sym typeface="Courier New"/>
              </a:rPr>
              <a:t>'</a:t>
            </a:r>
            <a:r>
              <a:rPr lang="en-US" sz="4000" dirty="0">
                <a:solidFill>
                  <a:srgbClr val="A31515"/>
                </a:solidFill>
                <a:highlight>
                  <a:srgbClr val="FFFFFE"/>
                </a:highlight>
                <a:latin typeface="Courier New"/>
                <a:ea typeface="Courier New"/>
                <a:cs typeface="Courier New"/>
                <a:sym typeface="Courier New"/>
              </a:rPr>
              <a:t>Please think of a month</a:t>
            </a:r>
            <a:r>
              <a:rPr lang="en" sz="4000" dirty="0">
                <a:solidFill>
                  <a:srgbClr val="A31515"/>
                </a:solidFill>
                <a:highlight>
                  <a:srgbClr val="FFFFFE"/>
                </a:highlight>
                <a:latin typeface="Courier New"/>
                <a:ea typeface="Courier New"/>
                <a:cs typeface="Courier New"/>
                <a:sym typeface="Courier New"/>
              </a:rPr>
              <a:t>'</a:t>
            </a:r>
            <a:r>
              <a:rPr lang="en-US" sz="4000" dirty="0">
                <a:solidFill>
                  <a:srgbClr val="000000"/>
                </a:solidFill>
                <a:highlight>
                  <a:srgbClr val="FFFFFE"/>
                </a:highlight>
                <a:latin typeface="Courier New"/>
                <a:ea typeface="Courier New"/>
                <a:cs typeface="Courier New"/>
                <a:sym typeface="Courier New"/>
              </a:rPr>
              <a:t>)</a:t>
            </a:r>
          </a:p>
          <a:p>
            <a:pPr marL="389519" indent="0">
              <a:buNone/>
            </a:pPr>
            <a:r>
              <a:rPr lang="en-US" sz="4000" dirty="0">
                <a:solidFill>
                  <a:srgbClr val="000000"/>
                </a:solidFill>
                <a:highlight>
                  <a:srgbClr val="FFFFFE"/>
                </a:highlight>
                <a:latin typeface="Courier New"/>
                <a:cs typeface="Courier New"/>
                <a:sym typeface="Courier New"/>
              </a:rPr>
              <a:t>print(x)</a:t>
            </a:r>
            <a:endParaRPr lang="en-US" sz="4000" dirty="0"/>
          </a:p>
        </p:txBody>
      </p:sp>
    </p:spTree>
    <p:extLst>
      <p:ext uri="{BB962C8B-B14F-4D97-AF65-F5344CB8AC3E}">
        <p14:creationId xmlns:p14="http://schemas.microsoft.com/office/powerpoint/2010/main" val="36100938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31"/>
                                        </p:tgtEl>
                                        <p:attrNameLst>
                                          <p:attrName>style.visibility</p:attrName>
                                        </p:attrNameLst>
                                      </p:cBhvr>
                                      <p:to>
                                        <p:strVal val="visible"/>
                                      </p:to>
                                    </p:set>
                                    <p:animEffect transition="in" filter="fade">
                                      <p:cBhvr>
                                        <p:cTn id="7" dur="400"/>
                                        <p:tgtEl>
                                          <p:spTgt spid="4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12" name="Google Shape;412;p56"/>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I/O</a:t>
            </a:r>
          </a:p>
        </p:txBody>
      </p:sp>
      <p:sp>
        <p:nvSpPr>
          <p:cNvPr id="413" name="Google Shape;413;p56"/>
          <p:cNvSpPr txBox="1">
            <a:spLocks noGrp="1"/>
          </p:cNvSpPr>
          <p:nvPr>
            <p:ph type="body" idx="4294967295"/>
          </p:nvPr>
        </p:nvSpPr>
        <p:spPr>
          <a:xfrm>
            <a:off x="665463" y="3528843"/>
            <a:ext cx="19764483" cy="2096810"/>
          </a:xfrm>
          <a:prstGeom prst="rect">
            <a:avLst/>
          </a:prstGeom>
        </p:spPr>
        <p:txBody>
          <a:bodyPr spcFirstLastPara="1" vert="horz" wrap="square" lIns="243800" tIns="243800" rIns="243800" bIns="243800" rtlCol="0" anchor="t" anchorCtr="0">
            <a:noAutofit/>
          </a:bodyPr>
          <a:lstStyle/>
          <a:p>
            <a:pPr marL="389519" indent="0">
              <a:spcBef>
                <a:spcPts val="0"/>
              </a:spcBef>
              <a:buSzPts val="1300"/>
              <a:buNone/>
            </a:pPr>
            <a:r>
              <a:rPr lang="en" sz="4000" dirty="0">
                <a:solidFill>
                  <a:schemeClr val="accent6">
                    <a:lumMod val="75000"/>
                  </a:schemeClr>
                </a:solidFill>
                <a:highlight>
                  <a:srgbClr val="FFFFFE"/>
                </a:highlight>
                <a:latin typeface="Courier New"/>
                <a:ea typeface="Courier New"/>
                <a:cs typeface="Courier New"/>
                <a:sym typeface="Courier New"/>
              </a:rPr>
              <a:t># input from file</a:t>
            </a:r>
            <a:endParaRPr lang="en-US" sz="4000" dirty="0">
              <a:solidFill>
                <a:srgbClr val="7030A0"/>
              </a:solidFill>
              <a:highlight>
                <a:srgbClr val="FFFFFE"/>
              </a:highlight>
              <a:latin typeface="Courier New"/>
              <a:ea typeface="Courier New"/>
              <a:cs typeface="Courier New"/>
              <a:sym typeface="Courier New"/>
            </a:endParaRPr>
          </a:p>
          <a:p>
            <a:pPr marL="389519" indent="0">
              <a:spcBef>
                <a:spcPts val="0"/>
              </a:spcBef>
              <a:buSzPts val="1300"/>
              <a:buNone/>
            </a:pPr>
            <a:r>
              <a:rPr lang="en-US" sz="4000" dirty="0">
                <a:solidFill>
                  <a:srgbClr val="7030A0"/>
                </a:solidFill>
                <a:highlight>
                  <a:srgbClr val="FFFFFE"/>
                </a:highlight>
                <a:latin typeface="Courier New"/>
                <a:ea typeface="Courier New"/>
                <a:cs typeface="Courier New"/>
                <a:sym typeface="Courier New"/>
              </a:rPr>
              <a:t>w</a:t>
            </a:r>
            <a:r>
              <a:rPr lang="en" sz="4000" dirty="0" err="1">
                <a:solidFill>
                  <a:srgbClr val="7030A0"/>
                </a:solidFill>
                <a:highlight>
                  <a:srgbClr val="FFFFFE"/>
                </a:highlight>
                <a:latin typeface="Courier New"/>
                <a:ea typeface="Courier New"/>
                <a:cs typeface="Courier New"/>
                <a:sym typeface="Courier New"/>
              </a:rPr>
              <a:t>ith</a:t>
            </a:r>
            <a:r>
              <a:rPr lang="en" sz="4000" dirty="0">
                <a:solidFill>
                  <a:srgbClr val="000000"/>
                </a:solidFill>
                <a:highlight>
                  <a:srgbClr val="FFFFFE"/>
                </a:highlight>
                <a:latin typeface="Courier New"/>
                <a:ea typeface="Courier New"/>
                <a:cs typeface="Courier New"/>
                <a:sym typeface="Courier New"/>
              </a:rPr>
              <a:t> open(</a:t>
            </a:r>
            <a:r>
              <a:rPr lang="en" sz="4000" dirty="0" err="1">
                <a:solidFill>
                  <a:srgbClr val="000000"/>
                </a:solidFill>
                <a:highlight>
                  <a:srgbClr val="FFFFFE"/>
                </a:highlight>
                <a:latin typeface="Courier New"/>
                <a:ea typeface="Courier New"/>
                <a:cs typeface="Courier New"/>
                <a:sym typeface="Courier New"/>
              </a:rPr>
              <a:t>file_name</a:t>
            </a:r>
            <a:r>
              <a:rPr lang="en" sz="4000" dirty="0">
                <a:solidFill>
                  <a:srgbClr val="000000"/>
                </a:solidFill>
                <a:highlight>
                  <a:srgbClr val="FFFFFE"/>
                </a:highlight>
                <a:latin typeface="Courier New"/>
                <a:ea typeface="Courier New"/>
                <a:cs typeface="Courier New"/>
                <a:sym typeface="Courier New"/>
              </a:rPr>
              <a:t>, </a:t>
            </a:r>
            <a:r>
              <a:rPr lang="en" sz="4000" dirty="0">
                <a:solidFill>
                  <a:srgbClr val="A31515"/>
                </a:solidFill>
                <a:highlight>
                  <a:srgbClr val="FFFFFE"/>
                </a:highlight>
                <a:latin typeface="Courier New"/>
                <a:ea typeface="Courier New"/>
                <a:cs typeface="Courier New"/>
                <a:sym typeface="Courier New"/>
              </a:rPr>
              <a:t>'r'</a:t>
            </a:r>
            <a:r>
              <a:rPr lang="en" sz="4000" dirty="0">
                <a:solidFill>
                  <a:srgbClr val="000000"/>
                </a:solidFill>
                <a:highlight>
                  <a:srgbClr val="FFFFFE"/>
                </a:highlight>
                <a:latin typeface="Courier New"/>
                <a:ea typeface="Courier New"/>
                <a:cs typeface="Courier New"/>
                <a:sym typeface="Courier New"/>
              </a:rPr>
              <a:t>) as f:</a:t>
            </a:r>
            <a:endParaRPr lang="en" sz="4000" dirty="0">
              <a:solidFill>
                <a:schemeClr val="accent6">
                  <a:lumMod val="75000"/>
                </a:schemeClr>
              </a:solidFill>
              <a:highlight>
                <a:srgbClr val="FFFFFE"/>
              </a:highlight>
              <a:latin typeface="Courier New"/>
              <a:ea typeface="Courier New"/>
              <a:cs typeface="Courier New"/>
              <a:sym typeface="Courier New"/>
            </a:endParaRPr>
          </a:p>
          <a:p>
            <a:pPr marL="389519" indent="0">
              <a:spcBef>
                <a:spcPts val="0"/>
              </a:spcBef>
              <a:buSzPts val="1300"/>
              <a:buNone/>
            </a:pPr>
            <a:r>
              <a:rPr lang="en" sz="4000" dirty="0">
                <a:solidFill>
                  <a:srgbClr val="000000"/>
                </a:solidFill>
                <a:highlight>
                  <a:srgbClr val="FFFFFE"/>
                </a:highlight>
                <a:latin typeface="Courier New"/>
                <a:ea typeface="Courier New"/>
                <a:cs typeface="Courier New"/>
                <a:sym typeface="Courier New"/>
              </a:rPr>
              <a:t>    lines = </a:t>
            </a:r>
            <a:r>
              <a:rPr lang="en" sz="4000" dirty="0" err="1">
                <a:solidFill>
                  <a:srgbClr val="000000"/>
                </a:solidFill>
                <a:highlight>
                  <a:srgbClr val="FFFFFE"/>
                </a:highlight>
                <a:latin typeface="Courier New"/>
                <a:ea typeface="Courier New"/>
                <a:cs typeface="Courier New"/>
                <a:sym typeface="Courier New"/>
              </a:rPr>
              <a:t>f.readlines</a:t>
            </a:r>
            <a:r>
              <a:rPr lang="en" sz="4000" dirty="0">
                <a:solidFill>
                  <a:srgbClr val="000000"/>
                </a:solidFill>
                <a:highlight>
                  <a:srgbClr val="FFFFFE"/>
                </a:highlight>
                <a:latin typeface="Courier New"/>
                <a:ea typeface="Courier New"/>
                <a:cs typeface="Courier New"/>
                <a:sym typeface="Courier New"/>
              </a:rPr>
              <a:t>()</a:t>
            </a:r>
          </a:p>
          <a:p>
            <a:pPr marL="389519" indent="0">
              <a:spcBef>
                <a:spcPts val="0"/>
              </a:spcBef>
              <a:buSzPts val="1300"/>
              <a:buNone/>
            </a:pPr>
            <a:r>
              <a:rPr lang="en" sz="4000" dirty="0">
                <a:solidFill>
                  <a:srgbClr val="000000"/>
                </a:solidFill>
                <a:highlight>
                  <a:srgbClr val="FFFFFE"/>
                </a:highlight>
                <a:latin typeface="Courier New"/>
                <a:ea typeface="Courier New"/>
                <a:cs typeface="Courier New"/>
                <a:sym typeface="Courier New"/>
              </a:rPr>
              <a:t>    </a:t>
            </a:r>
          </a:p>
        </p:txBody>
      </p:sp>
      <p:sp>
        <p:nvSpPr>
          <p:cNvPr id="2" name="Google Shape;412;p56">
            <a:extLst>
              <a:ext uri="{FF2B5EF4-FFF2-40B4-BE49-F238E27FC236}">
                <a16:creationId xmlns:a16="http://schemas.microsoft.com/office/drawing/2014/main" id="{980F0F97-3F6C-CD51-0C71-2E21352F92BB}"/>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File I/O</a:t>
            </a:r>
          </a:p>
        </p:txBody>
      </p:sp>
      <p:sp>
        <p:nvSpPr>
          <p:cNvPr id="6" name="Google Shape;413;p56">
            <a:extLst>
              <a:ext uri="{FF2B5EF4-FFF2-40B4-BE49-F238E27FC236}">
                <a16:creationId xmlns:a16="http://schemas.microsoft.com/office/drawing/2014/main" id="{DBC17D04-0600-009C-5B98-524732DC692F}"/>
              </a:ext>
            </a:extLst>
          </p:cNvPr>
          <p:cNvSpPr txBox="1">
            <a:spLocks/>
          </p:cNvSpPr>
          <p:nvPr/>
        </p:nvSpPr>
        <p:spPr>
          <a:xfrm>
            <a:off x="665463" y="6957843"/>
            <a:ext cx="19764483" cy="2096810"/>
          </a:xfrm>
          <a:prstGeom prst="rect">
            <a:avLst/>
          </a:prstGeom>
        </p:spPr>
        <p:txBody>
          <a:bodyPr spcFirstLastPara="1" vert="horz" wrap="square" lIns="243800" tIns="243800" rIns="243800" bIns="243800" rtlCol="0" anchor="t" anchorCtr="0">
            <a:noAutofit/>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389519" indent="0">
              <a:spcBef>
                <a:spcPts val="0"/>
              </a:spcBef>
              <a:buSzPts val="1300"/>
              <a:buFont typeface="Arial" panose="020B0604020202020204" pitchFamily="34" charset="0"/>
              <a:buNone/>
            </a:pPr>
            <a:r>
              <a:rPr lang="en" sz="4000" dirty="0">
                <a:solidFill>
                  <a:schemeClr val="accent6">
                    <a:lumMod val="75000"/>
                  </a:schemeClr>
                </a:solidFill>
                <a:highlight>
                  <a:srgbClr val="FFFFFE"/>
                </a:highlight>
                <a:latin typeface="Courier New"/>
                <a:ea typeface="Courier New"/>
                <a:cs typeface="Courier New"/>
                <a:sym typeface="Courier New"/>
              </a:rPr>
              <a:t># write to file</a:t>
            </a:r>
            <a:endParaRPr lang="en-US" sz="4000" dirty="0">
              <a:solidFill>
                <a:srgbClr val="7030A0"/>
              </a:solidFill>
              <a:highlight>
                <a:srgbClr val="FFFFFE"/>
              </a:highlight>
              <a:latin typeface="Courier New"/>
              <a:ea typeface="Courier New"/>
              <a:cs typeface="Courier New"/>
              <a:sym typeface="Courier New"/>
            </a:endParaRPr>
          </a:p>
          <a:p>
            <a:pPr marL="389519" indent="0">
              <a:spcBef>
                <a:spcPts val="0"/>
              </a:spcBef>
              <a:buSzPts val="1300"/>
              <a:buFont typeface="Arial" panose="020B0604020202020204" pitchFamily="34" charset="0"/>
              <a:buNone/>
            </a:pPr>
            <a:r>
              <a:rPr lang="en-US" sz="4000" dirty="0">
                <a:solidFill>
                  <a:srgbClr val="7030A0"/>
                </a:solidFill>
                <a:highlight>
                  <a:srgbClr val="FFFFFE"/>
                </a:highlight>
                <a:latin typeface="Courier New"/>
                <a:ea typeface="Courier New"/>
                <a:cs typeface="Courier New"/>
                <a:sym typeface="Courier New"/>
              </a:rPr>
              <a:t>w</a:t>
            </a:r>
            <a:r>
              <a:rPr lang="en" sz="4000" dirty="0" err="1">
                <a:solidFill>
                  <a:srgbClr val="7030A0"/>
                </a:solidFill>
                <a:highlight>
                  <a:srgbClr val="FFFFFE"/>
                </a:highlight>
                <a:latin typeface="Courier New"/>
                <a:ea typeface="Courier New"/>
                <a:cs typeface="Courier New"/>
                <a:sym typeface="Courier New"/>
              </a:rPr>
              <a:t>ith</a:t>
            </a:r>
            <a:r>
              <a:rPr lang="en" sz="4000" dirty="0">
                <a:solidFill>
                  <a:srgbClr val="000000"/>
                </a:solidFill>
                <a:highlight>
                  <a:srgbClr val="FFFFFE"/>
                </a:highlight>
                <a:latin typeface="Courier New"/>
                <a:ea typeface="Courier New"/>
                <a:cs typeface="Courier New"/>
                <a:sym typeface="Courier New"/>
              </a:rPr>
              <a:t> open(</a:t>
            </a:r>
            <a:r>
              <a:rPr lang="en" sz="4000" dirty="0" err="1">
                <a:solidFill>
                  <a:srgbClr val="000000"/>
                </a:solidFill>
                <a:highlight>
                  <a:srgbClr val="FFFFFE"/>
                </a:highlight>
                <a:latin typeface="Courier New"/>
                <a:ea typeface="Courier New"/>
                <a:cs typeface="Courier New"/>
                <a:sym typeface="Courier New"/>
              </a:rPr>
              <a:t>file_name</a:t>
            </a:r>
            <a:r>
              <a:rPr lang="en" sz="4000" dirty="0">
                <a:solidFill>
                  <a:srgbClr val="000000"/>
                </a:solidFill>
                <a:highlight>
                  <a:srgbClr val="FFFFFE"/>
                </a:highlight>
                <a:latin typeface="Courier New"/>
                <a:ea typeface="Courier New"/>
                <a:cs typeface="Courier New"/>
                <a:sym typeface="Courier New"/>
              </a:rPr>
              <a:t>, </a:t>
            </a:r>
            <a:r>
              <a:rPr lang="en" sz="4000" dirty="0">
                <a:solidFill>
                  <a:srgbClr val="A31515"/>
                </a:solidFill>
                <a:highlight>
                  <a:srgbClr val="FFFFFE"/>
                </a:highlight>
                <a:latin typeface="Courier New"/>
                <a:ea typeface="Courier New"/>
                <a:cs typeface="Courier New"/>
                <a:sym typeface="Courier New"/>
              </a:rPr>
              <a:t>‘w'</a:t>
            </a:r>
            <a:r>
              <a:rPr lang="en" sz="4000" dirty="0">
                <a:solidFill>
                  <a:srgbClr val="000000"/>
                </a:solidFill>
                <a:highlight>
                  <a:srgbClr val="FFFFFE"/>
                </a:highlight>
                <a:latin typeface="Courier New"/>
                <a:ea typeface="Courier New"/>
                <a:cs typeface="Courier New"/>
                <a:sym typeface="Courier New"/>
              </a:rPr>
              <a:t>) as f:</a:t>
            </a:r>
            <a:endParaRPr lang="en" sz="4000" dirty="0">
              <a:solidFill>
                <a:schemeClr val="accent6">
                  <a:lumMod val="75000"/>
                </a:schemeClr>
              </a:solidFill>
              <a:highlight>
                <a:srgbClr val="FFFFFE"/>
              </a:highlight>
              <a:latin typeface="Courier New"/>
              <a:ea typeface="Courier New"/>
              <a:cs typeface="Courier New"/>
              <a:sym typeface="Courier New"/>
            </a:endParaRPr>
          </a:p>
          <a:p>
            <a:pPr marL="389519" indent="0">
              <a:spcBef>
                <a:spcPts val="0"/>
              </a:spcBef>
              <a:buSzPts val="1300"/>
              <a:buFont typeface="Arial" panose="020B0604020202020204" pitchFamily="34" charset="0"/>
              <a:buNone/>
            </a:pPr>
            <a:r>
              <a:rPr lang="en" sz="4000" dirty="0">
                <a:solidFill>
                  <a:srgbClr val="000000"/>
                </a:solidFill>
                <a:highlight>
                  <a:srgbClr val="FFFFFE"/>
                </a:highlight>
                <a:latin typeface="Courier New"/>
                <a:ea typeface="Courier New"/>
                <a:cs typeface="Courier New"/>
                <a:sym typeface="Courier New"/>
              </a:rPr>
              <a:t>    </a:t>
            </a:r>
            <a:r>
              <a:rPr lang="en" sz="4000" dirty="0" err="1">
                <a:solidFill>
                  <a:srgbClr val="000000"/>
                </a:solidFill>
                <a:highlight>
                  <a:srgbClr val="FFFFFE"/>
                </a:highlight>
                <a:latin typeface="Courier New"/>
                <a:ea typeface="Courier New"/>
                <a:cs typeface="Courier New"/>
                <a:sym typeface="Courier New"/>
              </a:rPr>
              <a:t>f.write</a:t>
            </a:r>
            <a:r>
              <a:rPr lang="en" sz="4000" dirty="0">
                <a:solidFill>
                  <a:srgbClr val="000000"/>
                </a:solidFill>
                <a:highlight>
                  <a:srgbClr val="FFFFFE"/>
                </a:highlight>
                <a:latin typeface="Courier New"/>
                <a:ea typeface="Courier New"/>
                <a:cs typeface="Courier New"/>
                <a:sym typeface="Courier New"/>
              </a:rPr>
              <a:t>(content)</a:t>
            </a:r>
          </a:p>
          <a:p>
            <a:pPr marL="389519" indent="0">
              <a:spcBef>
                <a:spcPts val="0"/>
              </a:spcBef>
              <a:buSzPts val="1300"/>
              <a:buFont typeface="Arial" panose="020B0604020202020204" pitchFamily="34" charset="0"/>
              <a:buNone/>
            </a:pPr>
            <a:r>
              <a:rPr lang="en" sz="4000" dirty="0">
                <a:solidFill>
                  <a:srgbClr val="000000"/>
                </a:solidFill>
                <a:highlight>
                  <a:srgbClr val="FFFFFE"/>
                </a:highlight>
                <a:latin typeface="Courier New"/>
                <a:ea typeface="Courier New"/>
                <a:cs typeface="Courier New"/>
                <a:sym typeface="Courier New"/>
              </a:rPr>
              <a:t>    </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3">
                                            <p:txEl>
                                              <p:pRg st="1" end="1"/>
                                            </p:txEl>
                                          </p:spTgt>
                                        </p:tgtEl>
                                        <p:attrNameLst>
                                          <p:attrName>style.visibility</p:attrName>
                                        </p:attrNameLst>
                                      </p:cBhvr>
                                      <p:to>
                                        <p:strVal val="visible"/>
                                      </p:to>
                                    </p:set>
                                    <p:animEffect transition="in" filter="fade">
                                      <p:cBhvr>
                                        <p:cTn id="7" dur="400"/>
                                        <p:tgtEl>
                                          <p:spTgt spid="41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13">
                                            <p:txEl>
                                              <p:pRg st="0" end="0"/>
                                            </p:txEl>
                                          </p:spTgt>
                                        </p:tgtEl>
                                        <p:attrNameLst>
                                          <p:attrName>style.visibility</p:attrName>
                                        </p:attrNameLst>
                                      </p:cBhvr>
                                      <p:to>
                                        <p:strVal val="visible"/>
                                      </p:to>
                                    </p:set>
                                    <p:animEffect transition="in" filter="fade">
                                      <p:cBhvr>
                                        <p:cTn id="12" dur="400"/>
                                        <p:tgtEl>
                                          <p:spTgt spid="41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13">
                                            <p:txEl>
                                              <p:pRg st="2" end="2"/>
                                            </p:txEl>
                                          </p:spTgt>
                                        </p:tgtEl>
                                        <p:attrNameLst>
                                          <p:attrName>style.visibility</p:attrName>
                                        </p:attrNameLst>
                                      </p:cBhvr>
                                      <p:to>
                                        <p:strVal val="visible"/>
                                      </p:to>
                                    </p:set>
                                    <p:animEffect transition="in" filter="fade">
                                      <p:cBhvr>
                                        <p:cTn id="17" dur="400"/>
                                        <p:tgtEl>
                                          <p:spTgt spid="4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13">
                                            <p:txEl>
                                              <p:pRg st="3" end="3"/>
                                            </p:txEl>
                                          </p:spTgt>
                                        </p:tgtEl>
                                        <p:attrNameLst>
                                          <p:attrName>style.visibility</p:attrName>
                                        </p:attrNameLst>
                                      </p:cBhvr>
                                      <p:to>
                                        <p:strVal val="visible"/>
                                      </p:to>
                                    </p:set>
                                    <p:animEffect transition="in" filter="fade">
                                      <p:cBhvr>
                                        <p:cTn id="22" dur="400"/>
                                        <p:tgtEl>
                                          <p:spTgt spid="41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fade">
                                      <p:cBhvr>
                                        <p:cTn id="27" dur="4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fade">
                                      <p:cBhvr>
                                        <p:cTn id="32" dur="4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6">
                                            <p:txEl>
                                              <p:pRg st="2" end="2"/>
                                            </p:txEl>
                                          </p:spTgt>
                                        </p:tgtEl>
                                        <p:attrNameLst>
                                          <p:attrName>style.visibility</p:attrName>
                                        </p:attrNameLst>
                                      </p:cBhvr>
                                      <p:to>
                                        <p:strVal val="visible"/>
                                      </p:to>
                                    </p:set>
                                    <p:animEffect transition="in" filter="fade">
                                      <p:cBhvr>
                                        <p:cTn id="37" dur="400"/>
                                        <p:tgtEl>
                                          <p:spTgt spid="6">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6">
                                            <p:txEl>
                                              <p:pRg st="3" end="3"/>
                                            </p:txEl>
                                          </p:spTgt>
                                        </p:tgtEl>
                                        <p:attrNameLst>
                                          <p:attrName>style.visibility</p:attrName>
                                        </p:attrNameLst>
                                      </p:cBhvr>
                                      <p:to>
                                        <p:strVal val="visible"/>
                                      </p:to>
                                    </p:set>
                                    <p:animEffect transition="in" filter="fade">
                                      <p:cBhvr>
                                        <p:cTn id="42" dur="4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59"/>
          <p:cNvSpPr txBox="1">
            <a:spLocks noGrp="1"/>
          </p:cNvSpPr>
          <p:nvPr>
            <p:ph type="body" idx="1"/>
          </p:nvPr>
        </p:nvSpPr>
        <p:spPr>
          <a:xfrm>
            <a:off x="3709488" y="4081925"/>
            <a:ext cx="4729974" cy="1596847"/>
          </a:xfrm>
          <a:prstGeom prst="rect">
            <a:avLst/>
          </a:prstGeom>
        </p:spPr>
        <p:txBody>
          <a:bodyPr spcFirstLastPara="1" vert="horz" wrap="square" lIns="243800" tIns="243800" rIns="243800" bIns="243800" rtlCol="0" anchor="t" anchorCtr="0">
            <a:normAutofit/>
          </a:bodyPr>
          <a:lstStyle/>
          <a:p>
            <a:pPr marL="237099" indent="0">
              <a:buSzPts val="22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52" name="Google Shape;452;p59"/>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6</a:t>
            </a:fld>
            <a:endParaRPr>
              <a:solidFill>
                <a:schemeClr val="accent1"/>
              </a:solidFill>
              <a:latin typeface="Lato"/>
              <a:ea typeface="Lato"/>
              <a:cs typeface="Lato"/>
              <a:sym typeface="Lato"/>
            </a:endParaRPr>
          </a:p>
        </p:txBody>
      </p:sp>
      <p:sp>
        <p:nvSpPr>
          <p:cNvPr id="5" name="Google Shape;412;p56">
            <a:extLst>
              <a:ext uri="{FF2B5EF4-FFF2-40B4-BE49-F238E27FC236}">
                <a16:creationId xmlns:a16="http://schemas.microsoft.com/office/drawing/2014/main" id="{8446853B-5743-653A-5980-540530E354A2}"/>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451;p59">
            <a:extLst>
              <a:ext uri="{FF2B5EF4-FFF2-40B4-BE49-F238E27FC236}">
                <a16:creationId xmlns:a16="http://schemas.microsoft.com/office/drawing/2014/main" id="{8CE076BE-76AC-8F9F-E468-DADC077F9A5B}"/>
              </a:ext>
            </a:extLst>
          </p:cNvPr>
          <p:cNvSpPr txBox="1">
            <a:spLocks/>
          </p:cNvSpPr>
          <p:nvPr/>
        </p:nvSpPr>
        <p:spPr>
          <a:xfrm>
            <a:off x="3709488" y="5057292"/>
            <a:ext cx="7920376"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51;p59">
            <a:extLst>
              <a:ext uri="{FF2B5EF4-FFF2-40B4-BE49-F238E27FC236}">
                <a16:creationId xmlns:a16="http://schemas.microsoft.com/office/drawing/2014/main" id="{A4714A5F-CB5E-27CF-27F0-46324343A062}"/>
              </a:ext>
            </a:extLst>
          </p:cNvPr>
          <p:cNvSpPr txBox="1">
            <a:spLocks/>
          </p:cNvSpPr>
          <p:nvPr/>
        </p:nvSpPr>
        <p:spPr>
          <a:xfrm>
            <a:off x="3709488" y="6032659"/>
            <a:ext cx="10039169"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p:txBody>
      </p:sp>
      <p:sp>
        <p:nvSpPr>
          <p:cNvPr id="8" name="Google Shape;451;p59">
            <a:extLst>
              <a:ext uri="{FF2B5EF4-FFF2-40B4-BE49-F238E27FC236}">
                <a16:creationId xmlns:a16="http://schemas.microsoft.com/office/drawing/2014/main" id="{978B8A83-BC46-4FAE-BB7F-3CEB87E5468D}"/>
              </a:ext>
            </a:extLst>
          </p:cNvPr>
          <p:cNvSpPr txBox="1">
            <a:spLocks/>
          </p:cNvSpPr>
          <p:nvPr/>
        </p:nvSpPr>
        <p:spPr>
          <a:xfrm>
            <a:off x="3709488" y="6980982"/>
            <a:ext cx="8085269" cy="2030752"/>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9" name="Google Shape;451;p59">
            <a:extLst>
              <a:ext uri="{FF2B5EF4-FFF2-40B4-BE49-F238E27FC236}">
                <a16:creationId xmlns:a16="http://schemas.microsoft.com/office/drawing/2014/main" id="{FC3D5995-997E-7F6D-45EE-173AA45E0427}"/>
              </a:ext>
            </a:extLst>
          </p:cNvPr>
          <p:cNvSpPr txBox="1">
            <a:spLocks/>
          </p:cNvSpPr>
          <p:nvPr/>
        </p:nvSpPr>
        <p:spPr>
          <a:xfrm>
            <a:off x="3709488" y="7956349"/>
            <a:ext cx="9578717" cy="1775476"/>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60" name="Google Shape;460;p60"/>
          <p:cNvSpPr txBox="1">
            <a:spLocks noGrp="1"/>
          </p:cNvSpPr>
          <p:nvPr>
            <p:ph type="body" idx="1"/>
          </p:nvPr>
        </p:nvSpPr>
        <p:spPr>
          <a:xfrm>
            <a:off x="1941987" y="5527333"/>
            <a:ext cx="5349600" cy="1208000"/>
          </a:xfrm>
          <a:prstGeom prst="rect">
            <a:avLst/>
          </a:prstGeom>
        </p:spPr>
        <p:txBody>
          <a:bodyPr spcFirstLastPara="1" vert="horz" wrap="square" lIns="243800" tIns="243800" rIns="243800" bIns="243800" rtlCol="0" anchor="t" anchorCtr="0">
            <a:noAutofit/>
          </a:bodyPr>
          <a:lstStyle/>
          <a:p>
            <a:pPr marL="389519" indent="0">
              <a:lnSpc>
                <a:spcPct val="135714"/>
              </a:lnSpc>
              <a:buNone/>
            </a:pPr>
            <a:r>
              <a:rPr lang="en" sz="4000" dirty="0">
                <a:solidFill>
                  <a:srgbClr val="000000"/>
                </a:solidFill>
              </a:rPr>
              <a:t>Single indexing</a:t>
            </a:r>
            <a:endParaRPr sz="4000" dirty="0"/>
          </a:p>
        </p:txBody>
      </p:sp>
      <p:sp>
        <p:nvSpPr>
          <p:cNvPr id="465" name="Google Shape;465;p60"/>
          <p:cNvSpPr txBox="1">
            <a:spLocks noGrp="1"/>
          </p:cNvSpPr>
          <p:nvPr>
            <p:ph type="body" idx="4294967295"/>
          </p:nvPr>
        </p:nvSpPr>
        <p:spPr>
          <a:xfrm>
            <a:off x="1997520" y="8560054"/>
            <a:ext cx="4521200" cy="1493837"/>
          </a:xfrm>
          <a:prstGeom prst="rect">
            <a:avLst/>
          </a:prstGeom>
        </p:spPr>
        <p:txBody>
          <a:bodyPr spcFirstLastPara="1" vert="horz" wrap="square" lIns="243800" tIns="243800" rIns="243800" bIns="243800" rtlCol="0" anchor="t" anchorCtr="0">
            <a:normAutofit/>
          </a:bodyPr>
          <a:lstStyle/>
          <a:p>
            <a:pPr marL="389519" indent="0">
              <a:lnSpc>
                <a:spcPct val="135714"/>
              </a:lnSpc>
              <a:spcBef>
                <a:spcPts val="0"/>
              </a:spcBef>
              <a:buSzPts val="1300"/>
              <a:buNone/>
            </a:pPr>
            <a:r>
              <a:rPr lang="en" sz="4000" dirty="0">
                <a:solidFill>
                  <a:srgbClr val="000000"/>
                </a:solidFill>
              </a:rPr>
              <a:t>List slicing</a:t>
            </a:r>
            <a:endParaRPr sz="4000" dirty="0"/>
          </a:p>
        </p:txBody>
      </p:sp>
      <p:sp>
        <p:nvSpPr>
          <p:cNvPr id="461" name="Google Shape;461;p60"/>
          <p:cNvSpPr txBox="1"/>
          <p:nvPr/>
        </p:nvSpPr>
        <p:spPr>
          <a:xfrm>
            <a:off x="12598442" y="3604476"/>
            <a:ext cx="5795200" cy="2008000"/>
          </a:xfrm>
          <a:prstGeom prst="rect">
            <a:avLst/>
          </a:prstGeom>
          <a:noFill/>
          <a:ln>
            <a:noFill/>
          </a:ln>
        </p:spPr>
        <p:txBody>
          <a:bodyPr spcFirstLastPara="1" wrap="square" lIns="243800" tIns="243800" rIns="243800" bIns="243800" anchor="t" anchorCtr="0">
            <a:noAutofit/>
          </a:bodyPr>
          <a:lstStyle/>
          <a:p>
            <a:r>
              <a:rPr lang="en" sz="8000" dirty="0">
                <a:latin typeface="Lato"/>
                <a:ea typeface="Lato"/>
                <a:cs typeface="Lato"/>
                <a:sym typeface="Lato"/>
              </a:rPr>
              <a:t>[a, b, c, d, e]</a:t>
            </a:r>
            <a:endParaRPr sz="8000" dirty="0">
              <a:latin typeface="Lato"/>
              <a:ea typeface="Lato"/>
              <a:cs typeface="Lato"/>
              <a:sym typeface="Lato"/>
            </a:endParaRPr>
          </a:p>
          <a:p>
            <a:r>
              <a:rPr lang="en" sz="3200" dirty="0">
                <a:latin typeface="Lato"/>
                <a:ea typeface="Lato"/>
                <a:cs typeface="Lato"/>
                <a:sym typeface="Lato"/>
              </a:rPr>
              <a:t>     0       1        2       3       4</a:t>
            </a:r>
            <a:endParaRPr sz="3200" dirty="0">
              <a:latin typeface="Lato"/>
              <a:ea typeface="Lato"/>
              <a:cs typeface="Lato"/>
              <a:sym typeface="Lato"/>
            </a:endParaRPr>
          </a:p>
          <a:p>
            <a:r>
              <a:rPr lang="en" sz="3200" dirty="0">
                <a:latin typeface="Lato"/>
                <a:ea typeface="Lato"/>
                <a:cs typeface="Lato"/>
                <a:sym typeface="Lato"/>
              </a:rPr>
              <a:t>    -5     -4       -3     -2     -1</a:t>
            </a:r>
            <a:endParaRPr sz="3200" dirty="0">
              <a:latin typeface="Lato"/>
              <a:ea typeface="Lato"/>
              <a:cs typeface="Lato"/>
              <a:sym typeface="Lato"/>
            </a:endParaRPr>
          </a:p>
          <a:p>
            <a:r>
              <a:rPr lang="en" sz="3200" dirty="0">
                <a:latin typeface="Lato"/>
                <a:ea typeface="Lato"/>
                <a:cs typeface="Lato"/>
                <a:sym typeface="Lato"/>
              </a:rPr>
              <a:t>    </a:t>
            </a:r>
            <a:endParaRPr sz="3200" dirty="0">
              <a:latin typeface="Lato"/>
              <a:ea typeface="Lato"/>
              <a:cs typeface="Lato"/>
              <a:sym typeface="Lato"/>
            </a:endParaRPr>
          </a:p>
          <a:p>
            <a:endParaRPr sz="3200" dirty="0">
              <a:latin typeface="Lato"/>
              <a:ea typeface="Lato"/>
              <a:cs typeface="Lato"/>
              <a:sym typeface="Lato"/>
            </a:endParaRPr>
          </a:p>
          <a:p>
            <a:endParaRPr sz="3200" dirty="0">
              <a:latin typeface="Lato"/>
              <a:ea typeface="Lato"/>
              <a:cs typeface="Lato"/>
              <a:sym typeface="Lato"/>
            </a:endParaRPr>
          </a:p>
        </p:txBody>
      </p:sp>
      <p:sp>
        <p:nvSpPr>
          <p:cNvPr id="463" name="Google Shape;463;p60"/>
          <p:cNvSpPr txBox="1"/>
          <p:nvPr/>
        </p:nvSpPr>
        <p:spPr>
          <a:xfrm>
            <a:off x="2415320" y="6735334"/>
            <a:ext cx="36856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list_name[ ]</a:t>
            </a:r>
            <a:endParaRPr sz="3467">
              <a:latin typeface="Courier New"/>
              <a:ea typeface="Courier New"/>
              <a:cs typeface="Courier New"/>
              <a:sym typeface="Courier New"/>
            </a:endParaRPr>
          </a:p>
        </p:txBody>
      </p:sp>
      <p:sp>
        <p:nvSpPr>
          <p:cNvPr id="464" name="Google Shape;464;p60"/>
          <p:cNvSpPr txBox="1"/>
          <p:nvPr/>
        </p:nvSpPr>
        <p:spPr>
          <a:xfrm>
            <a:off x="5063600" y="6735333"/>
            <a:ext cx="6536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i</a:t>
            </a:r>
            <a:endParaRPr sz="12800"/>
          </a:p>
        </p:txBody>
      </p:sp>
      <p:sp>
        <p:nvSpPr>
          <p:cNvPr id="466" name="Google Shape;466;p60"/>
          <p:cNvSpPr txBox="1"/>
          <p:nvPr/>
        </p:nvSpPr>
        <p:spPr>
          <a:xfrm>
            <a:off x="5063600" y="6735333"/>
            <a:ext cx="6536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0</a:t>
            </a:r>
            <a:endParaRPr sz="12800"/>
          </a:p>
        </p:txBody>
      </p:sp>
      <p:sp>
        <p:nvSpPr>
          <p:cNvPr id="467" name="Google Shape;467;p60"/>
          <p:cNvSpPr txBox="1"/>
          <p:nvPr/>
        </p:nvSpPr>
        <p:spPr>
          <a:xfrm>
            <a:off x="5063600" y="6735333"/>
            <a:ext cx="6536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3</a:t>
            </a:r>
            <a:endParaRPr sz="12800"/>
          </a:p>
        </p:txBody>
      </p:sp>
      <p:sp>
        <p:nvSpPr>
          <p:cNvPr id="468" name="Google Shape;468;p60"/>
          <p:cNvSpPr txBox="1"/>
          <p:nvPr/>
        </p:nvSpPr>
        <p:spPr>
          <a:xfrm>
            <a:off x="5063600" y="6735333"/>
            <a:ext cx="6536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1</a:t>
            </a:r>
            <a:endParaRPr sz="12800"/>
          </a:p>
        </p:txBody>
      </p:sp>
      <p:sp>
        <p:nvSpPr>
          <p:cNvPr id="469" name="Google Shape;469;p60"/>
          <p:cNvSpPr/>
          <p:nvPr/>
        </p:nvSpPr>
        <p:spPr>
          <a:xfrm>
            <a:off x="13153642" y="3914609"/>
            <a:ext cx="538400" cy="985600"/>
          </a:xfrm>
          <a:prstGeom prst="rect">
            <a:avLst/>
          </a:prstGeom>
          <a:noFill/>
          <a:ln w="38100" cap="flat" cmpd="sng">
            <a:solidFill>
              <a:schemeClr val="dk2"/>
            </a:solidFill>
            <a:prstDash val="solid"/>
            <a:round/>
            <a:headEnd type="none" w="sm" len="sm"/>
            <a:tailEnd type="none" w="sm" len="sm"/>
          </a:ln>
        </p:spPr>
        <p:txBody>
          <a:bodyPr spcFirstLastPara="1" wrap="square" lIns="243800" tIns="243800" rIns="243800" bIns="243800" anchor="ctr" anchorCtr="0">
            <a:noAutofit/>
          </a:bodyPr>
          <a:lstStyle/>
          <a:p>
            <a:endParaRPr sz="12800"/>
          </a:p>
        </p:txBody>
      </p:sp>
      <p:sp>
        <p:nvSpPr>
          <p:cNvPr id="470" name="Google Shape;470;p60"/>
          <p:cNvSpPr/>
          <p:nvPr/>
        </p:nvSpPr>
        <p:spPr>
          <a:xfrm>
            <a:off x="14104405" y="3914609"/>
            <a:ext cx="538400" cy="985600"/>
          </a:xfrm>
          <a:prstGeom prst="rect">
            <a:avLst/>
          </a:prstGeom>
          <a:noFill/>
          <a:ln w="38100" cap="flat" cmpd="sng">
            <a:solidFill>
              <a:schemeClr val="dk2"/>
            </a:solidFill>
            <a:prstDash val="solid"/>
            <a:round/>
            <a:headEnd type="none" w="sm" len="sm"/>
            <a:tailEnd type="none" w="sm" len="sm"/>
          </a:ln>
        </p:spPr>
        <p:txBody>
          <a:bodyPr spcFirstLastPara="1" wrap="square" lIns="243800" tIns="243800" rIns="243800" bIns="243800" anchor="ctr" anchorCtr="0">
            <a:noAutofit/>
          </a:bodyPr>
          <a:lstStyle/>
          <a:p>
            <a:endParaRPr sz="12800"/>
          </a:p>
        </p:txBody>
      </p:sp>
      <p:sp>
        <p:nvSpPr>
          <p:cNvPr id="471" name="Google Shape;471;p60"/>
          <p:cNvSpPr/>
          <p:nvPr/>
        </p:nvSpPr>
        <p:spPr>
          <a:xfrm>
            <a:off x="16202733" y="3914609"/>
            <a:ext cx="538400" cy="985600"/>
          </a:xfrm>
          <a:prstGeom prst="rect">
            <a:avLst/>
          </a:prstGeom>
          <a:noFill/>
          <a:ln w="38100" cap="flat" cmpd="sng">
            <a:solidFill>
              <a:schemeClr val="dk2"/>
            </a:solidFill>
            <a:prstDash val="solid"/>
            <a:round/>
            <a:headEnd type="none" w="sm" len="sm"/>
            <a:tailEnd type="none" w="sm" len="sm"/>
          </a:ln>
        </p:spPr>
        <p:txBody>
          <a:bodyPr spcFirstLastPara="1" wrap="square" lIns="243800" tIns="243800" rIns="243800" bIns="243800" anchor="ctr" anchorCtr="0">
            <a:noAutofit/>
          </a:bodyPr>
          <a:lstStyle/>
          <a:p>
            <a:endParaRPr sz="12800"/>
          </a:p>
        </p:txBody>
      </p:sp>
      <p:sp>
        <p:nvSpPr>
          <p:cNvPr id="472" name="Google Shape;472;p60"/>
          <p:cNvSpPr txBox="1"/>
          <p:nvPr/>
        </p:nvSpPr>
        <p:spPr>
          <a:xfrm>
            <a:off x="2415320" y="9847800"/>
            <a:ext cx="42712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list_name[ : ]</a:t>
            </a:r>
            <a:endParaRPr sz="3467">
              <a:latin typeface="Courier New"/>
              <a:ea typeface="Courier New"/>
              <a:cs typeface="Courier New"/>
              <a:sym typeface="Courier New"/>
            </a:endParaRPr>
          </a:p>
        </p:txBody>
      </p:sp>
      <p:sp>
        <p:nvSpPr>
          <p:cNvPr id="473" name="Google Shape;473;p60"/>
          <p:cNvSpPr txBox="1"/>
          <p:nvPr/>
        </p:nvSpPr>
        <p:spPr>
          <a:xfrm>
            <a:off x="2415320" y="7548134"/>
            <a:ext cx="40448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list_name[-2]</a:t>
            </a:r>
            <a:endParaRPr sz="3467">
              <a:latin typeface="Courier New"/>
              <a:ea typeface="Courier New"/>
              <a:cs typeface="Courier New"/>
              <a:sym typeface="Courier New"/>
            </a:endParaRPr>
          </a:p>
        </p:txBody>
      </p:sp>
      <p:sp>
        <p:nvSpPr>
          <p:cNvPr id="474" name="Google Shape;474;p60"/>
          <p:cNvSpPr txBox="1"/>
          <p:nvPr/>
        </p:nvSpPr>
        <p:spPr>
          <a:xfrm>
            <a:off x="5056920" y="9847800"/>
            <a:ext cx="13304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i j</a:t>
            </a:r>
            <a:endParaRPr sz="3467">
              <a:latin typeface="Courier New"/>
              <a:ea typeface="Courier New"/>
              <a:cs typeface="Courier New"/>
              <a:sym typeface="Courier New"/>
            </a:endParaRPr>
          </a:p>
        </p:txBody>
      </p:sp>
      <p:sp>
        <p:nvSpPr>
          <p:cNvPr id="475" name="Google Shape;475;p60"/>
          <p:cNvSpPr/>
          <p:nvPr/>
        </p:nvSpPr>
        <p:spPr>
          <a:xfrm>
            <a:off x="14083247" y="3931252"/>
            <a:ext cx="2657885" cy="985600"/>
          </a:xfrm>
          <a:prstGeom prst="rect">
            <a:avLst/>
          </a:prstGeom>
          <a:noFill/>
          <a:ln w="38100" cap="flat" cmpd="sng">
            <a:solidFill>
              <a:schemeClr val="dk2"/>
            </a:solidFill>
            <a:prstDash val="solid"/>
            <a:round/>
            <a:headEnd type="none" w="sm" len="sm"/>
            <a:tailEnd type="none" w="sm" len="sm"/>
          </a:ln>
        </p:spPr>
        <p:txBody>
          <a:bodyPr spcFirstLastPara="1" wrap="square" lIns="243800" tIns="243800" rIns="243800" bIns="243800" anchor="ctr" anchorCtr="0">
            <a:noAutofit/>
          </a:bodyPr>
          <a:lstStyle/>
          <a:p>
            <a:endParaRPr sz="12800"/>
          </a:p>
        </p:txBody>
      </p:sp>
      <p:sp>
        <p:nvSpPr>
          <p:cNvPr id="476" name="Google Shape;476;p60"/>
          <p:cNvSpPr txBox="1"/>
          <p:nvPr/>
        </p:nvSpPr>
        <p:spPr>
          <a:xfrm>
            <a:off x="5056920" y="9847800"/>
            <a:ext cx="1330400" cy="1218010"/>
          </a:xfrm>
          <a:prstGeom prst="rect">
            <a:avLst/>
          </a:prstGeom>
          <a:noFill/>
          <a:ln>
            <a:noFill/>
          </a:ln>
        </p:spPr>
        <p:txBody>
          <a:bodyPr spcFirstLastPara="1" wrap="square" lIns="243800" tIns="243800" rIns="243800" bIns="243800" anchor="t" anchorCtr="0">
            <a:spAutoFit/>
          </a:bodyPr>
          <a:lstStyle/>
          <a:p>
            <a:pPr>
              <a:lnSpc>
                <a:spcPct val="135714"/>
              </a:lnSpc>
            </a:pPr>
            <a:r>
              <a:rPr lang="en" sz="3467">
                <a:latin typeface="Courier New"/>
                <a:ea typeface="Courier New"/>
                <a:cs typeface="Courier New"/>
                <a:sym typeface="Courier New"/>
              </a:rPr>
              <a:t>1 4</a:t>
            </a:r>
            <a:endParaRPr sz="3467">
              <a:latin typeface="Courier New"/>
              <a:ea typeface="Courier New"/>
              <a:cs typeface="Courier New"/>
              <a:sym typeface="Courier New"/>
            </a:endParaRPr>
          </a:p>
        </p:txBody>
      </p:sp>
      <p:sp>
        <p:nvSpPr>
          <p:cNvPr id="4" name="Google Shape;412;p56">
            <a:extLst>
              <a:ext uri="{FF2B5EF4-FFF2-40B4-BE49-F238E27FC236}">
                <a16:creationId xmlns:a16="http://schemas.microsoft.com/office/drawing/2014/main" id="{71104793-3315-CFC3-760A-600CA1B72C96}"/>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Google Shape;412;p56">
            <a:extLst>
              <a:ext uri="{FF2B5EF4-FFF2-40B4-BE49-F238E27FC236}">
                <a16:creationId xmlns:a16="http://schemas.microsoft.com/office/drawing/2014/main" id="{00869013-305C-0352-5546-39001654340D}"/>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0"/>
                                        </p:tgtEl>
                                        <p:attrNameLst>
                                          <p:attrName>style.visibility</p:attrName>
                                        </p:attrNameLst>
                                      </p:cBhvr>
                                      <p:to>
                                        <p:strVal val="visible"/>
                                      </p:to>
                                    </p:set>
                                    <p:animEffect transition="in" filter="fade">
                                      <p:cBhvr>
                                        <p:cTn id="7" dur="400"/>
                                        <p:tgtEl>
                                          <p:spTgt spid="4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63"/>
                                        </p:tgtEl>
                                        <p:attrNameLst>
                                          <p:attrName>style.visibility</p:attrName>
                                        </p:attrNameLst>
                                      </p:cBhvr>
                                      <p:to>
                                        <p:strVal val="visible"/>
                                      </p:to>
                                    </p:set>
                                    <p:animEffect transition="in" filter="fade">
                                      <p:cBhvr>
                                        <p:cTn id="12" dur="400"/>
                                        <p:tgtEl>
                                          <p:spTgt spid="463"/>
                                        </p:tgtEl>
                                      </p:cBhvr>
                                    </p:animEffect>
                                  </p:childTnLst>
                                </p:cTn>
                              </p:par>
                              <p:par>
                                <p:cTn id="13" presetID="10" presetClass="entr" presetSubtype="0" fill="hold" nodeType="withEffect">
                                  <p:stCondLst>
                                    <p:cond delay="0"/>
                                  </p:stCondLst>
                                  <p:childTnLst>
                                    <p:set>
                                      <p:cBhvr>
                                        <p:cTn id="14" dur="1" fill="hold">
                                          <p:stCondLst>
                                            <p:cond delay="0"/>
                                          </p:stCondLst>
                                        </p:cTn>
                                        <p:tgtEl>
                                          <p:spTgt spid="464"/>
                                        </p:tgtEl>
                                        <p:attrNameLst>
                                          <p:attrName>style.visibility</p:attrName>
                                        </p:attrNameLst>
                                      </p:cBhvr>
                                      <p:to>
                                        <p:strVal val="visible"/>
                                      </p:to>
                                    </p:set>
                                    <p:animEffect transition="in" filter="fade">
                                      <p:cBhvr>
                                        <p:cTn id="15" dur="400"/>
                                        <p:tgtEl>
                                          <p:spTgt spid="46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400"/>
                                        <p:tgtEl>
                                          <p:spTgt spid="464"/>
                                        </p:tgtEl>
                                      </p:cBhvr>
                                    </p:animEffect>
                                    <p:set>
                                      <p:cBhvr>
                                        <p:cTn id="20" dur="1" fill="hold">
                                          <p:stCondLst>
                                            <p:cond delay="400"/>
                                          </p:stCondLst>
                                        </p:cTn>
                                        <p:tgtEl>
                                          <p:spTgt spid="464"/>
                                        </p:tgtEl>
                                        <p:attrNameLst>
                                          <p:attrName>style.visibility</p:attrName>
                                        </p:attrNameLst>
                                      </p:cBhvr>
                                      <p:to>
                                        <p:strVal val="hidden"/>
                                      </p:to>
                                    </p:set>
                                  </p:childTnLst>
                                </p:cTn>
                              </p:par>
                              <p:par>
                                <p:cTn id="21" presetID="10" presetClass="entr" presetSubtype="0" fill="hold" nodeType="withEffect">
                                  <p:stCondLst>
                                    <p:cond delay="0"/>
                                  </p:stCondLst>
                                  <p:childTnLst>
                                    <p:set>
                                      <p:cBhvr>
                                        <p:cTn id="22" dur="1" fill="hold">
                                          <p:stCondLst>
                                            <p:cond delay="0"/>
                                          </p:stCondLst>
                                        </p:cTn>
                                        <p:tgtEl>
                                          <p:spTgt spid="466"/>
                                        </p:tgtEl>
                                        <p:attrNameLst>
                                          <p:attrName>style.visibility</p:attrName>
                                        </p:attrNameLst>
                                      </p:cBhvr>
                                      <p:to>
                                        <p:strVal val="visible"/>
                                      </p:to>
                                    </p:set>
                                    <p:animEffect transition="in" filter="fade">
                                      <p:cBhvr>
                                        <p:cTn id="23" dur="400"/>
                                        <p:tgtEl>
                                          <p:spTgt spid="466"/>
                                        </p:tgtEl>
                                      </p:cBhvr>
                                    </p:animEffect>
                                  </p:childTnLst>
                                </p:cTn>
                              </p:par>
                              <p:par>
                                <p:cTn id="24" presetID="10" presetClass="entr" presetSubtype="0" fill="hold" nodeType="withEffect">
                                  <p:stCondLst>
                                    <p:cond delay="0"/>
                                  </p:stCondLst>
                                  <p:childTnLst>
                                    <p:set>
                                      <p:cBhvr>
                                        <p:cTn id="25" dur="1" fill="hold">
                                          <p:stCondLst>
                                            <p:cond delay="0"/>
                                          </p:stCondLst>
                                        </p:cTn>
                                        <p:tgtEl>
                                          <p:spTgt spid="469"/>
                                        </p:tgtEl>
                                        <p:attrNameLst>
                                          <p:attrName>style.visibility</p:attrName>
                                        </p:attrNameLst>
                                      </p:cBhvr>
                                      <p:to>
                                        <p:strVal val="visible"/>
                                      </p:to>
                                    </p:set>
                                    <p:animEffect transition="in" filter="fade">
                                      <p:cBhvr>
                                        <p:cTn id="26" dur="400"/>
                                        <p:tgtEl>
                                          <p:spTgt spid="46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xit" presetSubtype="0" fill="hold" nodeType="clickEffect">
                                  <p:stCondLst>
                                    <p:cond delay="0"/>
                                  </p:stCondLst>
                                  <p:childTnLst>
                                    <p:animEffect transition="out" filter="fade">
                                      <p:cBhvr>
                                        <p:cTn id="30" dur="400"/>
                                        <p:tgtEl>
                                          <p:spTgt spid="466"/>
                                        </p:tgtEl>
                                      </p:cBhvr>
                                    </p:animEffect>
                                    <p:set>
                                      <p:cBhvr>
                                        <p:cTn id="31" dur="1" fill="hold">
                                          <p:stCondLst>
                                            <p:cond delay="400"/>
                                          </p:stCondLst>
                                        </p:cTn>
                                        <p:tgtEl>
                                          <p:spTgt spid="466"/>
                                        </p:tgtEl>
                                        <p:attrNameLst>
                                          <p:attrName>style.visibility</p:attrName>
                                        </p:attrNameLst>
                                      </p:cBhvr>
                                      <p:to>
                                        <p:strVal val="hidden"/>
                                      </p:to>
                                    </p:set>
                                  </p:childTnLst>
                                </p:cTn>
                              </p:par>
                              <p:par>
                                <p:cTn id="32" presetID="10" presetClass="entr" presetSubtype="0" fill="hold" nodeType="withEffect">
                                  <p:stCondLst>
                                    <p:cond delay="0"/>
                                  </p:stCondLst>
                                  <p:childTnLst>
                                    <p:set>
                                      <p:cBhvr>
                                        <p:cTn id="33" dur="1" fill="hold">
                                          <p:stCondLst>
                                            <p:cond delay="0"/>
                                          </p:stCondLst>
                                        </p:cTn>
                                        <p:tgtEl>
                                          <p:spTgt spid="467"/>
                                        </p:tgtEl>
                                        <p:attrNameLst>
                                          <p:attrName>style.visibility</p:attrName>
                                        </p:attrNameLst>
                                      </p:cBhvr>
                                      <p:to>
                                        <p:strVal val="visible"/>
                                      </p:to>
                                    </p:set>
                                    <p:animEffect transition="in" filter="fade">
                                      <p:cBhvr>
                                        <p:cTn id="34" dur="400"/>
                                        <p:tgtEl>
                                          <p:spTgt spid="467"/>
                                        </p:tgtEl>
                                      </p:cBhvr>
                                    </p:animEffect>
                                  </p:childTnLst>
                                </p:cTn>
                              </p:par>
                              <p:par>
                                <p:cTn id="35" presetID="10" presetClass="exit" presetSubtype="0" fill="hold" nodeType="withEffect">
                                  <p:stCondLst>
                                    <p:cond delay="0"/>
                                  </p:stCondLst>
                                  <p:childTnLst>
                                    <p:animEffect transition="out" filter="fade">
                                      <p:cBhvr>
                                        <p:cTn id="36" dur="400"/>
                                        <p:tgtEl>
                                          <p:spTgt spid="469"/>
                                        </p:tgtEl>
                                      </p:cBhvr>
                                    </p:animEffect>
                                    <p:set>
                                      <p:cBhvr>
                                        <p:cTn id="37" dur="1" fill="hold">
                                          <p:stCondLst>
                                            <p:cond delay="400"/>
                                          </p:stCondLst>
                                        </p:cTn>
                                        <p:tgtEl>
                                          <p:spTgt spid="469"/>
                                        </p:tgtEl>
                                        <p:attrNameLst>
                                          <p:attrName>style.visibility</p:attrName>
                                        </p:attrNameLst>
                                      </p:cBhvr>
                                      <p:to>
                                        <p:strVal val="hidden"/>
                                      </p:to>
                                    </p:set>
                                  </p:childTnLst>
                                </p:cTn>
                              </p:par>
                              <p:par>
                                <p:cTn id="38" presetID="10" presetClass="entr" presetSubtype="0" fill="hold" nodeType="withEffect">
                                  <p:stCondLst>
                                    <p:cond delay="0"/>
                                  </p:stCondLst>
                                  <p:childTnLst>
                                    <p:set>
                                      <p:cBhvr>
                                        <p:cTn id="39" dur="1" fill="hold">
                                          <p:stCondLst>
                                            <p:cond delay="0"/>
                                          </p:stCondLst>
                                        </p:cTn>
                                        <p:tgtEl>
                                          <p:spTgt spid="471"/>
                                        </p:tgtEl>
                                        <p:attrNameLst>
                                          <p:attrName>style.visibility</p:attrName>
                                        </p:attrNameLst>
                                      </p:cBhvr>
                                      <p:to>
                                        <p:strVal val="visible"/>
                                      </p:to>
                                    </p:set>
                                    <p:animEffect transition="in" filter="fade">
                                      <p:cBhvr>
                                        <p:cTn id="40" dur="400"/>
                                        <p:tgtEl>
                                          <p:spTgt spid="47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400"/>
                                        <p:tgtEl>
                                          <p:spTgt spid="467"/>
                                        </p:tgtEl>
                                      </p:cBhvr>
                                    </p:animEffect>
                                    <p:set>
                                      <p:cBhvr>
                                        <p:cTn id="45" dur="1" fill="hold">
                                          <p:stCondLst>
                                            <p:cond delay="400"/>
                                          </p:stCondLst>
                                        </p:cTn>
                                        <p:tgtEl>
                                          <p:spTgt spid="467"/>
                                        </p:tgtEl>
                                        <p:attrNameLst>
                                          <p:attrName>style.visibility</p:attrName>
                                        </p:attrNameLst>
                                      </p:cBhvr>
                                      <p:to>
                                        <p:strVal val="hidden"/>
                                      </p:to>
                                    </p:set>
                                  </p:childTnLst>
                                </p:cTn>
                              </p:par>
                              <p:par>
                                <p:cTn id="46" presetID="10" presetClass="entr" presetSubtype="0" fill="hold" nodeType="withEffect">
                                  <p:stCondLst>
                                    <p:cond delay="0"/>
                                  </p:stCondLst>
                                  <p:childTnLst>
                                    <p:set>
                                      <p:cBhvr>
                                        <p:cTn id="47" dur="1" fill="hold">
                                          <p:stCondLst>
                                            <p:cond delay="0"/>
                                          </p:stCondLst>
                                        </p:cTn>
                                        <p:tgtEl>
                                          <p:spTgt spid="468"/>
                                        </p:tgtEl>
                                        <p:attrNameLst>
                                          <p:attrName>style.visibility</p:attrName>
                                        </p:attrNameLst>
                                      </p:cBhvr>
                                      <p:to>
                                        <p:strVal val="visible"/>
                                      </p:to>
                                    </p:set>
                                    <p:animEffect transition="in" filter="fade">
                                      <p:cBhvr>
                                        <p:cTn id="48" dur="400"/>
                                        <p:tgtEl>
                                          <p:spTgt spid="468"/>
                                        </p:tgtEl>
                                      </p:cBhvr>
                                    </p:animEffect>
                                  </p:childTnLst>
                                </p:cTn>
                              </p:par>
                              <p:par>
                                <p:cTn id="49" presetID="10" presetClass="exit" presetSubtype="0" fill="hold" nodeType="withEffect">
                                  <p:stCondLst>
                                    <p:cond delay="0"/>
                                  </p:stCondLst>
                                  <p:childTnLst>
                                    <p:animEffect transition="out" filter="fade">
                                      <p:cBhvr>
                                        <p:cTn id="50" dur="400"/>
                                        <p:tgtEl>
                                          <p:spTgt spid="471"/>
                                        </p:tgtEl>
                                      </p:cBhvr>
                                    </p:animEffect>
                                    <p:set>
                                      <p:cBhvr>
                                        <p:cTn id="51" dur="1" fill="hold">
                                          <p:stCondLst>
                                            <p:cond delay="400"/>
                                          </p:stCondLst>
                                        </p:cTn>
                                        <p:tgtEl>
                                          <p:spTgt spid="471"/>
                                        </p:tgtEl>
                                        <p:attrNameLst>
                                          <p:attrName>style.visibility</p:attrName>
                                        </p:attrNameLst>
                                      </p:cBhvr>
                                      <p:to>
                                        <p:strVal val="hidden"/>
                                      </p:to>
                                    </p:set>
                                  </p:childTnLst>
                                </p:cTn>
                              </p:par>
                              <p:par>
                                <p:cTn id="52" presetID="10" presetClass="entr" presetSubtype="0" fill="hold" nodeType="withEffect">
                                  <p:stCondLst>
                                    <p:cond delay="0"/>
                                  </p:stCondLst>
                                  <p:childTnLst>
                                    <p:set>
                                      <p:cBhvr>
                                        <p:cTn id="53" dur="1" fill="hold">
                                          <p:stCondLst>
                                            <p:cond delay="0"/>
                                          </p:stCondLst>
                                        </p:cTn>
                                        <p:tgtEl>
                                          <p:spTgt spid="470"/>
                                        </p:tgtEl>
                                        <p:attrNameLst>
                                          <p:attrName>style.visibility</p:attrName>
                                        </p:attrNameLst>
                                      </p:cBhvr>
                                      <p:to>
                                        <p:strVal val="visible"/>
                                      </p:to>
                                    </p:set>
                                    <p:animEffect transition="in" filter="fade">
                                      <p:cBhvr>
                                        <p:cTn id="54" dur="400"/>
                                        <p:tgtEl>
                                          <p:spTgt spid="470"/>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64"/>
                                        </p:tgtEl>
                                        <p:attrNameLst>
                                          <p:attrName>style.visibility</p:attrName>
                                        </p:attrNameLst>
                                      </p:cBhvr>
                                      <p:to>
                                        <p:strVal val="visible"/>
                                      </p:to>
                                    </p:set>
                                    <p:animEffect transition="in" filter="fade">
                                      <p:cBhvr>
                                        <p:cTn id="59" dur="400"/>
                                        <p:tgtEl>
                                          <p:spTgt spid="464"/>
                                        </p:tgtEl>
                                      </p:cBhvr>
                                    </p:animEffect>
                                  </p:childTnLst>
                                </p:cTn>
                              </p:par>
                              <p:par>
                                <p:cTn id="60" presetID="10" presetClass="exit" presetSubtype="0" fill="hold" nodeType="withEffect">
                                  <p:stCondLst>
                                    <p:cond delay="0"/>
                                  </p:stCondLst>
                                  <p:childTnLst>
                                    <p:animEffect transition="out" filter="fade">
                                      <p:cBhvr>
                                        <p:cTn id="61" dur="400"/>
                                        <p:tgtEl>
                                          <p:spTgt spid="468"/>
                                        </p:tgtEl>
                                      </p:cBhvr>
                                    </p:animEffect>
                                    <p:set>
                                      <p:cBhvr>
                                        <p:cTn id="62" dur="1" fill="hold">
                                          <p:stCondLst>
                                            <p:cond delay="400"/>
                                          </p:stCondLst>
                                        </p:cTn>
                                        <p:tgtEl>
                                          <p:spTgt spid="468"/>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400"/>
                                        <p:tgtEl>
                                          <p:spTgt spid="470"/>
                                        </p:tgtEl>
                                      </p:cBhvr>
                                    </p:animEffect>
                                    <p:set>
                                      <p:cBhvr>
                                        <p:cTn id="65" dur="1" fill="hold">
                                          <p:stCondLst>
                                            <p:cond delay="400"/>
                                          </p:stCondLst>
                                        </p:cTn>
                                        <p:tgtEl>
                                          <p:spTgt spid="47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473"/>
                                        </p:tgtEl>
                                        <p:attrNameLst>
                                          <p:attrName>style.visibility</p:attrName>
                                        </p:attrNameLst>
                                      </p:cBhvr>
                                      <p:to>
                                        <p:strVal val="visible"/>
                                      </p:to>
                                    </p:set>
                                    <p:animEffect transition="in" filter="fade">
                                      <p:cBhvr>
                                        <p:cTn id="70" dur="400"/>
                                        <p:tgtEl>
                                          <p:spTgt spid="473"/>
                                        </p:tgtEl>
                                      </p:cBhvr>
                                    </p:animEffect>
                                  </p:childTnLst>
                                </p:cTn>
                              </p:par>
                              <p:par>
                                <p:cTn id="71" presetID="10" presetClass="entr" presetSubtype="0" fill="hold" nodeType="withEffect">
                                  <p:stCondLst>
                                    <p:cond delay="0"/>
                                  </p:stCondLst>
                                  <p:childTnLst>
                                    <p:set>
                                      <p:cBhvr>
                                        <p:cTn id="72" dur="1" fill="hold">
                                          <p:stCondLst>
                                            <p:cond delay="0"/>
                                          </p:stCondLst>
                                        </p:cTn>
                                        <p:tgtEl>
                                          <p:spTgt spid="471"/>
                                        </p:tgtEl>
                                        <p:attrNameLst>
                                          <p:attrName>style.visibility</p:attrName>
                                        </p:attrNameLst>
                                      </p:cBhvr>
                                      <p:to>
                                        <p:strVal val="visible"/>
                                      </p:to>
                                    </p:set>
                                    <p:animEffect transition="in" filter="fade">
                                      <p:cBhvr>
                                        <p:cTn id="73" dur="400"/>
                                        <p:tgtEl>
                                          <p:spTgt spid="47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xit" presetSubtype="0" fill="hold" nodeType="clickEffect">
                                  <p:stCondLst>
                                    <p:cond delay="0"/>
                                  </p:stCondLst>
                                  <p:childTnLst>
                                    <p:animEffect transition="out" filter="fade">
                                      <p:cBhvr>
                                        <p:cTn id="77" dur="400"/>
                                        <p:tgtEl>
                                          <p:spTgt spid="473"/>
                                        </p:tgtEl>
                                      </p:cBhvr>
                                    </p:animEffect>
                                    <p:set>
                                      <p:cBhvr>
                                        <p:cTn id="78" dur="1" fill="hold">
                                          <p:stCondLst>
                                            <p:cond delay="400"/>
                                          </p:stCondLst>
                                        </p:cTn>
                                        <p:tgtEl>
                                          <p:spTgt spid="473"/>
                                        </p:tgtEl>
                                        <p:attrNameLst>
                                          <p:attrName>style.visibility</p:attrName>
                                        </p:attrNameLst>
                                      </p:cBhvr>
                                      <p:to>
                                        <p:strVal val="hidden"/>
                                      </p:to>
                                    </p:set>
                                  </p:childTnLst>
                                </p:cTn>
                              </p:par>
                              <p:par>
                                <p:cTn id="79" presetID="10" presetClass="exit" presetSubtype="0" fill="hold" nodeType="withEffect">
                                  <p:stCondLst>
                                    <p:cond delay="0"/>
                                  </p:stCondLst>
                                  <p:childTnLst>
                                    <p:animEffect transition="out" filter="fade">
                                      <p:cBhvr>
                                        <p:cTn id="80" dur="400"/>
                                        <p:tgtEl>
                                          <p:spTgt spid="471"/>
                                        </p:tgtEl>
                                      </p:cBhvr>
                                    </p:animEffect>
                                    <p:set>
                                      <p:cBhvr>
                                        <p:cTn id="81" dur="1" fill="hold">
                                          <p:stCondLst>
                                            <p:cond delay="400"/>
                                          </p:stCondLst>
                                        </p:cTn>
                                        <p:tgtEl>
                                          <p:spTgt spid="471"/>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65"/>
                                        </p:tgtEl>
                                        <p:attrNameLst>
                                          <p:attrName>style.visibility</p:attrName>
                                        </p:attrNameLst>
                                      </p:cBhvr>
                                      <p:to>
                                        <p:strVal val="visible"/>
                                      </p:to>
                                    </p:set>
                                    <p:animEffect transition="in" filter="fade">
                                      <p:cBhvr>
                                        <p:cTn id="86" dur="400"/>
                                        <p:tgtEl>
                                          <p:spTgt spid="46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472"/>
                                        </p:tgtEl>
                                        <p:attrNameLst>
                                          <p:attrName>style.visibility</p:attrName>
                                        </p:attrNameLst>
                                      </p:cBhvr>
                                      <p:to>
                                        <p:strVal val="visible"/>
                                      </p:to>
                                    </p:set>
                                    <p:animEffect transition="in" filter="fade">
                                      <p:cBhvr>
                                        <p:cTn id="91" dur="400"/>
                                        <p:tgtEl>
                                          <p:spTgt spid="472"/>
                                        </p:tgtEl>
                                      </p:cBhvr>
                                    </p:animEffect>
                                  </p:childTnLst>
                                </p:cTn>
                              </p:par>
                              <p:par>
                                <p:cTn id="92" presetID="10" presetClass="entr" presetSubtype="0" fill="hold" nodeType="withEffect">
                                  <p:stCondLst>
                                    <p:cond delay="0"/>
                                  </p:stCondLst>
                                  <p:childTnLst>
                                    <p:set>
                                      <p:cBhvr>
                                        <p:cTn id="93" dur="1" fill="hold">
                                          <p:stCondLst>
                                            <p:cond delay="0"/>
                                          </p:stCondLst>
                                        </p:cTn>
                                        <p:tgtEl>
                                          <p:spTgt spid="474"/>
                                        </p:tgtEl>
                                        <p:attrNameLst>
                                          <p:attrName>style.visibility</p:attrName>
                                        </p:attrNameLst>
                                      </p:cBhvr>
                                      <p:to>
                                        <p:strVal val="visible"/>
                                      </p:to>
                                    </p:set>
                                    <p:animEffect transition="in" filter="fade">
                                      <p:cBhvr>
                                        <p:cTn id="94" dur="400"/>
                                        <p:tgtEl>
                                          <p:spTgt spid="474"/>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6"/>
                                        </p:tgtEl>
                                        <p:attrNameLst>
                                          <p:attrName>style.visibility</p:attrName>
                                        </p:attrNameLst>
                                      </p:cBhvr>
                                      <p:to>
                                        <p:strVal val="visible"/>
                                      </p:to>
                                    </p:set>
                                    <p:animEffect transition="in" filter="fade">
                                      <p:cBhvr>
                                        <p:cTn id="99" dur="1000"/>
                                        <p:tgtEl>
                                          <p:spTgt spid="476"/>
                                        </p:tgtEl>
                                      </p:cBhvr>
                                    </p:animEffect>
                                  </p:childTnLst>
                                </p:cTn>
                              </p:par>
                              <p:par>
                                <p:cTn id="100" presetID="10" presetClass="entr" presetSubtype="0" fill="hold" nodeType="withEffect">
                                  <p:stCondLst>
                                    <p:cond delay="0"/>
                                  </p:stCondLst>
                                  <p:childTnLst>
                                    <p:set>
                                      <p:cBhvr>
                                        <p:cTn id="101" dur="1" fill="hold">
                                          <p:stCondLst>
                                            <p:cond delay="0"/>
                                          </p:stCondLst>
                                        </p:cTn>
                                        <p:tgtEl>
                                          <p:spTgt spid="475"/>
                                        </p:tgtEl>
                                        <p:attrNameLst>
                                          <p:attrName>style.visibility</p:attrName>
                                        </p:attrNameLst>
                                      </p:cBhvr>
                                      <p:to>
                                        <p:strVal val="visible"/>
                                      </p:to>
                                    </p:set>
                                    <p:animEffect transition="in" filter="fade">
                                      <p:cBhvr>
                                        <p:cTn id="102" dur="400"/>
                                        <p:tgtEl>
                                          <p:spTgt spid="475"/>
                                        </p:tgtEl>
                                      </p:cBhvr>
                                    </p:animEffect>
                                  </p:childTnLst>
                                </p:cTn>
                              </p:par>
                              <p:par>
                                <p:cTn id="103" presetID="10" presetClass="exit" presetSubtype="0" fill="hold" nodeType="withEffect">
                                  <p:stCondLst>
                                    <p:cond delay="0"/>
                                  </p:stCondLst>
                                  <p:childTnLst>
                                    <p:animEffect transition="out" filter="fade">
                                      <p:cBhvr>
                                        <p:cTn id="104" dur="400"/>
                                        <p:tgtEl>
                                          <p:spTgt spid="474"/>
                                        </p:tgtEl>
                                      </p:cBhvr>
                                    </p:animEffect>
                                    <p:set>
                                      <p:cBhvr>
                                        <p:cTn id="105" dur="1" fill="hold">
                                          <p:stCondLst>
                                            <p:cond delay="400"/>
                                          </p:stCondLst>
                                        </p:cTn>
                                        <p:tgtEl>
                                          <p:spTgt spid="474"/>
                                        </p:tgtEl>
                                        <p:attrNameLst>
                                          <p:attrName>style.visibility</p:attrName>
                                        </p:attrNameLst>
                                      </p:cBhvr>
                                      <p:to>
                                        <p:strVal val="hidden"/>
                                      </p:to>
                                    </p:se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474"/>
                                        </p:tgtEl>
                                        <p:attrNameLst>
                                          <p:attrName>style.visibility</p:attrName>
                                        </p:attrNameLst>
                                      </p:cBhvr>
                                      <p:to>
                                        <p:strVal val="visible"/>
                                      </p:to>
                                    </p:set>
                                    <p:animEffect transition="in" filter="fade">
                                      <p:cBhvr>
                                        <p:cTn id="110" dur="400"/>
                                        <p:tgtEl>
                                          <p:spTgt spid="474"/>
                                        </p:tgtEl>
                                      </p:cBhvr>
                                    </p:animEffect>
                                  </p:childTnLst>
                                </p:cTn>
                              </p:par>
                              <p:par>
                                <p:cTn id="111" presetID="10" presetClass="exit" presetSubtype="0" fill="hold" nodeType="withEffect">
                                  <p:stCondLst>
                                    <p:cond delay="0"/>
                                  </p:stCondLst>
                                  <p:childTnLst>
                                    <p:animEffect transition="out" filter="fade">
                                      <p:cBhvr>
                                        <p:cTn id="112" dur="400"/>
                                        <p:tgtEl>
                                          <p:spTgt spid="476"/>
                                        </p:tgtEl>
                                      </p:cBhvr>
                                    </p:animEffect>
                                    <p:set>
                                      <p:cBhvr>
                                        <p:cTn id="113" dur="1" fill="hold">
                                          <p:stCondLst>
                                            <p:cond delay="400"/>
                                          </p:stCondLst>
                                        </p:cTn>
                                        <p:tgtEl>
                                          <p:spTgt spid="476"/>
                                        </p:tgtEl>
                                        <p:attrNameLst>
                                          <p:attrName>style.visibility</p:attrName>
                                        </p:attrNameLst>
                                      </p:cBhvr>
                                      <p:to>
                                        <p:strVal val="hidden"/>
                                      </p:to>
                                    </p:set>
                                  </p:childTnLst>
                                </p:cTn>
                              </p:par>
                              <p:par>
                                <p:cTn id="114" presetID="10" presetClass="exit" presetSubtype="0" fill="hold" nodeType="withEffect">
                                  <p:stCondLst>
                                    <p:cond delay="0"/>
                                  </p:stCondLst>
                                  <p:childTnLst>
                                    <p:animEffect transition="out" filter="fade">
                                      <p:cBhvr>
                                        <p:cTn id="115" dur="400"/>
                                        <p:tgtEl>
                                          <p:spTgt spid="475"/>
                                        </p:tgtEl>
                                      </p:cBhvr>
                                    </p:animEffect>
                                    <p:set>
                                      <p:cBhvr>
                                        <p:cTn id="116" dur="1" fill="hold">
                                          <p:stCondLst>
                                            <p:cond delay="400"/>
                                          </p:stCondLst>
                                        </p:cTn>
                                        <p:tgtEl>
                                          <p:spTgt spid="47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61"/>
          <p:cNvSpPr txBox="1"/>
          <p:nvPr/>
        </p:nvSpPr>
        <p:spPr>
          <a:xfrm>
            <a:off x="958387" y="6969667"/>
            <a:ext cx="15635724" cy="4897927"/>
          </a:xfrm>
          <a:prstGeom prst="rect">
            <a:avLst/>
          </a:prstGeom>
          <a:noFill/>
          <a:ln>
            <a:noFill/>
          </a:ln>
        </p:spPr>
        <p:txBody>
          <a:bodyPr spcFirstLastPara="1" wrap="square" lIns="243800" tIns="243800" rIns="243800" bIns="243800" anchor="t" anchorCtr="0">
            <a:spAutoFit/>
          </a:bodyPr>
          <a:lstStyle/>
          <a:p>
            <a:pPr marL="338713">
              <a:lnSpc>
                <a:spcPct val="115000"/>
              </a:lnSpc>
              <a:buSzPts val="1600"/>
            </a:pPr>
            <a:r>
              <a:rPr lang="en" sz="4267" b="1" dirty="0">
                <a:latin typeface="Courier New" panose="02070309020205020404" pitchFamily="49" charset="0"/>
                <a:ea typeface="Lato"/>
                <a:cs typeface="Courier New" panose="02070309020205020404" pitchFamily="49" charset="0"/>
                <a:sym typeface="Lato"/>
              </a:rPr>
              <a:t>A. [5, 6, 7, 101, 102, 103, 104, 105] </a:t>
            </a:r>
            <a:endParaRPr sz="4267" b="1" dirty="0">
              <a:latin typeface="Courier New" panose="02070309020205020404" pitchFamily="49" charset="0"/>
              <a:ea typeface="Lato"/>
              <a:cs typeface="Courier New" panose="02070309020205020404" pitchFamily="49" charset="0"/>
              <a:sym typeface="Lato"/>
            </a:endParaRPr>
          </a:p>
          <a:p>
            <a:pPr marL="338713">
              <a:lnSpc>
                <a:spcPct val="115000"/>
              </a:lnSpc>
              <a:spcBef>
                <a:spcPts val="2667"/>
              </a:spcBef>
              <a:buSzPts val="1600"/>
            </a:pPr>
            <a:r>
              <a:rPr lang="en" sz="4267" b="1" dirty="0">
                <a:latin typeface="Courier New" panose="02070309020205020404" pitchFamily="49" charset="0"/>
                <a:ea typeface="Lato"/>
                <a:cs typeface="Courier New" panose="02070309020205020404" pitchFamily="49" charset="0"/>
                <a:sym typeface="Lato"/>
              </a:rPr>
              <a:t>B. [6, 7, 101, 102, 103, 104, 105] </a:t>
            </a:r>
            <a:endParaRPr sz="4267" b="1" dirty="0">
              <a:latin typeface="Courier New" panose="02070309020205020404" pitchFamily="49" charset="0"/>
              <a:ea typeface="Lato"/>
              <a:cs typeface="Courier New" panose="02070309020205020404" pitchFamily="49" charset="0"/>
              <a:sym typeface="Lato"/>
            </a:endParaRPr>
          </a:p>
          <a:p>
            <a:pPr marL="338713">
              <a:lnSpc>
                <a:spcPct val="115000"/>
              </a:lnSpc>
              <a:spcBef>
                <a:spcPts val="2667"/>
              </a:spcBef>
              <a:buSzPts val="1600"/>
            </a:pPr>
            <a:r>
              <a:rPr lang="en" sz="4267" b="1" dirty="0">
                <a:latin typeface="Courier New" panose="02070309020205020404" pitchFamily="49" charset="0"/>
                <a:ea typeface="Lato"/>
                <a:cs typeface="Courier New" panose="02070309020205020404" pitchFamily="49" charset="0"/>
                <a:sym typeface="Lato"/>
              </a:rPr>
              <a:t>C. [6, 101, 102, 103, 104] </a:t>
            </a:r>
            <a:endParaRPr sz="4267" b="1" dirty="0">
              <a:latin typeface="Courier New" panose="02070309020205020404" pitchFamily="49" charset="0"/>
              <a:ea typeface="Lato"/>
              <a:cs typeface="Courier New" panose="02070309020205020404" pitchFamily="49" charset="0"/>
              <a:sym typeface="Lato"/>
            </a:endParaRPr>
          </a:p>
          <a:p>
            <a:pPr marL="338713">
              <a:lnSpc>
                <a:spcPct val="115000"/>
              </a:lnSpc>
              <a:spcBef>
                <a:spcPts val="2667"/>
              </a:spcBef>
              <a:spcAft>
                <a:spcPts val="2667"/>
              </a:spcAft>
              <a:buSzPts val="1600"/>
            </a:pPr>
            <a:r>
              <a:rPr lang="en" sz="4267" b="1" dirty="0">
                <a:latin typeface="Courier New" panose="02070309020205020404" pitchFamily="49" charset="0"/>
                <a:ea typeface="Lato"/>
                <a:cs typeface="Courier New" panose="02070309020205020404" pitchFamily="49" charset="0"/>
                <a:sym typeface="Lato"/>
              </a:rPr>
              <a:t>D. [6, 101, 102, 103] </a:t>
            </a:r>
            <a:endParaRPr sz="4267" b="1" dirty="0">
              <a:latin typeface="Courier New" panose="02070309020205020404" pitchFamily="49" charset="0"/>
              <a:ea typeface="Lato"/>
              <a:cs typeface="Courier New" panose="02070309020205020404" pitchFamily="49" charset="0"/>
              <a:sym typeface="Lato"/>
            </a:endParaRPr>
          </a:p>
        </p:txBody>
      </p:sp>
      <p:sp>
        <p:nvSpPr>
          <p:cNvPr id="482" name="Google Shape;482;p61"/>
          <p:cNvSpPr txBox="1">
            <a:spLocks noGrp="1"/>
          </p:cNvSpPr>
          <p:nvPr>
            <p:ph type="title"/>
          </p:nvPr>
        </p:nvSpPr>
        <p:spPr>
          <a:prstGeom prst="rect">
            <a:avLst/>
          </a:prstGeom>
        </p:spPr>
        <p:txBody>
          <a:bodyPr spcFirstLastPara="1" vert="horz" wrap="square" lIns="243800" tIns="243800" rIns="243800" bIns="243800" rtlCol="0" anchor="t" anchorCtr="0">
            <a:normAutofit/>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Self-Test</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83" name="Google Shape;483;p61"/>
          <p:cNvSpPr txBox="1">
            <a:spLocks noGrp="1"/>
          </p:cNvSpPr>
          <p:nvPr>
            <p:ph type="body" idx="1"/>
          </p:nvPr>
        </p:nvSpPr>
        <p:spPr>
          <a:xfrm>
            <a:off x="1924854" y="5385933"/>
            <a:ext cx="8802400" cy="1472000"/>
          </a:xfrm>
          <a:prstGeom prst="rect">
            <a:avLst/>
          </a:prstGeom>
        </p:spPr>
        <p:txBody>
          <a:bodyPr spcFirstLastPara="1" vert="horz" wrap="square" lIns="243800" tIns="243800" rIns="243800" bIns="243800" rtlCol="0" anchor="t" anchorCtr="0">
            <a:normAutofit fontScale="62500" lnSpcReduction="20000"/>
          </a:bodyPr>
          <a:lstStyle/>
          <a:p>
            <a:pPr marL="0" indent="0">
              <a:spcAft>
                <a:spcPts val="3200"/>
              </a:spcAft>
              <a:buNone/>
            </a:pPr>
            <a:r>
              <a:rPr lang="en" b="1" dirty="0">
                <a:latin typeface="Helvetica Neue" panose="02000503000000020004" pitchFamily="2" charset="0"/>
                <a:ea typeface="Helvetica Neue" panose="02000503000000020004" pitchFamily="2" charset="0"/>
                <a:cs typeface="Helvetica Neue" panose="02000503000000020004" pitchFamily="2" charset="0"/>
              </a:rPr>
              <a:t>What does the following code output?</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84" name="Google Shape;484;p61"/>
          <p:cNvSpPr txBox="1">
            <a:spLocks noGrp="1"/>
          </p:cNvSpPr>
          <p:nvPr>
            <p:ph type="body" idx="4294967295"/>
          </p:nvPr>
        </p:nvSpPr>
        <p:spPr>
          <a:xfrm>
            <a:off x="10391775" y="2633663"/>
            <a:ext cx="13995400" cy="6540500"/>
          </a:xfrm>
          <a:prstGeom prst="rect">
            <a:avLst/>
          </a:prstGeom>
        </p:spPr>
        <p:txBody>
          <a:bodyPr spcFirstLastPara="1" vert="horz" wrap="square" lIns="243800" tIns="243800" rIns="243800" bIns="243800" rtlCol="0" anchor="t" anchorCtr="0">
            <a:noAutofit/>
          </a:bodyPr>
          <a:lstStyle/>
          <a:p>
            <a:pPr marL="0" indent="0">
              <a:lnSpc>
                <a:spcPct val="135714"/>
              </a:lnSpc>
              <a:spcBef>
                <a:spcPts val="0"/>
              </a:spcBef>
              <a:buNone/>
            </a:pPr>
            <a:r>
              <a:rPr lang="en" sz="4267" dirty="0" err="1">
                <a:solidFill>
                  <a:srgbClr val="000000"/>
                </a:solidFill>
                <a:latin typeface="Courier New"/>
                <a:ea typeface="Courier New"/>
                <a:cs typeface="Courier New"/>
                <a:sym typeface="Courier New"/>
              </a:rPr>
              <a:t>arr</a:t>
            </a:r>
            <a:r>
              <a:rPr lang="en" sz="4267" dirty="0">
                <a:solidFill>
                  <a:srgbClr val="000000"/>
                </a:solidFill>
                <a:latin typeface="Courier New"/>
                <a:ea typeface="Courier New"/>
                <a:cs typeface="Courier New"/>
                <a:sym typeface="Courier New"/>
              </a:rPr>
              <a:t> = [</a:t>
            </a:r>
            <a:r>
              <a:rPr lang="en" sz="4267" dirty="0">
                <a:solidFill>
                  <a:srgbClr val="098156"/>
                </a:solidFill>
                <a:latin typeface="Courier New"/>
                <a:ea typeface="Courier New"/>
                <a:cs typeface="Courier New"/>
                <a:sym typeface="Courier New"/>
              </a:rPr>
              <a:t>4</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5</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6</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101</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102</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103</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104</a:t>
            </a:r>
            <a:r>
              <a:rPr lang="en" sz="4267" dirty="0">
                <a:solidFill>
                  <a:srgbClr val="000000"/>
                </a:solidFill>
                <a:latin typeface="Courier New"/>
                <a:ea typeface="Courier New"/>
                <a:cs typeface="Courier New"/>
                <a:sym typeface="Courier New"/>
              </a:rPr>
              <a:t>, </a:t>
            </a:r>
            <a:r>
              <a:rPr lang="en" sz="4267" dirty="0">
                <a:solidFill>
                  <a:srgbClr val="098156"/>
                </a:solidFill>
                <a:latin typeface="Courier New"/>
                <a:ea typeface="Courier New"/>
                <a:cs typeface="Courier New"/>
                <a:sym typeface="Courier New"/>
              </a:rPr>
              <a:t>105</a:t>
            </a:r>
            <a:r>
              <a:rPr lang="en" sz="4267" dirty="0">
                <a:solidFill>
                  <a:srgbClr val="000000"/>
                </a:solidFill>
                <a:latin typeface="Courier New"/>
                <a:ea typeface="Courier New"/>
                <a:cs typeface="Courier New"/>
                <a:sym typeface="Courier New"/>
              </a:rPr>
              <a:t>]</a:t>
            </a:r>
            <a:endParaRPr sz="4267" dirty="0">
              <a:solidFill>
                <a:srgbClr val="000000"/>
              </a:solidFill>
              <a:latin typeface="Courier New"/>
              <a:ea typeface="Courier New"/>
              <a:cs typeface="Courier New"/>
              <a:sym typeface="Courier New"/>
            </a:endParaRPr>
          </a:p>
          <a:p>
            <a:pPr marL="0" indent="0">
              <a:lnSpc>
                <a:spcPct val="135714"/>
              </a:lnSpc>
              <a:spcBef>
                <a:spcPts val="0"/>
              </a:spcBef>
              <a:buNone/>
            </a:pPr>
            <a:endParaRPr sz="4267" dirty="0">
              <a:solidFill>
                <a:srgbClr val="000000"/>
              </a:solidFill>
              <a:latin typeface="Courier New"/>
              <a:ea typeface="Courier New"/>
              <a:cs typeface="Courier New"/>
              <a:sym typeface="Courier New"/>
            </a:endParaRPr>
          </a:p>
          <a:p>
            <a:pPr marL="0" indent="0">
              <a:lnSpc>
                <a:spcPct val="135714"/>
              </a:lnSpc>
              <a:spcBef>
                <a:spcPts val="0"/>
              </a:spcBef>
              <a:buNone/>
            </a:pPr>
            <a:r>
              <a:rPr lang="en" sz="4267" dirty="0" err="1">
                <a:solidFill>
                  <a:srgbClr val="000000"/>
                </a:solidFill>
                <a:latin typeface="Courier New"/>
                <a:ea typeface="Courier New"/>
                <a:cs typeface="Courier New"/>
                <a:sym typeface="Courier New"/>
              </a:rPr>
              <a:t>new_arr</a:t>
            </a:r>
            <a:r>
              <a:rPr lang="en" sz="4267" dirty="0">
                <a:solidFill>
                  <a:srgbClr val="000000"/>
                </a:solidFill>
                <a:latin typeface="Courier New"/>
                <a:ea typeface="Courier New"/>
                <a:cs typeface="Courier New"/>
                <a:sym typeface="Courier New"/>
              </a:rPr>
              <a:t> = </a:t>
            </a:r>
            <a:r>
              <a:rPr lang="en" sz="4267" dirty="0" err="1">
                <a:solidFill>
                  <a:srgbClr val="000000"/>
                </a:solidFill>
                <a:latin typeface="Courier New"/>
                <a:ea typeface="Courier New"/>
                <a:cs typeface="Courier New"/>
                <a:sym typeface="Courier New"/>
              </a:rPr>
              <a:t>arr</a:t>
            </a:r>
            <a:r>
              <a:rPr lang="en" sz="4267" dirty="0">
                <a:solidFill>
                  <a:srgbClr val="000000"/>
                </a:solidFill>
                <a:latin typeface="Courier New"/>
                <a:ea typeface="Courier New"/>
                <a:cs typeface="Courier New"/>
                <a:sym typeface="Courier New"/>
              </a:rPr>
              <a:t>[</a:t>
            </a:r>
            <a:r>
              <a:rPr lang="en" sz="4267" dirty="0">
                <a:solidFill>
                  <a:srgbClr val="098156"/>
                </a:solidFill>
                <a:latin typeface="Courier New"/>
                <a:ea typeface="Courier New"/>
                <a:cs typeface="Courier New"/>
                <a:sym typeface="Courier New"/>
              </a:rPr>
              <a:t>2</a:t>
            </a:r>
            <a:r>
              <a:rPr lang="en" sz="4267" dirty="0">
                <a:solidFill>
                  <a:srgbClr val="000000"/>
                </a:solidFill>
                <a:latin typeface="Courier New"/>
                <a:ea typeface="Courier New"/>
                <a:cs typeface="Courier New"/>
                <a:sym typeface="Courier New"/>
              </a:rPr>
              <a:t>:</a:t>
            </a:r>
            <a:r>
              <a:rPr lang="en" sz="4267" dirty="0">
                <a:solidFill>
                  <a:srgbClr val="098156"/>
                </a:solidFill>
                <a:latin typeface="Courier New"/>
                <a:ea typeface="Courier New"/>
                <a:cs typeface="Courier New"/>
                <a:sym typeface="Courier New"/>
              </a:rPr>
              <a:t>6</a:t>
            </a:r>
            <a:r>
              <a:rPr lang="en" sz="4267" dirty="0">
                <a:solidFill>
                  <a:srgbClr val="000000"/>
                </a:solidFill>
                <a:latin typeface="Courier New"/>
                <a:ea typeface="Courier New"/>
                <a:cs typeface="Courier New"/>
                <a:sym typeface="Courier New"/>
              </a:rPr>
              <a:t>]</a:t>
            </a:r>
            <a:endParaRPr sz="4267" dirty="0">
              <a:solidFill>
                <a:srgbClr val="000000"/>
              </a:solidFill>
              <a:latin typeface="Courier New"/>
              <a:ea typeface="Courier New"/>
              <a:cs typeface="Courier New"/>
              <a:sym typeface="Courier New"/>
            </a:endParaRPr>
          </a:p>
          <a:p>
            <a:pPr marL="0" indent="0">
              <a:lnSpc>
                <a:spcPct val="135714"/>
              </a:lnSpc>
              <a:spcBef>
                <a:spcPts val="0"/>
              </a:spcBef>
              <a:buNone/>
            </a:pPr>
            <a:r>
              <a:rPr lang="en" sz="4267" dirty="0">
                <a:solidFill>
                  <a:srgbClr val="795E26"/>
                </a:solidFill>
                <a:latin typeface="Courier New"/>
                <a:ea typeface="Courier New"/>
                <a:cs typeface="Courier New"/>
                <a:sym typeface="Courier New"/>
              </a:rPr>
              <a:t>print</a:t>
            </a:r>
            <a:r>
              <a:rPr lang="en" sz="4267" dirty="0">
                <a:solidFill>
                  <a:srgbClr val="000000"/>
                </a:solidFill>
                <a:latin typeface="Courier New"/>
                <a:ea typeface="Courier New"/>
                <a:cs typeface="Courier New"/>
                <a:sym typeface="Courier New"/>
              </a:rPr>
              <a:t>(</a:t>
            </a:r>
            <a:r>
              <a:rPr lang="en" sz="4267" dirty="0" err="1">
                <a:solidFill>
                  <a:srgbClr val="000000"/>
                </a:solidFill>
                <a:latin typeface="Courier New"/>
                <a:ea typeface="Courier New"/>
                <a:cs typeface="Courier New"/>
                <a:sym typeface="Courier New"/>
              </a:rPr>
              <a:t>new_arr</a:t>
            </a:r>
            <a:r>
              <a:rPr lang="en" sz="4267" dirty="0">
                <a:solidFill>
                  <a:srgbClr val="000000"/>
                </a:solidFill>
                <a:latin typeface="Courier New"/>
                <a:ea typeface="Courier New"/>
                <a:cs typeface="Courier New"/>
                <a:sym typeface="Courier New"/>
              </a:rPr>
              <a:t>)</a:t>
            </a:r>
            <a:endParaRPr sz="4267" dirty="0">
              <a:solidFill>
                <a:srgbClr val="000000"/>
              </a:solidFill>
              <a:latin typeface="Courier New"/>
              <a:ea typeface="Courier New"/>
              <a:cs typeface="Courier New"/>
              <a:sym typeface="Courier New"/>
            </a:endParaRPr>
          </a:p>
          <a:p>
            <a:pPr marL="0" indent="0">
              <a:lnSpc>
                <a:spcPct val="100000"/>
              </a:lnSpc>
              <a:spcBef>
                <a:spcPts val="0"/>
              </a:spcBef>
              <a:buNone/>
            </a:pPr>
            <a:endParaRPr sz="4267" dirty="0">
              <a:solidFill>
                <a:srgbClr val="000000"/>
              </a:solidFill>
              <a:latin typeface="Courier New"/>
              <a:ea typeface="Courier New"/>
              <a:cs typeface="Courier New"/>
              <a:sym typeface="Courier New"/>
            </a:endParaRPr>
          </a:p>
        </p:txBody>
      </p:sp>
      <p:sp>
        <p:nvSpPr>
          <p:cNvPr id="2" name="Google Shape;412;p56">
            <a:extLst>
              <a:ext uri="{FF2B5EF4-FFF2-40B4-BE49-F238E27FC236}">
                <a16:creationId xmlns:a16="http://schemas.microsoft.com/office/drawing/2014/main" id="{6E2B5236-DD92-0D2A-1C56-C9B8E3C4CA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Google Shape;412;p56">
            <a:extLst>
              <a:ext uri="{FF2B5EF4-FFF2-40B4-BE49-F238E27FC236}">
                <a16:creationId xmlns:a16="http://schemas.microsoft.com/office/drawing/2014/main" id="{F0832B57-B953-E5FB-6211-5C18F45BD604}"/>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0">
          <a:extLst>
            <a:ext uri="{FF2B5EF4-FFF2-40B4-BE49-F238E27FC236}">
              <a16:creationId xmlns:a16="http://schemas.microsoft.com/office/drawing/2014/main" id="{DE71B69A-9968-B8D1-54FA-FBF927FAF957}"/>
            </a:ext>
          </a:extLst>
        </p:cNvPr>
        <p:cNvGrpSpPr/>
        <p:nvPr/>
      </p:nvGrpSpPr>
      <p:grpSpPr>
        <a:xfrm>
          <a:off x="0" y="0"/>
          <a:ext cx="0" cy="0"/>
          <a:chOff x="0" y="0"/>
          <a:chExt cx="0" cy="0"/>
        </a:xfrm>
      </p:grpSpPr>
      <p:sp>
        <p:nvSpPr>
          <p:cNvPr id="451" name="Google Shape;451;p59">
            <a:extLst>
              <a:ext uri="{FF2B5EF4-FFF2-40B4-BE49-F238E27FC236}">
                <a16:creationId xmlns:a16="http://schemas.microsoft.com/office/drawing/2014/main" id="{12A98ABF-681D-F386-A190-604505A86BA7}"/>
              </a:ext>
            </a:extLst>
          </p:cNvPr>
          <p:cNvSpPr txBox="1">
            <a:spLocks noGrp="1"/>
          </p:cNvSpPr>
          <p:nvPr>
            <p:ph type="body" idx="1"/>
          </p:nvPr>
        </p:nvSpPr>
        <p:spPr>
          <a:xfrm>
            <a:off x="3709488" y="4081925"/>
            <a:ext cx="4729974" cy="1596847"/>
          </a:xfrm>
          <a:prstGeom prst="rect">
            <a:avLst/>
          </a:prstGeom>
        </p:spPr>
        <p:txBody>
          <a:bodyPr spcFirstLastPara="1" vert="horz" wrap="square" lIns="243800" tIns="243800" rIns="243800" bIns="243800" rtlCol="0" anchor="t" anchorCtr="0">
            <a:normAutofit/>
          </a:bodyPr>
          <a:lstStyle/>
          <a:p>
            <a:pPr marL="237099" indent="0">
              <a:buSzPts val="22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52" name="Google Shape;452;p59">
            <a:extLst>
              <a:ext uri="{FF2B5EF4-FFF2-40B4-BE49-F238E27FC236}">
                <a16:creationId xmlns:a16="http://schemas.microsoft.com/office/drawing/2014/main" id="{C7310230-C05D-381D-A812-CEFF3BD44E37}"/>
              </a:ext>
            </a:extLst>
          </p:cNvPr>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9</a:t>
            </a:fld>
            <a:endParaRPr>
              <a:solidFill>
                <a:schemeClr val="accent1"/>
              </a:solidFill>
              <a:latin typeface="Lato"/>
              <a:ea typeface="Lato"/>
              <a:cs typeface="Lato"/>
              <a:sym typeface="Lato"/>
            </a:endParaRPr>
          </a:p>
        </p:txBody>
      </p:sp>
      <p:sp>
        <p:nvSpPr>
          <p:cNvPr id="5" name="Google Shape;412;p56">
            <a:extLst>
              <a:ext uri="{FF2B5EF4-FFF2-40B4-BE49-F238E27FC236}">
                <a16:creationId xmlns:a16="http://schemas.microsoft.com/office/drawing/2014/main" id="{054F3BE3-23C1-7C60-52CC-02C7003ECA85}"/>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451;p59">
            <a:extLst>
              <a:ext uri="{FF2B5EF4-FFF2-40B4-BE49-F238E27FC236}">
                <a16:creationId xmlns:a16="http://schemas.microsoft.com/office/drawing/2014/main" id="{3A451D3D-240B-E65C-2D96-4B6B14331BC2}"/>
              </a:ext>
            </a:extLst>
          </p:cNvPr>
          <p:cNvSpPr txBox="1">
            <a:spLocks/>
          </p:cNvSpPr>
          <p:nvPr/>
        </p:nvSpPr>
        <p:spPr>
          <a:xfrm>
            <a:off x="3709488" y="5057292"/>
            <a:ext cx="7920376"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51;p59">
            <a:extLst>
              <a:ext uri="{FF2B5EF4-FFF2-40B4-BE49-F238E27FC236}">
                <a16:creationId xmlns:a16="http://schemas.microsoft.com/office/drawing/2014/main" id="{2BB30DCC-F0AA-5496-B960-60B89CD1AAC6}"/>
              </a:ext>
            </a:extLst>
          </p:cNvPr>
          <p:cNvSpPr txBox="1">
            <a:spLocks/>
          </p:cNvSpPr>
          <p:nvPr/>
        </p:nvSpPr>
        <p:spPr>
          <a:xfrm>
            <a:off x="3709488" y="6032659"/>
            <a:ext cx="10039169"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p:txBody>
      </p:sp>
      <p:sp>
        <p:nvSpPr>
          <p:cNvPr id="8" name="Google Shape;451;p59">
            <a:extLst>
              <a:ext uri="{FF2B5EF4-FFF2-40B4-BE49-F238E27FC236}">
                <a16:creationId xmlns:a16="http://schemas.microsoft.com/office/drawing/2014/main" id="{F19A30FD-A736-21AA-CA8B-DA4626393933}"/>
              </a:ext>
            </a:extLst>
          </p:cNvPr>
          <p:cNvSpPr txBox="1">
            <a:spLocks/>
          </p:cNvSpPr>
          <p:nvPr/>
        </p:nvSpPr>
        <p:spPr>
          <a:xfrm>
            <a:off x="3709488" y="6980982"/>
            <a:ext cx="8085269" cy="2030752"/>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9" name="Google Shape;451;p59">
            <a:extLst>
              <a:ext uri="{FF2B5EF4-FFF2-40B4-BE49-F238E27FC236}">
                <a16:creationId xmlns:a16="http://schemas.microsoft.com/office/drawing/2014/main" id="{0D727FE5-6E8D-3B1D-D12F-7AF6DAD1F248}"/>
              </a:ext>
            </a:extLst>
          </p:cNvPr>
          <p:cNvSpPr txBox="1">
            <a:spLocks/>
          </p:cNvSpPr>
          <p:nvPr/>
        </p:nvSpPr>
        <p:spPr>
          <a:xfrm>
            <a:off x="3709488" y="7956349"/>
            <a:ext cx="9578717" cy="1775476"/>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Tree>
    <p:extLst>
      <p:ext uri="{BB962C8B-B14F-4D97-AF65-F5344CB8AC3E}">
        <p14:creationId xmlns:p14="http://schemas.microsoft.com/office/powerpoint/2010/main" val="7777609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62"/>
          <p:cNvSpPr txBox="1">
            <a:spLocks noGrp="1"/>
          </p:cNvSpPr>
          <p:nvPr>
            <p:ph type="body" idx="1"/>
          </p:nvPr>
        </p:nvSpPr>
        <p:spPr>
          <a:xfrm>
            <a:off x="4645072" y="3238101"/>
            <a:ext cx="15097030" cy="1427200"/>
          </a:xfrm>
          <a:prstGeom prst="rect">
            <a:avLst/>
          </a:prstGeom>
        </p:spPr>
        <p:txBody>
          <a:bodyPr spcFirstLastPara="1" vert="horz" wrap="square" lIns="243800" tIns="243800" rIns="243800" bIns="243800" rtlCol="0" anchor="t" anchorCtr="0">
            <a:noAutofit/>
          </a:bodyPr>
          <a:lstStyle/>
          <a:p>
            <a:pPr marL="389519" indent="0">
              <a:lnSpc>
                <a:spcPct val="135714"/>
              </a:lnSpc>
              <a:buNone/>
            </a:pPr>
            <a:r>
              <a:rPr lang="en" sz="3200" u="sng" dirty="0">
                <a:solidFill>
                  <a:schemeClr val="hlink"/>
                </a:solidFill>
                <a:highlight>
                  <a:srgbClr val="FFFFFE"/>
                </a:highlight>
                <a:latin typeface="Courier New"/>
                <a:ea typeface="Courier New"/>
                <a:cs typeface="Courier New"/>
                <a:sym typeface="Courier New"/>
                <a:hlinkClick r:id="rId3"/>
              </a:rPr>
              <a:t>https://docs.python.org/3/tutorial/datastructures.html</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pic>
        <p:nvPicPr>
          <p:cNvPr id="6" name="Picture 5">
            <a:extLst>
              <a:ext uri="{FF2B5EF4-FFF2-40B4-BE49-F238E27FC236}">
                <a16:creationId xmlns:a16="http://schemas.microsoft.com/office/drawing/2014/main" id="{E76FDFED-0053-1E52-2CDD-32322356E895}"/>
              </a:ext>
            </a:extLst>
          </p:cNvPr>
          <p:cNvPicPr>
            <a:picLocks noChangeAspect="1"/>
          </p:cNvPicPr>
          <p:nvPr/>
        </p:nvPicPr>
        <p:blipFill>
          <a:blip r:embed="rId4"/>
          <a:stretch>
            <a:fillRect/>
          </a:stretch>
        </p:blipFill>
        <p:spPr>
          <a:xfrm>
            <a:off x="2371283" y="5876096"/>
            <a:ext cx="11712046" cy="1703569"/>
          </a:xfrm>
          <a:prstGeom prst="rect">
            <a:avLst/>
          </a:prstGeom>
        </p:spPr>
      </p:pic>
      <p:sp>
        <p:nvSpPr>
          <p:cNvPr id="7" name="Oval 6">
            <a:extLst>
              <a:ext uri="{FF2B5EF4-FFF2-40B4-BE49-F238E27FC236}">
                <a16:creationId xmlns:a16="http://schemas.microsoft.com/office/drawing/2014/main" id="{5E855FD7-0055-9666-3341-26B0A56BAD9D}"/>
              </a:ext>
            </a:extLst>
          </p:cNvPr>
          <p:cNvSpPr/>
          <p:nvPr/>
        </p:nvSpPr>
        <p:spPr>
          <a:xfrm>
            <a:off x="2773180" y="4665301"/>
            <a:ext cx="914400" cy="914400"/>
          </a:xfrm>
          <a:prstGeom prst="ellipse">
            <a:avLst/>
          </a:prstGeom>
          <a:noFill/>
          <a:ln w="38100">
            <a:solidFill>
              <a:srgbClr val="006B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rgbClr val="006B64"/>
                </a:solidFill>
              </a:rPr>
              <a:t>1</a:t>
            </a:r>
            <a:endParaRPr lang="en-US" dirty="0">
              <a:solidFill>
                <a:srgbClr val="006B64"/>
              </a:solidFill>
            </a:endParaRPr>
          </a:p>
        </p:txBody>
      </p:sp>
      <p:pic>
        <p:nvPicPr>
          <p:cNvPr id="8" name="Picture 7">
            <a:extLst>
              <a:ext uri="{FF2B5EF4-FFF2-40B4-BE49-F238E27FC236}">
                <a16:creationId xmlns:a16="http://schemas.microsoft.com/office/drawing/2014/main" id="{BFED5939-DF18-B627-B307-1FFA8E759980}"/>
              </a:ext>
            </a:extLst>
          </p:cNvPr>
          <p:cNvPicPr>
            <a:picLocks noChangeAspect="1"/>
          </p:cNvPicPr>
          <p:nvPr/>
        </p:nvPicPr>
        <p:blipFill>
          <a:blip r:embed="rId5"/>
          <a:stretch>
            <a:fillRect/>
          </a:stretch>
        </p:blipFill>
        <p:spPr>
          <a:xfrm>
            <a:off x="2371283" y="9041729"/>
            <a:ext cx="13872952" cy="3498749"/>
          </a:xfrm>
          <a:prstGeom prst="rect">
            <a:avLst/>
          </a:prstGeom>
        </p:spPr>
      </p:pic>
      <p:sp>
        <p:nvSpPr>
          <p:cNvPr id="9" name="Oval 8">
            <a:extLst>
              <a:ext uri="{FF2B5EF4-FFF2-40B4-BE49-F238E27FC236}">
                <a16:creationId xmlns:a16="http://schemas.microsoft.com/office/drawing/2014/main" id="{36E56565-D2AB-4320-DE7E-A1A6690480B0}"/>
              </a:ext>
            </a:extLst>
          </p:cNvPr>
          <p:cNvSpPr/>
          <p:nvPr/>
        </p:nvSpPr>
        <p:spPr>
          <a:xfrm>
            <a:off x="2773180" y="7853497"/>
            <a:ext cx="914400" cy="914400"/>
          </a:xfrm>
          <a:prstGeom prst="ellipse">
            <a:avLst/>
          </a:prstGeom>
          <a:noFill/>
          <a:ln w="38100">
            <a:solidFill>
              <a:srgbClr val="006B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rgbClr val="006B64"/>
                </a:solidFill>
              </a:rPr>
              <a:t>2</a:t>
            </a:r>
            <a:endParaRPr lang="en-US" dirty="0">
              <a:solidFill>
                <a:srgbClr val="006B64"/>
              </a:solidFill>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9" grpId="0" build="p"/>
      <p:bldP spid="7"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4" name="TextBox 3">
            <a:extLst>
              <a:ext uri="{FF2B5EF4-FFF2-40B4-BE49-F238E27FC236}">
                <a16:creationId xmlns:a16="http://schemas.microsoft.com/office/drawing/2014/main" id="{71A1C36E-F1E9-B5FD-DB37-15E6F5B94578}"/>
              </a:ext>
            </a:extLst>
          </p:cNvPr>
          <p:cNvSpPr txBox="1"/>
          <p:nvPr/>
        </p:nvSpPr>
        <p:spPr>
          <a:xfrm>
            <a:off x="5206296" y="4439799"/>
            <a:ext cx="4747173"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a:t>
            </a:r>
          </a:p>
        </p:txBody>
      </p:sp>
      <p:sp>
        <p:nvSpPr>
          <p:cNvPr id="5" name="TextBox 4">
            <a:extLst>
              <a:ext uri="{FF2B5EF4-FFF2-40B4-BE49-F238E27FC236}">
                <a16:creationId xmlns:a16="http://schemas.microsoft.com/office/drawing/2014/main" id="{23D2AF6E-98DF-7AB2-562E-22300C92B195}"/>
              </a:ext>
            </a:extLst>
          </p:cNvPr>
          <p:cNvSpPr txBox="1"/>
          <p:nvPr/>
        </p:nvSpPr>
        <p:spPr>
          <a:xfrm>
            <a:off x="9778067" y="4439799"/>
            <a:ext cx="771545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endParaRPr lang="en-US" sz="6000" b="0" dirty="0">
              <a:solidFill>
                <a:srgbClr val="000000"/>
              </a:solidFill>
              <a:effectLst/>
              <a:latin typeface="Courier New" panose="02070309020205020404" pitchFamily="49" charset="0"/>
            </a:endParaRPr>
          </a:p>
        </p:txBody>
      </p:sp>
      <p:sp>
        <p:nvSpPr>
          <p:cNvPr id="6" name="TextBox 5">
            <a:extLst>
              <a:ext uri="{FF2B5EF4-FFF2-40B4-BE49-F238E27FC236}">
                <a16:creationId xmlns:a16="http://schemas.microsoft.com/office/drawing/2014/main" id="{7FB56834-223E-3396-1197-41F6F039EE95}"/>
              </a:ext>
            </a:extLst>
          </p:cNvPr>
          <p:cNvSpPr txBox="1"/>
          <p:nvPr/>
        </p:nvSpPr>
        <p:spPr>
          <a:xfrm>
            <a:off x="17080775" y="4441725"/>
            <a:ext cx="6675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6004205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append()</a:t>
            </a:r>
          </a:p>
        </p:txBody>
      </p:sp>
      <p:sp>
        <p:nvSpPr>
          <p:cNvPr id="4" name="TextBox 3">
            <a:extLst>
              <a:ext uri="{FF2B5EF4-FFF2-40B4-BE49-F238E27FC236}">
                <a16:creationId xmlns:a16="http://schemas.microsoft.com/office/drawing/2014/main" id="{19754269-0EEE-2071-55E4-EEA65C0E1965}"/>
              </a:ext>
            </a:extLst>
          </p:cNvPr>
          <p:cNvSpPr txBox="1"/>
          <p:nvPr/>
        </p:nvSpPr>
        <p:spPr>
          <a:xfrm>
            <a:off x="4846300" y="3602955"/>
            <a:ext cx="771545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endParaRPr lang="en-US" sz="6000" b="0" dirty="0">
              <a:solidFill>
                <a:srgbClr val="000000"/>
              </a:solidFill>
              <a:effectLst/>
              <a:latin typeface="Courier New" panose="02070309020205020404" pitchFamily="49" charset="0"/>
            </a:endParaRPr>
          </a:p>
        </p:txBody>
      </p:sp>
      <p:sp>
        <p:nvSpPr>
          <p:cNvPr id="5" name="TextBox 4">
            <a:extLst>
              <a:ext uri="{FF2B5EF4-FFF2-40B4-BE49-F238E27FC236}">
                <a16:creationId xmlns:a16="http://schemas.microsoft.com/office/drawing/2014/main" id="{D49B65A9-43B0-66AF-907A-814C921AB066}"/>
              </a:ext>
            </a:extLst>
          </p:cNvPr>
          <p:cNvSpPr txBox="1"/>
          <p:nvPr/>
        </p:nvSpPr>
        <p:spPr>
          <a:xfrm>
            <a:off x="12149008" y="3604881"/>
            <a:ext cx="6675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
        <p:nvSpPr>
          <p:cNvPr id="14" name="TextBox 13">
            <a:extLst>
              <a:ext uri="{FF2B5EF4-FFF2-40B4-BE49-F238E27FC236}">
                <a16:creationId xmlns:a16="http://schemas.microsoft.com/office/drawing/2014/main" id="{1A3BA4A9-8861-937A-0441-50F6CD992C7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19</a:t>
            </a:r>
            <a:r>
              <a:rPr lang="en-US" sz="6000" b="0" dirty="0">
                <a:solidFill>
                  <a:srgbClr val="000000"/>
                </a:solidFill>
                <a:effectLst/>
                <a:latin typeface="Courier New" panose="02070309020205020404" pitchFamily="49" charset="0"/>
              </a:rPr>
              <a:t>)</a:t>
            </a:r>
          </a:p>
        </p:txBody>
      </p:sp>
      <p:sp>
        <p:nvSpPr>
          <p:cNvPr id="15" name="TextBox 14">
            <a:extLst>
              <a:ext uri="{FF2B5EF4-FFF2-40B4-BE49-F238E27FC236}">
                <a16:creationId xmlns:a16="http://schemas.microsoft.com/office/drawing/2014/main" id="{70804955-0C73-A7E5-E4BA-7A7FBE051EA5}"/>
              </a:ext>
            </a:extLst>
          </p:cNvPr>
          <p:cNvSpPr txBox="1"/>
          <p:nvPr/>
        </p:nvSpPr>
        <p:spPr>
          <a:xfrm>
            <a:off x="8126282" y="5953806"/>
            <a:ext cx="118547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19</a:t>
            </a:r>
            <a:endParaRPr lang="en-US" sz="6000" b="0" dirty="0">
              <a:solidFill>
                <a:srgbClr val="000000"/>
              </a:solidFill>
              <a:effectLst/>
              <a:latin typeface="Courier New" panose="02070309020205020404" pitchFamily="49" charset="0"/>
            </a:endParaRPr>
          </a:p>
        </p:txBody>
      </p:sp>
    </p:spTree>
    <p:extLst>
      <p:ext uri="{BB962C8B-B14F-4D97-AF65-F5344CB8AC3E}">
        <p14:creationId xmlns:p14="http://schemas.microsoft.com/office/powerpoint/2010/main" val="111843506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1" name="TextBox 10">
            <a:extLst>
              <a:ext uri="{FF2B5EF4-FFF2-40B4-BE49-F238E27FC236}">
                <a16:creationId xmlns:a16="http://schemas.microsoft.com/office/drawing/2014/main" id="{7F6FC790-766F-5D3C-AA8F-07E50510D69B}"/>
              </a:ext>
            </a:extLst>
          </p:cNvPr>
          <p:cNvSpPr txBox="1"/>
          <p:nvPr/>
        </p:nvSpPr>
        <p:spPr>
          <a:xfrm>
            <a:off x="4846300" y="3602955"/>
            <a:ext cx="771545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endParaRPr lang="en-US" sz="6000" b="0" dirty="0">
              <a:solidFill>
                <a:srgbClr val="000000"/>
              </a:solidFill>
              <a:effectLst/>
              <a:latin typeface="Courier New" panose="02070309020205020404" pitchFamily="49" charset="0"/>
            </a:endParaRPr>
          </a:p>
        </p:txBody>
      </p:sp>
      <p:sp>
        <p:nvSpPr>
          <p:cNvPr id="15" name="TextBox 14">
            <a:extLst>
              <a:ext uri="{FF2B5EF4-FFF2-40B4-BE49-F238E27FC236}">
                <a16:creationId xmlns:a16="http://schemas.microsoft.com/office/drawing/2014/main" id="{5AF4029B-07CA-D11F-FE15-B3174E2F14F7}"/>
              </a:ext>
            </a:extLst>
          </p:cNvPr>
          <p:cNvSpPr txBox="1"/>
          <p:nvPr/>
        </p:nvSpPr>
        <p:spPr>
          <a:xfrm>
            <a:off x="4846300" y="3599285"/>
            <a:ext cx="975411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endParaRPr lang="en-US" sz="6000" b="0" dirty="0">
              <a:solidFill>
                <a:srgbClr val="000000"/>
              </a:solidFill>
              <a:effectLst/>
              <a:latin typeface="Courier New" panose="02070309020205020404" pitchFamily="49" charset="0"/>
            </a:endParaRPr>
          </a:p>
        </p:txBody>
      </p:sp>
      <p:sp>
        <p:nvSpPr>
          <p:cNvPr id="14" name="TextBox 13">
            <a:extLst>
              <a:ext uri="{FF2B5EF4-FFF2-40B4-BE49-F238E27FC236}">
                <a16:creationId xmlns:a16="http://schemas.microsoft.com/office/drawing/2014/main" id="{1A3BA4A9-8861-937A-0441-50F6CD992C7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19</a:t>
            </a:r>
            <a:r>
              <a:rPr lang="en-US" sz="6000" b="0" dirty="0">
                <a:solidFill>
                  <a:srgbClr val="000000"/>
                </a:solidFill>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append()</a:t>
            </a:r>
          </a:p>
        </p:txBody>
      </p:sp>
      <p:sp>
        <p:nvSpPr>
          <p:cNvPr id="8" name="TextBox 7">
            <a:extLst>
              <a:ext uri="{FF2B5EF4-FFF2-40B4-BE49-F238E27FC236}">
                <a16:creationId xmlns:a16="http://schemas.microsoft.com/office/drawing/2014/main" id="{15C02FD6-87B9-C3B8-382B-4D7F80864F34}"/>
              </a:ext>
            </a:extLst>
          </p:cNvPr>
          <p:cNvSpPr txBox="1"/>
          <p:nvPr/>
        </p:nvSpPr>
        <p:spPr>
          <a:xfrm>
            <a:off x="13932836" y="3602955"/>
            <a:ext cx="6675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920B9231-9460-E554-BEDF-337FD60EBEB4}"/>
              </a:ext>
            </a:extLst>
          </p:cNvPr>
          <p:cNvSpPr txBox="1"/>
          <p:nvPr/>
        </p:nvSpPr>
        <p:spPr>
          <a:xfrm>
            <a:off x="13081154" y="3602954"/>
            <a:ext cx="118547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19</a:t>
            </a:r>
            <a:endParaRPr lang="en-US" sz="6000" b="0" dirty="0">
              <a:solidFill>
                <a:srgbClr val="000000"/>
              </a:solidFill>
              <a:effectLst/>
              <a:latin typeface="Courier New" panose="02070309020205020404" pitchFamily="49" charset="0"/>
            </a:endParaRPr>
          </a:p>
        </p:txBody>
      </p:sp>
      <p:sp>
        <p:nvSpPr>
          <p:cNvPr id="10" name="TextBox 9">
            <a:extLst>
              <a:ext uri="{FF2B5EF4-FFF2-40B4-BE49-F238E27FC236}">
                <a16:creationId xmlns:a16="http://schemas.microsoft.com/office/drawing/2014/main" id="{AD890839-B71F-6C1A-902D-E8C65408337A}"/>
              </a:ext>
            </a:extLst>
          </p:cNvPr>
          <p:cNvSpPr txBox="1"/>
          <p:nvPr/>
        </p:nvSpPr>
        <p:spPr>
          <a:xfrm>
            <a:off x="12154734" y="3602954"/>
            <a:ext cx="66758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12" name="TextBox 11">
            <a:extLst>
              <a:ext uri="{FF2B5EF4-FFF2-40B4-BE49-F238E27FC236}">
                <a16:creationId xmlns:a16="http://schemas.microsoft.com/office/drawing/2014/main" id="{F6DCEDED-0156-0E7A-8FDC-34BD37B8AF25}"/>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 </a:t>
            </a:r>
            <a:r>
              <a:rPr lang="en-US" sz="6000" b="0" dirty="0">
                <a:solidFill>
                  <a:srgbClr val="000000"/>
                </a:solidFill>
                <a:effectLst/>
                <a:latin typeface="Courier New" panose="02070309020205020404" pitchFamily="49" charset="0"/>
              </a:rPr>
              <a:t>)</a:t>
            </a:r>
          </a:p>
        </p:txBody>
      </p:sp>
      <p:sp>
        <p:nvSpPr>
          <p:cNvPr id="16" name="TextBox 15">
            <a:extLst>
              <a:ext uri="{FF2B5EF4-FFF2-40B4-BE49-F238E27FC236}">
                <a16:creationId xmlns:a16="http://schemas.microsoft.com/office/drawing/2014/main" id="{420BABD2-9434-8DF3-A5BB-520DCF8FD3FB}"/>
              </a:ext>
            </a:extLst>
          </p:cNvPr>
          <p:cNvSpPr txBox="1"/>
          <p:nvPr/>
        </p:nvSpPr>
        <p:spPr>
          <a:xfrm>
            <a:off x="8119407" y="6969468"/>
            <a:ext cx="667580"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endParaRPr lang="en-US" sz="6000" b="0" dirty="0">
              <a:solidFill>
                <a:srgbClr val="000000"/>
              </a:solidFill>
              <a:effectLst/>
              <a:latin typeface="Courier New" panose="02070309020205020404" pitchFamily="49" charset="0"/>
            </a:endParaRPr>
          </a:p>
        </p:txBody>
      </p:sp>
      <p:sp>
        <p:nvSpPr>
          <p:cNvPr id="17" name="TextBox 16">
            <a:extLst>
              <a:ext uri="{FF2B5EF4-FFF2-40B4-BE49-F238E27FC236}">
                <a16:creationId xmlns:a16="http://schemas.microsoft.com/office/drawing/2014/main" id="{BB1A8530-D4FB-FDFB-2EDA-8C144738F8A3}"/>
              </a:ext>
            </a:extLst>
          </p:cNvPr>
          <p:cNvSpPr txBox="1"/>
          <p:nvPr/>
        </p:nvSpPr>
        <p:spPr>
          <a:xfrm>
            <a:off x="1270417" y="6969558"/>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18970759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xit"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9" grpId="0"/>
      <p:bldP spid="10" grpId="0"/>
      <p:bldP spid="12" grpId="0"/>
      <p:bldP spid="16" grpId="0"/>
      <p:bldP spid="1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5" name="TextBox 14">
            <a:extLst>
              <a:ext uri="{FF2B5EF4-FFF2-40B4-BE49-F238E27FC236}">
                <a16:creationId xmlns:a16="http://schemas.microsoft.com/office/drawing/2014/main" id="{5AF4029B-07CA-D11F-FE15-B3174E2F14F7}"/>
              </a:ext>
            </a:extLst>
          </p:cNvPr>
          <p:cNvSpPr txBox="1"/>
          <p:nvPr/>
        </p:nvSpPr>
        <p:spPr>
          <a:xfrm>
            <a:off x="4846300" y="3599285"/>
            <a:ext cx="9586719"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endParaRPr lang="en-US" sz="6000" b="0" dirty="0">
              <a:solidFill>
                <a:srgbClr val="000000"/>
              </a:solidFill>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append()</a:t>
            </a:r>
          </a:p>
        </p:txBody>
      </p:sp>
      <p:sp>
        <p:nvSpPr>
          <p:cNvPr id="14" name="TextBox 13">
            <a:extLst>
              <a:ext uri="{FF2B5EF4-FFF2-40B4-BE49-F238E27FC236}">
                <a16:creationId xmlns:a16="http://schemas.microsoft.com/office/drawing/2014/main" id="{1A3BA4A9-8861-937A-0441-50F6CD992C7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19</a:t>
            </a:r>
            <a:r>
              <a:rPr lang="en-US" sz="60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15C02FD6-87B9-C3B8-382B-4D7F80864F34}"/>
              </a:ext>
            </a:extLst>
          </p:cNvPr>
          <p:cNvSpPr txBox="1"/>
          <p:nvPr/>
        </p:nvSpPr>
        <p:spPr>
          <a:xfrm>
            <a:off x="15356901" y="3602955"/>
            <a:ext cx="6675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920B9231-9460-E554-BEDF-337FD60EBEB4}"/>
              </a:ext>
            </a:extLst>
          </p:cNvPr>
          <p:cNvSpPr txBox="1"/>
          <p:nvPr/>
        </p:nvSpPr>
        <p:spPr>
          <a:xfrm>
            <a:off x="14894960" y="3602954"/>
            <a:ext cx="667580"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endParaRPr lang="en-US" sz="6000" b="0" dirty="0">
              <a:solidFill>
                <a:srgbClr val="000000"/>
              </a:solidFill>
              <a:effectLst/>
              <a:latin typeface="Courier New" panose="02070309020205020404" pitchFamily="49" charset="0"/>
            </a:endParaRPr>
          </a:p>
        </p:txBody>
      </p:sp>
      <p:sp>
        <p:nvSpPr>
          <p:cNvPr id="10" name="TextBox 9">
            <a:extLst>
              <a:ext uri="{FF2B5EF4-FFF2-40B4-BE49-F238E27FC236}">
                <a16:creationId xmlns:a16="http://schemas.microsoft.com/office/drawing/2014/main" id="{AD890839-B71F-6C1A-902D-E8C65408337A}"/>
              </a:ext>
            </a:extLst>
          </p:cNvPr>
          <p:cNvSpPr txBox="1"/>
          <p:nvPr/>
        </p:nvSpPr>
        <p:spPr>
          <a:xfrm>
            <a:off x="13983530" y="3602954"/>
            <a:ext cx="66758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12" name="TextBox 11">
            <a:extLst>
              <a:ext uri="{FF2B5EF4-FFF2-40B4-BE49-F238E27FC236}">
                <a16:creationId xmlns:a16="http://schemas.microsoft.com/office/drawing/2014/main" id="{F6DCEDED-0156-0E7A-8FDC-34BD37B8AF25}"/>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my_list.append</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217FF8BB-90D8-6448-8F16-A7519296AC54}"/>
              </a:ext>
            </a:extLst>
          </p:cNvPr>
          <p:cNvSpPr txBox="1"/>
          <p:nvPr/>
        </p:nvSpPr>
        <p:spPr>
          <a:xfrm>
            <a:off x="4846300" y="3599285"/>
            <a:ext cx="11987654"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8</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70330497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5" name="TextBox 4">
            <a:extLst>
              <a:ext uri="{FF2B5EF4-FFF2-40B4-BE49-F238E27FC236}">
                <a16:creationId xmlns:a16="http://schemas.microsoft.com/office/drawing/2014/main" id="{1D4F2AA8-6BD6-2A46-E88B-E9AFD6D625E3}"/>
              </a:ext>
            </a:extLst>
          </p:cNvPr>
          <p:cNvSpPr txBox="1"/>
          <p:nvPr/>
        </p:nvSpPr>
        <p:spPr>
          <a:xfrm>
            <a:off x="4846300" y="3599285"/>
            <a:ext cx="11987654"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8</a:t>
            </a:r>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E128FB55-A8BA-21AF-3AD6-99C3D19964E0}"/>
              </a:ext>
            </a:extLst>
          </p:cNvPr>
          <p:cNvSpPr txBox="1"/>
          <p:nvPr/>
        </p:nvSpPr>
        <p:spPr>
          <a:xfrm>
            <a:off x="4846300" y="3599285"/>
            <a:ext cx="506219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remove()</a:t>
            </a:r>
          </a:p>
        </p:txBody>
      </p:sp>
      <p:sp>
        <p:nvSpPr>
          <p:cNvPr id="4" name="TextBox 3">
            <a:extLst>
              <a:ext uri="{FF2B5EF4-FFF2-40B4-BE49-F238E27FC236}">
                <a16:creationId xmlns:a16="http://schemas.microsoft.com/office/drawing/2014/main" id="{7763CCE2-3C63-6936-9DDD-12CD8872DF12}"/>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my_list.remove</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a:t>
            </a:r>
          </a:p>
        </p:txBody>
      </p:sp>
      <p:sp>
        <p:nvSpPr>
          <p:cNvPr id="6" name="Rectangle 5">
            <a:extLst>
              <a:ext uri="{FF2B5EF4-FFF2-40B4-BE49-F238E27FC236}">
                <a16:creationId xmlns:a16="http://schemas.microsoft.com/office/drawing/2014/main" id="{1F4BF356-6D5D-2B27-AA3D-B088A0A75F3B}"/>
              </a:ext>
            </a:extLst>
          </p:cNvPr>
          <p:cNvSpPr/>
          <p:nvPr/>
        </p:nvSpPr>
        <p:spPr>
          <a:xfrm>
            <a:off x="5306518" y="3717562"/>
            <a:ext cx="1049312" cy="71895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CDFF0DB-C37C-C74C-5DFB-726218B44A60}"/>
              </a:ext>
            </a:extLst>
          </p:cNvPr>
          <p:cNvSpPr txBox="1"/>
          <p:nvPr/>
        </p:nvSpPr>
        <p:spPr>
          <a:xfrm>
            <a:off x="11699303" y="3599284"/>
            <a:ext cx="4385143"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8</a:t>
            </a:r>
            <a:r>
              <a:rPr lang="en-US" sz="6000" b="0" dirty="0">
                <a:solidFill>
                  <a:srgbClr val="000000"/>
                </a:solidFill>
                <a:effectLst/>
                <a:latin typeface="Courier New" panose="02070309020205020404" pitchFamily="49" charset="0"/>
              </a:rPr>
              <a:t>]</a:t>
            </a:r>
          </a:p>
        </p:txBody>
      </p:sp>
      <p:sp>
        <p:nvSpPr>
          <p:cNvPr id="12" name="TextBox 11">
            <a:extLst>
              <a:ext uri="{FF2B5EF4-FFF2-40B4-BE49-F238E27FC236}">
                <a16:creationId xmlns:a16="http://schemas.microsoft.com/office/drawing/2014/main" id="{A164CBCA-08E2-BF0A-287C-292436770C18}"/>
              </a:ext>
            </a:extLst>
          </p:cNvPr>
          <p:cNvSpPr txBox="1"/>
          <p:nvPr/>
        </p:nvSpPr>
        <p:spPr>
          <a:xfrm>
            <a:off x="9873003" y="3599284"/>
            <a:ext cx="1826300"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-2</a:t>
            </a:r>
            <a:r>
              <a:rPr lang="en-US" sz="6000" dirty="0">
                <a:latin typeface="Courier New" panose="02070309020205020404" pitchFamily="49" charset="0"/>
              </a:rPr>
              <a:t>,</a:t>
            </a:r>
            <a:endParaRPr lang="en-US" sz="6000" b="0" dirty="0">
              <a:effectLst/>
              <a:latin typeface="Courier New" panose="02070309020205020404" pitchFamily="49" charset="0"/>
            </a:endParaRPr>
          </a:p>
        </p:txBody>
      </p:sp>
    </p:spTree>
    <p:extLst>
      <p:ext uri="{BB962C8B-B14F-4D97-AF65-F5344CB8AC3E}">
        <p14:creationId xmlns:p14="http://schemas.microsoft.com/office/powerpoint/2010/main" val="231635937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0" presetClass="path" presetSubtype="0" accel="50000" decel="50000" fill="hold" grpId="0" nodeType="afterEffect">
                                  <p:stCondLst>
                                    <p:cond delay="200"/>
                                  </p:stCondLst>
                                  <p:childTnLst>
                                    <p:animMotion origin="layout" path="M 3.52819E-6 -2.22222E-6 L 0.18812 0.00243 " pathEditMode="relative" rAng="0" ptsTypes="AA">
                                      <p:cBhvr>
                                        <p:cTn id="13" dur="1500" fill="hold"/>
                                        <p:tgtEl>
                                          <p:spTgt spid="6"/>
                                        </p:tgtEl>
                                        <p:attrNameLst>
                                          <p:attrName>ppt_x</p:attrName>
                                          <p:attrName>ppt_y</p:attrName>
                                        </p:attrNameLst>
                                      </p:cBhvr>
                                      <p:rCtr x="9406" y="116"/>
                                    </p:animMotion>
                                  </p:childTnLst>
                                </p:cTn>
                              </p:par>
                            </p:childTnLst>
                          </p:cTn>
                        </p:par>
                        <p:par>
                          <p:cTn id="14" fill="hold">
                            <p:stCondLst>
                              <p:cond delay="1700"/>
                            </p:stCondLst>
                            <p:childTnLst>
                              <p:par>
                                <p:cTn id="15" presetID="1" presetClass="entr" presetSubtype="0" fill="hold" grpId="0" nodeType="after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xit"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P spid="4" grpId="0"/>
      <p:bldP spid="6" grpId="0" animBg="1"/>
      <p:bldP spid="6" grpId="1" animBg="1"/>
      <p:bldP spid="11" grpId="0"/>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0" name="TextBox 9">
            <a:extLst>
              <a:ext uri="{FF2B5EF4-FFF2-40B4-BE49-F238E27FC236}">
                <a16:creationId xmlns:a16="http://schemas.microsoft.com/office/drawing/2014/main" id="{21890634-5873-536F-3D9E-301AD6A53F42}"/>
              </a:ext>
            </a:extLst>
          </p:cNvPr>
          <p:cNvSpPr txBox="1"/>
          <p:nvPr/>
        </p:nvSpPr>
        <p:spPr>
          <a:xfrm>
            <a:off x="4846298" y="3599283"/>
            <a:ext cx="681605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p>
        </p:txBody>
      </p:sp>
      <p:sp>
        <p:nvSpPr>
          <p:cNvPr id="11" name="TextBox 10">
            <a:extLst>
              <a:ext uri="{FF2B5EF4-FFF2-40B4-BE49-F238E27FC236}">
                <a16:creationId xmlns:a16="http://schemas.microsoft.com/office/drawing/2014/main" id="{7BE11ABE-9C95-AA5D-A99E-EF8652104095}"/>
              </a:ext>
            </a:extLst>
          </p:cNvPr>
          <p:cNvSpPr txBox="1"/>
          <p:nvPr/>
        </p:nvSpPr>
        <p:spPr>
          <a:xfrm>
            <a:off x="13074391" y="3599283"/>
            <a:ext cx="122221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12" name="TextBox 11">
            <a:extLst>
              <a:ext uri="{FF2B5EF4-FFF2-40B4-BE49-F238E27FC236}">
                <a16:creationId xmlns:a16="http://schemas.microsoft.com/office/drawing/2014/main" id="{04D79386-A88E-2C9C-2618-B0C4A93F6284}"/>
              </a:ext>
            </a:extLst>
          </p:cNvPr>
          <p:cNvSpPr txBox="1"/>
          <p:nvPr/>
        </p:nvSpPr>
        <p:spPr>
          <a:xfrm>
            <a:off x="11249598" y="3599281"/>
            <a:ext cx="1798820"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19</a:t>
            </a:r>
            <a:r>
              <a:rPr lang="en-US" sz="6000" b="0" dirty="0">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remove()</a:t>
            </a:r>
          </a:p>
        </p:txBody>
      </p:sp>
      <p:sp>
        <p:nvSpPr>
          <p:cNvPr id="4" name="TextBox 3">
            <a:extLst>
              <a:ext uri="{FF2B5EF4-FFF2-40B4-BE49-F238E27FC236}">
                <a16:creationId xmlns:a16="http://schemas.microsoft.com/office/drawing/2014/main" id="{C418AD37-FC2B-BC72-5C21-733A4E3E1D4A}"/>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my_list.remove</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a:t>
            </a:r>
          </a:p>
        </p:txBody>
      </p:sp>
      <p:sp>
        <p:nvSpPr>
          <p:cNvPr id="6" name="TextBox 5">
            <a:extLst>
              <a:ext uri="{FF2B5EF4-FFF2-40B4-BE49-F238E27FC236}">
                <a16:creationId xmlns:a16="http://schemas.microsoft.com/office/drawing/2014/main" id="{93B0376D-0694-6367-CA76-7F204B023C43}"/>
              </a:ext>
            </a:extLst>
          </p:cNvPr>
          <p:cNvSpPr txBox="1"/>
          <p:nvPr/>
        </p:nvSpPr>
        <p:spPr>
          <a:xfrm>
            <a:off x="9877660" y="3599280"/>
            <a:ext cx="4609557"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5</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19</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8</a:t>
            </a:r>
            <a:r>
              <a:rPr lang="en-US" sz="60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9547F129-8551-669E-1E76-50F097C304EA}"/>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my_list.remove</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19</a:t>
            </a:r>
            <a:r>
              <a:rPr lang="en-US" sz="6000" b="0" dirty="0">
                <a:solidFill>
                  <a:srgbClr val="000000"/>
                </a:solidFill>
                <a:effectLst/>
                <a:latin typeface="Courier New" panose="02070309020205020404" pitchFamily="49" charset="0"/>
              </a:rPr>
              <a:t>)</a:t>
            </a:r>
          </a:p>
        </p:txBody>
      </p:sp>
      <p:sp>
        <p:nvSpPr>
          <p:cNvPr id="9" name="Rectangle 8">
            <a:extLst>
              <a:ext uri="{FF2B5EF4-FFF2-40B4-BE49-F238E27FC236}">
                <a16:creationId xmlns:a16="http://schemas.microsoft.com/office/drawing/2014/main" id="{8190BD9B-CB79-4B6F-1A3A-B3285628A6FA}"/>
              </a:ext>
            </a:extLst>
          </p:cNvPr>
          <p:cNvSpPr/>
          <p:nvPr/>
        </p:nvSpPr>
        <p:spPr>
          <a:xfrm>
            <a:off x="5306518" y="3717562"/>
            <a:ext cx="1049312" cy="71895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A0EFE8B-0E92-9882-C565-CA9CDD2C7DFA}"/>
              </a:ext>
            </a:extLst>
          </p:cNvPr>
          <p:cNvSpPr txBox="1"/>
          <p:nvPr/>
        </p:nvSpPr>
        <p:spPr>
          <a:xfrm>
            <a:off x="4846300" y="3599285"/>
            <a:ext cx="506219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Tree>
    <p:extLst>
      <p:ext uri="{BB962C8B-B14F-4D97-AF65-F5344CB8AC3E}">
        <p14:creationId xmlns:p14="http://schemas.microsoft.com/office/powerpoint/2010/main" val="84024652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par>
                          <p:cTn id="11" fill="hold">
                            <p:stCondLst>
                              <p:cond delay="0"/>
                            </p:stCondLst>
                            <p:childTnLst>
                              <p:par>
                                <p:cTn id="12" presetID="0" presetClass="path" presetSubtype="0" accel="50000" decel="50000" fill="hold" grpId="0" nodeType="afterEffect">
                                  <p:stCondLst>
                                    <p:cond delay="200"/>
                                  </p:stCondLst>
                                  <p:childTnLst>
                                    <p:animMotion origin="layout" path="M 3.52819E-6 -2.22222E-6 L 0.24463 0.00243 " pathEditMode="relative" rAng="0" ptsTypes="AA">
                                      <p:cBhvr>
                                        <p:cTn id="13" dur="1500" fill="hold"/>
                                        <p:tgtEl>
                                          <p:spTgt spid="9"/>
                                        </p:tgtEl>
                                        <p:attrNameLst>
                                          <p:attrName>ppt_x</p:attrName>
                                          <p:attrName>ppt_y</p:attrName>
                                        </p:attrNameLst>
                                      </p:cBhvr>
                                      <p:rCtr x="12231" y="116"/>
                                    </p:animMotion>
                                  </p:childTnLst>
                                </p:cTn>
                              </p:par>
                            </p:childTnLst>
                          </p:cTn>
                        </p:par>
                        <p:par>
                          <p:cTn id="14" fill="hold">
                            <p:stCondLst>
                              <p:cond delay="1700"/>
                            </p:stCondLst>
                            <p:childTnLst>
                              <p:par>
                                <p:cTn id="15" presetID="1" presetClass="entr" presetSubtype="0"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6" grpId="0"/>
      <p:bldP spid="8" grpId="0"/>
      <p:bldP spid="9" grpId="0" animBg="1"/>
      <p:bldP spid="9" grpId="1" animBg="1"/>
      <p:bldP spid="1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remove()</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my_list.remove</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-2</a:t>
            </a:r>
            <a:r>
              <a:rPr lang="en-US" sz="6000" b="0" dirty="0">
                <a:solidFill>
                  <a:srgbClr val="000000"/>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04A52E2B-F3AD-5C6C-69BA-8CDEC746CF92}"/>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my_list.remove</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19</a:t>
            </a:r>
            <a:r>
              <a:rPr lang="en-US" sz="6000" b="0" dirty="0">
                <a:solidFill>
                  <a:srgbClr val="000000"/>
                </a:solidFill>
                <a:effectLst/>
                <a:latin typeface="Courier New" panose="02070309020205020404" pitchFamily="49" charset="0"/>
              </a:rPr>
              <a:t>)</a:t>
            </a:r>
          </a:p>
        </p:txBody>
      </p:sp>
      <p:sp>
        <p:nvSpPr>
          <p:cNvPr id="6" name="TextBox 5">
            <a:extLst>
              <a:ext uri="{FF2B5EF4-FFF2-40B4-BE49-F238E27FC236}">
                <a16:creationId xmlns:a16="http://schemas.microsoft.com/office/drawing/2014/main" id="{72157422-5CD5-E175-C7C0-AB32066A5E96}"/>
              </a:ext>
            </a:extLst>
          </p:cNvPr>
          <p:cNvSpPr txBox="1"/>
          <p:nvPr/>
        </p:nvSpPr>
        <p:spPr>
          <a:xfrm>
            <a:off x="4846297" y="3599283"/>
            <a:ext cx="684603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p>
        </p:txBody>
      </p:sp>
      <p:sp>
        <p:nvSpPr>
          <p:cNvPr id="8" name="TextBox 7">
            <a:extLst>
              <a:ext uri="{FF2B5EF4-FFF2-40B4-BE49-F238E27FC236}">
                <a16:creationId xmlns:a16="http://schemas.microsoft.com/office/drawing/2014/main" id="{EFBACF90-0EE1-B1CE-2A28-35ED7938EF0A}"/>
              </a:ext>
            </a:extLst>
          </p:cNvPr>
          <p:cNvSpPr txBox="1"/>
          <p:nvPr/>
        </p:nvSpPr>
        <p:spPr>
          <a:xfrm>
            <a:off x="11247778" y="3599283"/>
            <a:ext cx="122221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A7F50577-8F9C-C18B-F86E-06553B53D7A7}"/>
              </a:ext>
            </a:extLst>
          </p:cNvPr>
          <p:cNvSpPr txBox="1"/>
          <p:nvPr/>
        </p:nvSpPr>
        <p:spPr>
          <a:xfrm>
            <a:off x="4846297" y="3599283"/>
            <a:ext cx="769615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8998219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0" name="TextBox 9">
            <a:extLst>
              <a:ext uri="{FF2B5EF4-FFF2-40B4-BE49-F238E27FC236}">
                <a16:creationId xmlns:a16="http://schemas.microsoft.com/office/drawing/2014/main" id="{9DCD0C32-E662-8B4B-261D-D2FC0CB6FD39}"/>
              </a:ext>
            </a:extLst>
          </p:cNvPr>
          <p:cNvSpPr txBox="1"/>
          <p:nvPr/>
        </p:nvSpPr>
        <p:spPr>
          <a:xfrm>
            <a:off x="4846298" y="3599282"/>
            <a:ext cx="551190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
        <p:nvSpPr>
          <p:cNvPr id="11" name="TextBox 10">
            <a:extLst>
              <a:ext uri="{FF2B5EF4-FFF2-40B4-BE49-F238E27FC236}">
                <a16:creationId xmlns:a16="http://schemas.microsoft.com/office/drawing/2014/main" id="{38D2B6C0-6279-0549-E3AF-92322F3EEA61}"/>
              </a:ext>
            </a:extLst>
          </p:cNvPr>
          <p:cNvSpPr txBox="1"/>
          <p:nvPr/>
        </p:nvSpPr>
        <p:spPr>
          <a:xfrm>
            <a:off x="9871254" y="3599282"/>
            <a:ext cx="2528864"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A7F50577-8F9C-C18B-F86E-06553B53D7A7}"/>
              </a:ext>
            </a:extLst>
          </p:cNvPr>
          <p:cNvSpPr txBox="1"/>
          <p:nvPr/>
        </p:nvSpPr>
        <p:spPr>
          <a:xfrm>
            <a:off x="4846297" y="3599283"/>
            <a:ext cx="769615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insert()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my_list.insert</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14</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38932871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insert()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my_list.insert</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14</a:t>
            </a:r>
            <a:r>
              <a:rPr lang="en-US" sz="6000" b="0" dirty="0">
                <a:solidFill>
                  <a:srgbClr val="000000"/>
                </a:solidFill>
                <a:effectLst/>
                <a:latin typeface="Courier New" panose="02070309020205020404" pitchFamily="49" charset="0"/>
              </a:rPr>
              <a:t>)</a:t>
            </a:r>
          </a:p>
        </p:txBody>
      </p:sp>
      <p:sp>
        <p:nvSpPr>
          <p:cNvPr id="10" name="TextBox 9">
            <a:extLst>
              <a:ext uri="{FF2B5EF4-FFF2-40B4-BE49-F238E27FC236}">
                <a16:creationId xmlns:a16="http://schemas.microsoft.com/office/drawing/2014/main" id="{9DCD0C32-E662-8B4B-261D-D2FC0CB6FD39}"/>
              </a:ext>
            </a:extLst>
          </p:cNvPr>
          <p:cNvSpPr txBox="1"/>
          <p:nvPr/>
        </p:nvSpPr>
        <p:spPr>
          <a:xfrm>
            <a:off x="4846299" y="3599282"/>
            <a:ext cx="5391984"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
        <p:nvSpPr>
          <p:cNvPr id="11" name="TextBox 10">
            <a:extLst>
              <a:ext uri="{FF2B5EF4-FFF2-40B4-BE49-F238E27FC236}">
                <a16:creationId xmlns:a16="http://schemas.microsoft.com/office/drawing/2014/main" id="{38D2B6C0-6279-0549-E3AF-92322F3EEA61}"/>
              </a:ext>
            </a:extLst>
          </p:cNvPr>
          <p:cNvSpPr txBox="1"/>
          <p:nvPr/>
        </p:nvSpPr>
        <p:spPr>
          <a:xfrm>
            <a:off x="11709971" y="3599282"/>
            <a:ext cx="2528864"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12" name="TextBox 11">
            <a:extLst>
              <a:ext uri="{FF2B5EF4-FFF2-40B4-BE49-F238E27FC236}">
                <a16:creationId xmlns:a16="http://schemas.microsoft.com/office/drawing/2014/main" id="{132DF58E-7901-F285-ED06-F4E399A47A3E}"/>
              </a:ext>
            </a:extLst>
          </p:cNvPr>
          <p:cNvSpPr txBox="1"/>
          <p:nvPr/>
        </p:nvSpPr>
        <p:spPr>
          <a:xfrm>
            <a:off x="9873153" y="3599282"/>
            <a:ext cx="185180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p>
        </p:txBody>
      </p:sp>
      <p:sp>
        <p:nvSpPr>
          <p:cNvPr id="13" name="TextBox 12">
            <a:extLst>
              <a:ext uri="{FF2B5EF4-FFF2-40B4-BE49-F238E27FC236}">
                <a16:creationId xmlns:a16="http://schemas.microsoft.com/office/drawing/2014/main" id="{B1C4552C-281C-20D6-1FC4-6498A6CDF9B2}"/>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my_list.insert</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18399228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insert()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my_list.insert</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14</a:t>
            </a:r>
            <a:r>
              <a:rPr lang="en-US" sz="6000" b="0" dirty="0">
                <a:solidFill>
                  <a:srgbClr val="000000"/>
                </a:solidFill>
                <a:effectLst/>
                <a:latin typeface="Courier New" panose="02070309020205020404" pitchFamily="49" charset="0"/>
              </a:rPr>
              <a:t>)</a:t>
            </a:r>
          </a:p>
        </p:txBody>
      </p:sp>
      <p:sp>
        <p:nvSpPr>
          <p:cNvPr id="10" name="TextBox 9">
            <a:extLst>
              <a:ext uri="{FF2B5EF4-FFF2-40B4-BE49-F238E27FC236}">
                <a16:creationId xmlns:a16="http://schemas.microsoft.com/office/drawing/2014/main" id="{9DCD0C32-E662-8B4B-261D-D2FC0CB6FD39}"/>
              </a:ext>
            </a:extLst>
          </p:cNvPr>
          <p:cNvSpPr txBox="1"/>
          <p:nvPr/>
        </p:nvSpPr>
        <p:spPr>
          <a:xfrm>
            <a:off x="4846299" y="3599282"/>
            <a:ext cx="50309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
        <p:nvSpPr>
          <p:cNvPr id="11" name="TextBox 10">
            <a:extLst>
              <a:ext uri="{FF2B5EF4-FFF2-40B4-BE49-F238E27FC236}">
                <a16:creationId xmlns:a16="http://schemas.microsoft.com/office/drawing/2014/main" id="{38D2B6C0-6279-0549-E3AF-92322F3EEA61}"/>
              </a:ext>
            </a:extLst>
          </p:cNvPr>
          <p:cNvSpPr txBox="1"/>
          <p:nvPr/>
        </p:nvSpPr>
        <p:spPr>
          <a:xfrm>
            <a:off x="13082987" y="3599511"/>
            <a:ext cx="2528864"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12" name="TextBox 11">
            <a:extLst>
              <a:ext uri="{FF2B5EF4-FFF2-40B4-BE49-F238E27FC236}">
                <a16:creationId xmlns:a16="http://schemas.microsoft.com/office/drawing/2014/main" id="{132DF58E-7901-F285-ED06-F4E399A47A3E}"/>
              </a:ext>
            </a:extLst>
          </p:cNvPr>
          <p:cNvSpPr txBox="1"/>
          <p:nvPr/>
        </p:nvSpPr>
        <p:spPr>
          <a:xfrm>
            <a:off x="11246169" y="3599511"/>
            <a:ext cx="185180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p>
        </p:txBody>
      </p:sp>
      <p:sp>
        <p:nvSpPr>
          <p:cNvPr id="13" name="TextBox 12">
            <a:extLst>
              <a:ext uri="{FF2B5EF4-FFF2-40B4-BE49-F238E27FC236}">
                <a16:creationId xmlns:a16="http://schemas.microsoft.com/office/drawing/2014/main" id="{B1C4552C-281C-20D6-1FC4-6498A6CDF9B2}"/>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my_list.insert</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effectLst/>
                <a:latin typeface="Courier New" panose="02070309020205020404" pitchFamily="49" charset="0"/>
              </a:rPr>
              <a:t>,</a:t>
            </a:r>
            <a:r>
              <a:rPr lang="en-US" sz="6000" b="0" dirty="0">
                <a:solidFill>
                  <a:srgbClr val="098156"/>
                </a:solidFill>
                <a:effectLst/>
                <a:latin typeface="Courier New" panose="02070309020205020404" pitchFamily="49" charset="0"/>
              </a:rPr>
              <a:t> 1</a:t>
            </a:r>
            <a:r>
              <a:rPr lang="en-US" sz="6000" b="0" dirty="0">
                <a:solidFill>
                  <a:srgbClr val="000000"/>
                </a:solidFill>
                <a:effectLst/>
                <a:latin typeface="Courier New" panose="02070309020205020404" pitchFamily="49" charset="0"/>
              </a:rPr>
              <a:t>)</a:t>
            </a:r>
          </a:p>
        </p:txBody>
      </p:sp>
      <p:sp>
        <p:nvSpPr>
          <p:cNvPr id="5" name="TextBox 4">
            <a:extLst>
              <a:ext uri="{FF2B5EF4-FFF2-40B4-BE49-F238E27FC236}">
                <a16:creationId xmlns:a16="http://schemas.microsoft.com/office/drawing/2014/main" id="{535E82F9-4266-D970-6BDD-3D710B297413}"/>
              </a:ext>
            </a:extLst>
          </p:cNvPr>
          <p:cNvSpPr txBox="1"/>
          <p:nvPr/>
        </p:nvSpPr>
        <p:spPr>
          <a:xfrm>
            <a:off x="9877278" y="3599281"/>
            <a:ext cx="1161470"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r>
              <a:rPr lang="en-US" sz="6000" b="0" dirty="0">
                <a:solidFill>
                  <a:srgbClr val="000000"/>
                </a:solidFill>
                <a:effectLst/>
                <a:latin typeface="Courier New" panose="02070309020205020404" pitchFamily="49" charset="0"/>
              </a:rPr>
              <a:t>,</a:t>
            </a:r>
          </a:p>
        </p:txBody>
      </p:sp>
      <p:sp>
        <p:nvSpPr>
          <p:cNvPr id="6" name="TextBox 5">
            <a:extLst>
              <a:ext uri="{FF2B5EF4-FFF2-40B4-BE49-F238E27FC236}">
                <a16:creationId xmlns:a16="http://schemas.microsoft.com/office/drawing/2014/main" id="{47147BF0-A9C1-2803-8ED0-92057DC3B9EF}"/>
              </a:ext>
            </a:extLst>
          </p:cNvPr>
          <p:cNvSpPr txBox="1"/>
          <p:nvPr/>
        </p:nvSpPr>
        <p:spPr>
          <a:xfrm>
            <a:off x="11247220" y="3599280"/>
            <a:ext cx="461842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168429487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afterEffect">
                                  <p:stCondLst>
                                    <p:cond delay="0"/>
                                  </p:stCondLst>
                                  <p:childTnLst>
                                    <p:set>
                                      <p:cBhvr>
                                        <p:cTn id="6" dur="1" fill="hold">
                                          <p:stCondLst>
                                            <p:cond delay="0"/>
                                          </p:stCondLst>
                                        </p:cTn>
                                        <p:tgtEl>
                                          <p:spTgt spid="11"/>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5" name="TextBox 4">
            <a:extLst>
              <a:ext uri="{FF2B5EF4-FFF2-40B4-BE49-F238E27FC236}">
                <a16:creationId xmlns:a16="http://schemas.microsoft.com/office/drawing/2014/main" id="{535E82F9-4266-D970-6BDD-3D710B297413}"/>
              </a:ext>
            </a:extLst>
          </p:cNvPr>
          <p:cNvSpPr txBox="1"/>
          <p:nvPr/>
        </p:nvSpPr>
        <p:spPr>
          <a:xfrm>
            <a:off x="9877278" y="3599281"/>
            <a:ext cx="1161470"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r>
              <a:rPr lang="en-US" sz="60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87E4D263-4E79-BACA-F173-D772B07A3D8D}"/>
              </a:ext>
            </a:extLst>
          </p:cNvPr>
          <p:cNvSpPr txBox="1"/>
          <p:nvPr/>
        </p:nvSpPr>
        <p:spPr>
          <a:xfrm>
            <a:off x="9877278" y="3597327"/>
            <a:ext cx="702294"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9" name="TextBox 8">
            <a:extLst>
              <a:ext uri="{FF2B5EF4-FFF2-40B4-BE49-F238E27FC236}">
                <a16:creationId xmlns:a16="http://schemas.microsoft.com/office/drawing/2014/main" id="{7CE01F1B-A43F-07A5-B511-B36BC58C8073}"/>
              </a:ext>
            </a:extLst>
          </p:cNvPr>
          <p:cNvSpPr txBox="1"/>
          <p:nvPr/>
        </p:nvSpPr>
        <p:spPr>
          <a:xfrm>
            <a:off x="10336454" y="3598304"/>
            <a:ext cx="702294"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6" name="TextBox 5">
            <a:extLst>
              <a:ext uri="{FF2B5EF4-FFF2-40B4-BE49-F238E27FC236}">
                <a16:creationId xmlns:a16="http://schemas.microsoft.com/office/drawing/2014/main" id="{47147BF0-A9C1-2803-8ED0-92057DC3B9EF}"/>
              </a:ext>
            </a:extLst>
          </p:cNvPr>
          <p:cNvSpPr txBox="1"/>
          <p:nvPr/>
        </p:nvSpPr>
        <p:spPr>
          <a:xfrm>
            <a:off x="11247220" y="3599280"/>
            <a:ext cx="461842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pop()</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my_list.pop</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p>
        </p:txBody>
      </p:sp>
      <p:sp>
        <p:nvSpPr>
          <p:cNvPr id="10" name="TextBox 9">
            <a:extLst>
              <a:ext uri="{FF2B5EF4-FFF2-40B4-BE49-F238E27FC236}">
                <a16:creationId xmlns:a16="http://schemas.microsoft.com/office/drawing/2014/main" id="{9DCD0C32-E662-8B4B-261D-D2FC0CB6FD39}"/>
              </a:ext>
            </a:extLst>
          </p:cNvPr>
          <p:cNvSpPr txBox="1"/>
          <p:nvPr/>
        </p:nvSpPr>
        <p:spPr>
          <a:xfrm>
            <a:off x="4846299" y="3599282"/>
            <a:ext cx="503098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spTree>
    <p:extLst>
      <p:ext uri="{BB962C8B-B14F-4D97-AF65-F5344CB8AC3E}">
        <p14:creationId xmlns:p14="http://schemas.microsoft.com/office/powerpoint/2010/main" val="6151924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9" grpId="0"/>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6" name="TextBox 5">
            <a:extLst>
              <a:ext uri="{FF2B5EF4-FFF2-40B4-BE49-F238E27FC236}">
                <a16:creationId xmlns:a16="http://schemas.microsoft.com/office/drawing/2014/main" id="{47147BF0-A9C1-2803-8ED0-92057DC3B9EF}"/>
              </a:ext>
            </a:extLst>
          </p:cNvPr>
          <p:cNvSpPr txBox="1"/>
          <p:nvPr/>
        </p:nvSpPr>
        <p:spPr>
          <a:xfrm>
            <a:off x="9884376" y="3599282"/>
            <a:ext cx="461842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15" name="TextBox 14">
            <a:extLst>
              <a:ext uri="{FF2B5EF4-FFF2-40B4-BE49-F238E27FC236}">
                <a16:creationId xmlns:a16="http://schemas.microsoft.com/office/drawing/2014/main" id="{A3942272-9367-1723-F86A-5070F5B11408}"/>
              </a:ext>
            </a:extLst>
          </p:cNvPr>
          <p:cNvSpPr txBox="1"/>
          <p:nvPr/>
        </p:nvSpPr>
        <p:spPr>
          <a:xfrm>
            <a:off x="9884376" y="3599280"/>
            <a:ext cx="1244569"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endParaRPr lang="en-US" sz="6000" b="0" dirty="0">
              <a:solidFill>
                <a:srgbClr val="000000"/>
              </a:solidFill>
              <a:effectLst/>
              <a:latin typeface="Courier New" panose="02070309020205020404" pitchFamily="49" charset="0"/>
            </a:endParaRPr>
          </a:p>
        </p:txBody>
      </p:sp>
      <p:sp>
        <p:nvSpPr>
          <p:cNvPr id="14" name="TextBox 13">
            <a:extLst>
              <a:ext uri="{FF2B5EF4-FFF2-40B4-BE49-F238E27FC236}">
                <a16:creationId xmlns:a16="http://schemas.microsoft.com/office/drawing/2014/main" id="{ED3230C9-F0C7-246D-27C7-1ADE8D87DF1C}"/>
              </a:ext>
            </a:extLst>
          </p:cNvPr>
          <p:cNvSpPr txBox="1"/>
          <p:nvPr/>
        </p:nvSpPr>
        <p:spPr>
          <a:xfrm>
            <a:off x="11710343" y="3599281"/>
            <a:ext cx="252274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my_list.pop</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87E4D263-4E79-BACA-F173-D772B07A3D8D}"/>
              </a:ext>
            </a:extLst>
          </p:cNvPr>
          <p:cNvSpPr txBox="1"/>
          <p:nvPr/>
        </p:nvSpPr>
        <p:spPr>
          <a:xfrm>
            <a:off x="9393529" y="5953805"/>
            <a:ext cx="702294"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pop()</a:t>
            </a:r>
          </a:p>
        </p:txBody>
      </p:sp>
      <p:sp>
        <p:nvSpPr>
          <p:cNvPr id="10" name="TextBox 9">
            <a:extLst>
              <a:ext uri="{FF2B5EF4-FFF2-40B4-BE49-F238E27FC236}">
                <a16:creationId xmlns:a16="http://schemas.microsoft.com/office/drawing/2014/main" id="{9DCD0C32-E662-8B4B-261D-D2FC0CB6FD39}"/>
              </a:ext>
            </a:extLst>
          </p:cNvPr>
          <p:cNvSpPr txBox="1"/>
          <p:nvPr/>
        </p:nvSpPr>
        <p:spPr>
          <a:xfrm>
            <a:off x="4846298" y="3599282"/>
            <a:ext cx="5249525"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cxnSp>
        <p:nvCxnSpPr>
          <p:cNvPr id="12" name="Straight Arrow Connector 11">
            <a:extLst>
              <a:ext uri="{FF2B5EF4-FFF2-40B4-BE49-F238E27FC236}">
                <a16:creationId xmlns:a16="http://schemas.microsoft.com/office/drawing/2014/main" id="{78A7A41F-0047-B996-7B2F-1D17E7AD713B}"/>
              </a:ext>
            </a:extLst>
          </p:cNvPr>
          <p:cNvCxnSpPr>
            <a:cxnSpLocks/>
          </p:cNvCxnSpPr>
          <p:nvPr/>
        </p:nvCxnSpPr>
        <p:spPr>
          <a:xfrm>
            <a:off x="7796463" y="6464968"/>
            <a:ext cx="1379621"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8AB5025-AA84-E535-5427-554EF5FFB297}"/>
              </a:ext>
            </a:extLst>
          </p:cNvPr>
          <p:cNvSpPr txBox="1"/>
          <p:nvPr/>
        </p:nvSpPr>
        <p:spPr>
          <a:xfrm>
            <a:off x="10800023" y="3599279"/>
            <a:ext cx="702294"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17" name="TextBox 16">
            <a:extLst>
              <a:ext uri="{FF2B5EF4-FFF2-40B4-BE49-F238E27FC236}">
                <a16:creationId xmlns:a16="http://schemas.microsoft.com/office/drawing/2014/main" id="{073FA089-4F77-D6CC-1CBF-86464EB6CEF5}"/>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my_list.pop</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332396750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5" grpId="0"/>
      <p:bldP spid="14" grpId="0"/>
      <p:bldP spid="16" grpId="0"/>
      <p:bldP spid="1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5" name="TextBox 14">
            <a:extLst>
              <a:ext uri="{FF2B5EF4-FFF2-40B4-BE49-F238E27FC236}">
                <a16:creationId xmlns:a16="http://schemas.microsoft.com/office/drawing/2014/main" id="{A3942272-9367-1723-F86A-5070F5B11408}"/>
              </a:ext>
            </a:extLst>
          </p:cNvPr>
          <p:cNvSpPr txBox="1"/>
          <p:nvPr/>
        </p:nvSpPr>
        <p:spPr>
          <a:xfrm>
            <a:off x="9303136" y="6991852"/>
            <a:ext cx="1244569"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14</a:t>
            </a:r>
            <a:endParaRPr lang="en-US" sz="6000" b="0" dirty="0">
              <a:solidFill>
                <a:srgbClr val="000000"/>
              </a:solidFill>
              <a:effectLst/>
              <a:latin typeface="Courier New" panose="02070309020205020404" pitchFamily="49" charset="0"/>
            </a:endParaRPr>
          </a:p>
        </p:txBody>
      </p:sp>
      <p:sp>
        <p:nvSpPr>
          <p:cNvPr id="14" name="TextBox 13">
            <a:extLst>
              <a:ext uri="{FF2B5EF4-FFF2-40B4-BE49-F238E27FC236}">
                <a16:creationId xmlns:a16="http://schemas.microsoft.com/office/drawing/2014/main" id="{ED3230C9-F0C7-246D-27C7-1ADE8D87DF1C}"/>
              </a:ext>
            </a:extLst>
          </p:cNvPr>
          <p:cNvSpPr txBox="1"/>
          <p:nvPr/>
        </p:nvSpPr>
        <p:spPr>
          <a:xfrm>
            <a:off x="9877461" y="3599281"/>
            <a:ext cx="252274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my_list.pop</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87E4D263-4E79-BACA-F173-D772B07A3D8D}"/>
              </a:ext>
            </a:extLst>
          </p:cNvPr>
          <p:cNvSpPr txBox="1"/>
          <p:nvPr/>
        </p:nvSpPr>
        <p:spPr>
          <a:xfrm>
            <a:off x="9393529" y="5953805"/>
            <a:ext cx="702294"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pop()</a:t>
            </a:r>
          </a:p>
        </p:txBody>
      </p:sp>
      <p:sp>
        <p:nvSpPr>
          <p:cNvPr id="10" name="TextBox 9">
            <a:extLst>
              <a:ext uri="{FF2B5EF4-FFF2-40B4-BE49-F238E27FC236}">
                <a16:creationId xmlns:a16="http://schemas.microsoft.com/office/drawing/2014/main" id="{9DCD0C32-E662-8B4B-261D-D2FC0CB6FD39}"/>
              </a:ext>
            </a:extLst>
          </p:cNvPr>
          <p:cNvSpPr txBox="1"/>
          <p:nvPr/>
        </p:nvSpPr>
        <p:spPr>
          <a:xfrm>
            <a:off x="4846298" y="3599282"/>
            <a:ext cx="5249525"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p>
        </p:txBody>
      </p:sp>
      <p:cxnSp>
        <p:nvCxnSpPr>
          <p:cNvPr id="12" name="Straight Arrow Connector 11">
            <a:extLst>
              <a:ext uri="{FF2B5EF4-FFF2-40B4-BE49-F238E27FC236}">
                <a16:creationId xmlns:a16="http://schemas.microsoft.com/office/drawing/2014/main" id="{78A7A41F-0047-B996-7B2F-1D17E7AD713B}"/>
              </a:ext>
            </a:extLst>
          </p:cNvPr>
          <p:cNvCxnSpPr>
            <a:cxnSpLocks/>
          </p:cNvCxnSpPr>
          <p:nvPr/>
        </p:nvCxnSpPr>
        <p:spPr>
          <a:xfrm>
            <a:off x="7796463" y="6464968"/>
            <a:ext cx="1379621"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73FA089-4F77-D6CC-1CBF-86464EB6CEF5}"/>
              </a:ext>
            </a:extLst>
          </p:cNvPr>
          <p:cNvSpPr txBox="1"/>
          <p:nvPr/>
        </p:nvSpPr>
        <p:spPr>
          <a:xfrm>
            <a:off x="1270417" y="6969469"/>
            <a:ext cx="12194498"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my_list.pop</a:t>
            </a:r>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p>
        </p:txBody>
      </p:sp>
      <p:cxnSp>
        <p:nvCxnSpPr>
          <p:cNvPr id="5" name="Straight Arrow Connector 4">
            <a:extLst>
              <a:ext uri="{FF2B5EF4-FFF2-40B4-BE49-F238E27FC236}">
                <a16:creationId xmlns:a16="http://schemas.microsoft.com/office/drawing/2014/main" id="{5014F976-B1B5-BB91-5BCA-9449F77F8089}"/>
              </a:ext>
            </a:extLst>
          </p:cNvPr>
          <p:cNvCxnSpPr>
            <a:cxnSpLocks/>
          </p:cNvCxnSpPr>
          <p:nvPr/>
        </p:nvCxnSpPr>
        <p:spPr>
          <a:xfrm>
            <a:off x="7796463" y="7499684"/>
            <a:ext cx="1379621"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024743F-2A7D-B891-11B9-A5D7F64B3FB7}"/>
              </a:ext>
            </a:extLst>
          </p:cNvPr>
          <p:cNvSpPr txBox="1"/>
          <p:nvPr/>
        </p:nvSpPr>
        <p:spPr>
          <a:xfrm>
            <a:off x="4846298" y="3599281"/>
            <a:ext cx="7553905"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60807674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 grpId="0"/>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8" name="TextBox 17">
            <a:extLst>
              <a:ext uri="{FF2B5EF4-FFF2-40B4-BE49-F238E27FC236}">
                <a16:creationId xmlns:a16="http://schemas.microsoft.com/office/drawing/2014/main" id="{F7FC67CC-520F-06A1-4267-9EE5ABC3665B}"/>
              </a:ext>
            </a:extLst>
          </p:cNvPr>
          <p:cNvSpPr txBox="1"/>
          <p:nvPr/>
        </p:nvSpPr>
        <p:spPr>
          <a:xfrm>
            <a:off x="4846298" y="3597439"/>
            <a:ext cx="715319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8</a:t>
            </a:r>
            <a:endParaRPr lang="en-US" sz="6000" b="0" dirty="0">
              <a:solidFill>
                <a:srgbClr val="000000"/>
              </a:solidFill>
              <a:effectLst/>
              <a:latin typeface="Courier New" panose="02070309020205020404" pitchFamily="49" charset="0"/>
            </a:endParaRPr>
          </a:p>
        </p:txBody>
      </p:sp>
      <p:sp>
        <p:nvSpPr>
          <p:cNvPr id="19" name="TextBox 18">
            <a:extLst>
              <a:ext uri="{FF2B5EF4-FFF2-40B4-BE49-F238E27FC236}">
                <a16:creationId xmlns:a16="http://schemas.microsoft.com/office/drawing/2014/main" id="{BBF2149E-32AD-1AC4-6AB9-B5372027F9CF}"/>
              </a:ext>
            </a:extLst>
          </p:cNvPr>
          <p:cNvSpPr txBox="1"/>
          <p:nvPr/>
        </p:nvSpPr>
        <p:spPr>
          <a:xfrm>
            <a:off x="11704139" y="3597438"/>
            <a:ext cx="536002"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6" name="TextBox 5">
            <a:extLst>
              <a:ext uri="{FF2B5EF4-FFF2-40B4-BE49-F238E27FC236}">
                <a16:creationId xmlns:a16="http://schemas.microsoft.com/office/drawing/2014/main" id="{6024743F-2A7D-B891-11B9-A5D7F64B3FB7}"/>
              </a:ext>
            </a:extLst>
          </p:cNvPr>
          <p:cNvSpPr txBox="1"/>
          <p:nvPr/>
        </p:nvSpPr>
        <p:spPr>
          <a:xfrm>
            <a:off x="4846298" y="3599281"/>
            <a:ext cx="7553905"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3CFB051A-9364-6FF8-ABB0-818D63159FD6}"/>
              </a:ext>
            </a:extLst>
          </p:cNvPr>
          <p:cNvSpPr txBox="1"/>
          <p:nvPr/>
        </p:nvSpPr>
        <p:spPr>
          <a:xfrm>
            <a:off x="1270417" y="5953806"/>
            <a:ext cx="6558130"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my_list_2 = [</a:t>
            </a:r>
            <a:endParaRPr lang="en-US" sz="6000" b="0" dirty="0">
              <a:solidFill>
                <a:srgbClr val="FF0000"/>
              </a:solidFill>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TextBox 8">
            <a:extLst>
              <a:ext uri="{FF2B5EF4-FFF2-40B4-BE49-F238E27FC236}">
                <a16:creationId xmlns:a16="http://schemas.microsoft.com/office/drawing/2014/main" id="{4D94FBFB-62BE-A66F-B058-AC514ED77ADD}"/>
              </a:ext>
            </a:extLst>
          </p:cNvPr>
          <p:cNvSpPr txBox="1"/>
          <p:nvPr/>
        </p:nvSpPr>
        <p:spPr>
          <a:xfrm>
            <a:off x="1270416" y="6969469"/>
            <a:ext cx="14126899"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my_list_2</a:t>
            </a:r>
          </a:p>
        </p:txBody>
      </p:sp>
      <p:sp>
        <p:nvSpPr>
          <p:cNvPr id="16" name="TextBox 15">
            <a:extLst>
              <a:ext uri="{FF2B5EF4-FFF2-40B4-BE49-F238E27FC236}">
                <a16:creationId xmlns:a16="http://schemas.microsoft.com/office/drawing/2014/main" id="{28CEDFEB-23E1-456A-401E-8B503EC17A54}"/>
              </a:ext>
            </a:extLst>
          </p:cNvPr>
          <p:cNvSpPr txBox="1"/>
          <p:nvPr/>
        </p:nvSpPr>
        <p:spPr>
          <a:xfrm>
            <a:off x="7211081" y="5954406"/>
            <a:ext cx="573015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9</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7</a:t>
            </a:r>
            <a:r>
              <a:rPr lang="en-US" sz="6000" b="0" dirty="0">
                <a:solidFill>
                  <a:srgbClr val="000000"/>
                </a:solidFill>
                <a:effectLst/>
                <a:latin typeface="Courier New" panose="02070309020205020404" pitchFamily="49" charset="0"/>
              </a:rPr>
              <a:t>]</a:t>
            </a:r>
          </a:p>
        </p:txBody>
      </p:sp>
      <p:sp>
        <p:nvSpPr>
          <p:cNvPr id="20" name="TextBox 19">
            <a:extLst>
              <a:ext uri="{FF2B5EF4-FFF2-40B4-BE49-F238E27FC236}">
                <a16:creationId xmlns:a16="http://schemas.microsoft.com/office/drawing/2014/main" id="{150E50A1-CF0B-8AD5-E4B2-5A73319AC3EE}"/>
              </a:ext>
            </a:extLst>
          </p:cNvPr>
          <p:cNvSpPr txBox="1"/>
          <p:nvPr/>
        </p:nvSpPr>
        <p:spPr>
          <a:xfrm>
            <a:off x="1270415" y="5953806"/>
            <a:ext cx="1167081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my_list_2 = [</a:t>
            </a:r>
            <a:r>
              <a:rPr lang="en-US" sz="6000" dirty="0">
                <a:solidFill>
                  <a:srgbClr val="098156"/>
                </a:solidFill>
                <a:latin typeface="Courier New" panose="02070309020205020404" pitchFamily="49" charset="0"/>
              </a:rPr>
              <a:t>10</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solidFill>
                  <a:srgbClr val="000000"/>
                </a:solidFill>
                <a:latin typeface="Courier New" panose="02070309020205020404" pitchFamily="49" charset="0"/>
              </a:rPr>
              <a:t>]</a:t>
            </a:r>
          </a:p>
        </p:txBody>
      </p:sp>
    </p:spTree>
    <p:extLst>
      <p:ext uri="{BB962C8B-B14F-4D97-AF65-F5344CB8AC3E}">
        <p14:creationId xmlns:p14="http://schemas.microsoft.com/office/powerpoint/2010/main" val="230730214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xit"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6" grpId="0"/>
      <p:bldP spid="4" grpId="0"/>
      <p:bldP spid="9" grpId="0"/>
      <p:bldP spid="16" grpId="0"/>
      <p:bldP spid="2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8" name="TextBox 17">
            <a:extLst>
              <a:ext uri="{FF2B5EF4-FFF2-40B4-BE49-F238E27FC236}">
                <a16:creationId xmlns:a16="http://schemas.microsoft.com/office/drawing/2014/main" id="{F7FC67CC-520F-06A1-4267-9EE5ABC3665B}"/>
              </a:ext>
            </a:extLst>
          </p:cNvPr>
          <p:cNvSpPr txBox="1"/>
          <p:nvPr/>
        </p:nvSpPr>
        <p:spPr>
          <a:xfrm>
            <a:off x="4846298" y="3597439"/>
            <a:ext cx="7347289"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14</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 </a:t>
            </a:r>
            <a:r>
              <a:rPr lang="en-US" sz="6000" b="0" dirty="0">
                <a:solidFill>
                  <a:srgbClr val="098156"/>
                </a:solidFill>
                <a:effectLst/>
                <a:latin typeface="Courier New" panose="02070309020205020404" pitchFamily="49" charset="0"/>
              </a:rPr>
              <a:t>8</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 name="TextBox 8">
            <a:extLst>
              <a:ext uri="{FF2B5EF4-FFF2-40B4-BE49-F238E27FC236}">
                <a16:creationId xmlns:a16="http://schemas.microsoft.com/office/drawing/2014/main" id="{4D94FBFB-62BE-A66F-B058-AC514ED77ADD}"/>
              </a:ext>
            </a:extLst>
          </p:cNvPr>
          <p:cNvSpPr txBox="1"/>
          <p:nvPr/>
        </p:nvSpPr>
        <p:spPr>
          <a:xfrm>
            <a:off x="1270416" y="6969469"/>
            <a:ext cx="14126899"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my_list_2</a:t>
            </a:r>
          </a:p>
        </p:txBody>
      </p:sp>
      <p:sp>
        <p:nvSpPr>
          <p:cNvPr id="16" name="TextBox 15">
            <a:extLst>
              <a:ext uri="{FF2B5EF4-FFF2-40B4-BE49-F238E27FC236}">
                <a16:creationId xmlns:a16="http://schemas.microsoft.com/office/drawing/2014/main" id="{28CEDFEB-23E1-456A-401E-8B503EC17A54}"/>
              </a:ext>
            </a:extLst>
          </p:cNvPr>
          <p:cNvSpPr txBox="1"/>
          <p:nvPr/>
        </p:nvSpPr>
        <p:spPr>
          <a:xfrm>
            <a:off x="12623420" y="3594873"/>
            <a:ext cx="573015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10</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9</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 </a:t>
            </a:r>
            <a:r>
              <a:rPr lang="en-US" sz="6000" dirty="0">
                <a:solidFill>
                  <a:srgbClr val="098156"/>
                </a:solidFill>
                <a:latin typeface="Courier New" panose="02070309020205020404" pitchFamily="49" charset="0"/>
              </a:rPr>
              <a:t>7</a:t>
            </a:r>
            <a:r>
              <a:rPr lang="en-US" sz="6000" b="0" dirty="0">
                <a:solidFill>
                  <a:srgbClr val="000000"/>
                </a:solidFill>
                <a:effectLst/>
                <a:latin typeface="Courier New" panose="02070309020205020404" pitchFamily="49" charset="0"/>
              </a:rPr>
              <a:t>]</a:t>
            </a:r>
          </a:p>
        </p:txBody>
      </p:sp>
      <p:sp>
        <p:nvSpPr>
          <p:cNvPr id="10" name="TextBox 9">
            <a:extLst>
              <a:ext uri="{FF2B5EF4-FFF2-40B4-BE49-F238E27FC236}">
                <a16:creationId xmlns:a16="http://schemas.microsoft.com/office/drawing/2014/main" id="{608D9F8B-D78A-72F4-9083-EE5A2B50F60B}"/>
              </a:ext>
            </a:extLst>
          </p:cNvPr>
          <p:cNvSpPr txBox="1"/>
          <p:nvPr/>
        </p:nvSpPr>
        <p:spPr>
          <a:xfrm>
            <a:off x="11705416" y="3598716"/>
            <a:ext cx="63208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my_list_2 = [</a:t>
            </a:r>
            <a:r>
              <a:rPr lang="en-US" sz="6000" dirty="0">
                <a:solidFill>
                  <a:srgbClr val="098156"/>
                </a:solidFill>
                <a:latin typeface="Courier New" panose="02070309020205020404" pitchFamily="49" charset="0"/>
              </a:rPr>
              <a:t>10</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solidFill>
                  <a:srgbClr val="000000"/>
                </a:solidFill>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solidFill>
                  <a:srgbClr val="000000"/>
                </a:solidFill>
                <a:latin typeface="Courier New" panose="02070309020205020404" pitchFamily="49" charset="0"/>
              </a:rPr>
              <a:t>]</a:t>
            </a:r>
          </a:p>
        </p:txBody>
      </p:sp>
    </p:spTree>
    <p:extLst>
      <p:ext uri="{BB962C8B-B14F-4D97-AF65-F5344CB8AC3E}">
        <p14:creationId xmlns:p14="http://schemas.microsoft.com/office/powerpoint/2010/main" val="17042159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3" name="TextBox 12">
            <a:extLst>
              <a:ext uri="{FF2B5EF4-FFF2-40B4-BE49-F238E27FC236}">
                <a16:creationId xmlns:a16="http://schemas.microsoft.com/office/drawing/2014/main" id="{9A4995FF-C764-0E16-E906-A0C1F49F19DE}"/>
              </a:ext>
            </a:extLst>
          </p:cNvPr>
          <p:cNvSpPr txBox="1"/>
          <p:nvPr/>
        </p:nvSpPr>
        <p:spPr>
          <a:xfrm>
            <a:off x="12622727" y="3595829"/>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10</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4" name="TextBox 13">
            <a:extLst>
              <a:ext uri="{FF2B5EF4-FFF2-40B4-BE49-F238E27FC236}">
                <a16:creationId xmlns:a16="http://schemas.microsoft.com/office/drawing/2014/main" id="{E9F7E84F-9190-0FFD-9B26-2D08A5CE56E6}"/>
              </a:ext>
            </a:extLst>
          </p:cNvPr>
          <p:cNvSpPr txBox="1"/>
          <p:nvPr/>
        </p:nvSpPr>
        <p:spPr>
          <a:xfrm>
            <a:off x="14451693" y="3594526"/>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9</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5" name="TextBox 14">
            <a:extLst>
              <a:ext uri="{FF2B5EF4-FFF2-40B4-BE49-F238E27FC236}">
                <a16:creationId xmlns:a16="http://schemas.microsoft.com/office/drawing/2014/main" id="{21F7AA60-85A2-FD20-4434-4860993EA298}"/>
              </a:ext>
            </a:extLst>
          </p:cNvPr>
          <p:cNvSpPr txBox="1"/>
          <p:nvPr/>
        </p:nvSpPr>
        <p:spPr>
          <a:xfrm>
            <a:off x="15824214" y="3595828"/>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7" name="TextBox 16">
            <a:extLst>
              <a:ext uri="{FF2B5EF4-FFF2-40B4-BE49-F238E27FC236}">
                <a16:creationId xmlns:a16="http://schemas.microsoft.com/office/drawing/2014/main" id="{A43CA81B-45DF-27FD-57FB-74B834834FA4}"/>
              </a:ext>
            </a:extLst>
          </p:cNvPr>
          <p:cNvSpPr txBox="1"/>
          <p:nvPr/>
        </p:nvSpPr>
        <p:spPr>
          <a:xfrm>
            <a:off x="17196975" y="3592323"/>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7</a:t>
            </a:r>
            <a:endParaRPr lang="en-US" sz="6000" b="0" dirty="0">
              <a:effectLst/>
              <a:latin typeface="Courier New" panose="02070309020205020404" pitchFamily="49" charset="0"/>
            </a:endParaRPr>
          </a:p>
        </p:txBody>
      </p:sp>
      <p:sp>
        <p:nvSpPr>
          <p:cNvPr id="16" name="TextBox 15">
            <a:extLst>
              <a:ext uri="{FF2B5EF4-FFF2-40B4-BE49-F238E27FC236}">
                <a16:creationId xmlns:a16="http://schemas.microsoft.com/office/drawing/2014/main" id="{28CEDFEB-23E1-456A-401E-8B503EC17A54}"/>
              </a:ext>
            </a:extLst>
          </p:cNvPr>
          <p:cNvSpPr txBox="1"/>
          <p:nvPr/>
        </p:nvSpPr>
        <p:spPr>
          <a:xfrm>
            <a:off x="12623420" y="3594873"/>
            <a:ext cx="573015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10</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9</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8</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7</a:t>
            </a:r>
            <a:r>
              <a:rPr lang="en-US" sz="6000" b="0" dirty="0">
                <a:effectLst/>
                <a:latin typeface="Courier New" panose="02070309020205020404" pitchFamily="49" charset="0"/>
              </a:rPr>
              <a:t>]</a:t>
            </a:r>
          </a:p>
        </p:txBody>
      </p:sp>
      <p:sp>
        <p:nvSpPr>
          <p:cNvPr id="10" name="TextBox 9">
            <a:extLst>
              <a:ext uri="{FF2B5EF4-FFF2-40B4-BE49-F238E27FC236}">
                <a16:creationId xmlns:a16="http://schemas.microsoft.com/office/drawing/2014/main" id="{608D9F8B-D78A-72F4-9083-EE5A2B50F60B}"/>
              </a:ext>
            </a:extLst>
          </p:cNvPr>
          <p:cNvSpPr txBox="1"/>
          <p:nvPr/>
        </p:nvSpPr>
        <p:spPr>
          <a:xfrm>
            <a:off x="11705416" y="3598716"/>
            <a:ext cx="63208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a:t>
            </a:r>
          </a:p>
        </p:txBody>
      </p:sp>
      <p:sp>
        <p:nvSpPr>
          <p:cNvPr id="4" name="TextBox 3">
            <a:extLst>
              <a:ext uri="{FF2B5EF4-FFF2-40B4-BE49-F238E27FC236}">
                <a16:creationId xmlns:a16="http://schemas.microsoft.com/office/drawing/2014/main" id="{4DB0CDB9-0A45-0C6F-9D8A-4EE311287BAA}"/>
              </a:ext>
            </a:extLst>
          </p:cNvPr>
          <p:cNvSpPr txBox="1"/>
          <p:nvPr/>
        </p:nvSpPr>
        <p:spPr>
          <a:xfrm>
            <a:off x="5303463" y="3598047"/>
            <a:ext cx="112273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5" name="TextBox 4">
            <a:extLst>
              <a:ext uri="{FF2B5EF4-FFF2-40B4-BE49-F238E27FC236}">
                <a16:creationId xmlns:a16="http://schemas.microsoft.com/office/drawing/2014/main" id="{04F840D2-10FF-3A2F-CCC2-0A48B13914C3}"/>
              </a:ext>
            </a:extLst>
          </p:cNvPr>
          <p:cNvSpPr txBox="1"/>
          <p:nvPr/>
        </p:nvSpPr>
        <p:spPr>
          <a:xfrm>
            <a:off x="6675565" y="3597471"/>
            <a:ext cx="173903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14</a:t>
            </a:r>
            <a:endParaRPr lang="en-US" sz="6000" b="0" dirty="0">
              <a:effectLst/>
              <a:latin typeface="Courier New" panose="02070309020205020404" pitchFamily="49" charset="0"/>
            </a:endParaRPr>
          </a:p>
        </p:txBody>
      </p:sp>
      <p:sp>
        <p:nvSpPr>
          <p:cNvPr id="6" name="TextBox 5">
            <a:extLst>
              <a:ext uri="{FF2B5EF4-FFF2-40B4-BE49-F238E27FC236}">
                <a16:creationId xmlns:a16="http://schemas.microsoft.com/office/drawing/2014/main" id="{9727060D-FA7A-C579-5B7A-D851800A5C76}"/>
              </a:ext>
            </a:extLst>
          </p:cNvPr>
          <p:cNvSpPr txBox="1"/>
          <p:nvPr/>
        </p:nvSpPr>
        <p:spPr>
          <a:xfrm>
            <a:off x="8503871" y="3595846"/>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8" name="TextBox 7">
            <a:extLst>
              <a:ext uri="{FF2B5EF4-FFF2-40B4-BE49-F238E27FC236}">
                <a16:creationId xmlns:a16="http://schemas.microsoft.com/office/drawing/2014/main" id="{9C78E147-76FC-9938-191C-69FB660E4D59}"/>
              </a:ext>
            </a:extLst>
          </p:cNvPr>
          <p:cNvSpPr txBox="1"/>
          <p:nvPr/>
        </p:nvSpPr>
        <p:spPr>
          <a:xfrm>
            <a:off x="9875086" y="3598046"/>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1" name="TextBox 10">
            <a:extLst>
              <a:ext uri="{FF2B5EF4-FFF2-40B4-BE49-F238E27FC236}">
                <a16:creationId xmlns:a16="http://schemas.microsoft.com/office/drawing/2014/main" id="{AE5F40D9-CF5F-09BB-E691-919E09C89F29}"/>
              </a:ext>
            </a:extLst>
          </p:cNvPr>
          <p:cNvSpPr txBox="1"/>
          <p:nvPr/>
        </p:nvSpPr>
        <p:spPr>
          <a:xfrm>
            <a:off x="11247724" y="3595220"/>
            <a:ext cx="173903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9" name="TextBox 18">
            <a:extLst>
              <a:ext uri="{FF2B5EF4-FFF2-40B4-BE49-F238E27FC236}">
                <a16:creationId xmlns:a16="http://schemas.microsoft.com/office/drawing/2014/main" id="{7BFF5860-4E10-DA53-FB7D-34331A040648}"/>
              </a:ext>
            </a:extLst>
          </p:cNvPr>
          <p:cNvSpPr txBox="1"/>
          <p:nvPr/>
        </p:nvSpPr>
        <p:spPr>
          <a:xfrm>
            <a:off x="7588929" y="3595498"/>
            <a:ext cx="626472"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18" name="TextBox 17">
            <a:extLst>
              <a:ext uri="{FF2B5EF4-FFF2-40B4-BE49-F238E27FC236}">
                <a16:creationId xmlns:a16="http://schemas.microsoft.com/office/drawing/2014/main" id="{F7FC67CC-520F-06A1-4267-9EE5ABC3665B}"/>
              </a:ext>
            </a:extLst>
          </p:cNvPr>
          <p:cNvSpPr txBox="1"/>
          <p:nvPr/>
        </p:nvSpPr>
        <p:spPr>
          <a:xfrm>
            <a:off x="4846298" y="3597439"/>
            <a:ext cx="7347289"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dirty="0">
                <a:solidFill>
                  <a:srgbClr val="098156"/>
                </a:solidFill>
                <a:latin typeface="Courier New" panose="02070309020205020404" pitchFamily="49" charset="0"/>
              </a:rPr>
              <a:t>3</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14</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0</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5</a:t>
            </a:r>
            <a:r>
              <a:rPr lang="en-US" sz="6000" b="0" dirty="0">
                <a:effectLst/>
                <a:latin typeface="Courier New" panose="02070309020205020404" pitchFamily="49" charset="0"/>
              </a:rPr>
              <a:t>, </a:t>
            </a:r>
            <a:r>
              <a:rPr lang="en-US" sz="6000" dirty="0">
                <a:solidFill>
                  <a:srgbClr val="098156"/>
                </a:solidFill>
                <a:latin typeface="Courier New" panose="02070309020205020404" pitchFamily="49" charset="0"/>
              </a:rPr>
              <a:t>8</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sort()</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dirty="0" err="1">
                <a:solidFill>
                  <a:srgbClr val="000000"/>
                </a:solidFill>
                <a:latin typeface="Courier New" panose="02070309020205020404" pitchFamily="49" charset="0"/>
              </a:rPr>
              <a:t>.</a:t>
            </a:r>
            <a:r>
              <a:rPr lang="en-US" sz="6000" b="0" dirty="0" err="1">
                <a:solidFill>
                  <a:srgbClr val="000000"/>
                </a:solidFill>
                <a:effectLst/>
                <a:latin typeface="Courier New" panose="02070309020205020404" pitchFamily="49" charset="0"/>
              </a:rPr>
              <a:t>sort</a:t>
            </a:r>
            <a:r>
              <a:rPr lang="en-US" sz="6000" b="0" dirty="0">
                <a:solidFill>
                  <a:srgbClr val="000000"/>
                </a:solidFill>
                <a:effectLst/>
                <a:latin typeface="Courier New" panose="02070309020205020404" pitchFamily="49" charset="0"/>
              </a:rPr>
              <a:t>()</a:t>
            </a:r>
            <a:endParaRPr lang="en-US" sz="6000" dirty="0">
              <a:solidFill>
                <a:srgbClr val="000000"/>
              </a:solidFill>
              <a:latin typeface="Courier New" panose="02070309020205020404" pitchFamily="49" charset="0"/>
            </a:endParaRPr>
          </a:p>
        </p:txBody>
      </p:sp>
      <p:sp>
        <p:nvSpPr>
          <p:cNvPr id="20" name="TextBox 19">
            <a:extLst>
              <a:ext uri="{FF2B5EF4-FFF2-40B4-BE49-F238E27FC236}">
                <a16:creationId xmlns:a16="http://schemas.microsoft.com/office/drawing/2014/main" id="{B5F90365-7FC6-C4CD-6E32-71E99C6E2892}"/>
              </a:ext>
            </a:extLst>
          </p:cNvPr>
          <p:cNvSpPr txBox="1"/>
          <p:nvPr/>
        </p:nvSpPr>
        <p:spPr>
          <a:xfrm>
            <a:off x="4845442" y="3598715"/>
            <a:ext cx="657107"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21" name="TextBox 20">
            <a:extLst>
              <a:ext uri="{FF2B5EF4-FFF2-40B4-BE49-F238E27FC236}">
                <a16:creationId xmlns:a16="http://schemas.microsoft.com/office/drawing/2014/main" id="{9D6110DC-80E2-BE82-9FCB-67B69E97D5C0}"/>
              </a:ext>
            </a:extLst>
          </p:cNvPr>
          <p:cNvSpPr txBox="1"/>
          <p:nvPr/>
        </p:nvSpPr>
        <p:spPr>
          <a:xfrm>
            <a:off x="17654898" y="3595129"/>
            <a:ext cx="657107" cy="1015663"/>
          </a:xfrm>
          <a:prstGeom prst="rect">
            <a:avLst/>
          </a:prstGeom>
          <a:noFill/>
        </p:spPr>
        <p:txBody>
          <a:bodyPr wrap="square">
            <a:spAutoFit/>
          </a:bodyPr>
          <a:lstStyle/>
          <a:p>
            <a:r>
              <a:rPr lang="en-US" sz="6000" dirty="0">
                <a:latin typeface="Courier New" panose="02070309020205020404" pitchFamily="49" charset="0"/>
              </a:rPr>
              <a:t>]</a:t>
            </a:r>
            <a:endParaRPr lang="en-US" sz="6000" b="0" dirty="0">
              <a:effectLst/>
              <a:latin typeface="Courier New" panose="02070309020205020404" pitchFamily="49" charset="0"/>
            </a:endParaRPr>
          </a:p>
        </p:txBody>
      </p:sp>
    </p:spTree>
    <p:extLst>
      <p:ext uri="{BB962C8B-B14F-4D97-AF65-F5344CB8AC3E}">
        <p14:creationId xmlns:p14="http://schemas.microsoft.com/office/powerpoint/2010/main" val="22900417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7" grpId="0"/>
      <p:bldP spid="16" grpId="0"/>
      <p:bldP spid="4" grpId="0"/>
      <p:bldP spid="5" grpId="0"/>
      <p:bldP spid="6" grpId="0"/>
      <p:bldP spid="8" grpId="0"/>
      <p:bldP spid="11" grpId="0"/>
      <p:bldP spid="19" grpId="0"/>
      <p:bldP spid="18" grpId="0"/>
      <p:bldP spid="12" grpId="0"/>
      <p:bldP spid="20" grpId="0"/>
      <p:bldP spid="2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6" name="TextBox 5">
            <a:extLst>
              <a:ext uri="{FF2B5EF4-FFF2-40B4-BE49-F238E27FC236}">
                <a16:creationId xmlns:a16="http://schemas.microsoft.com/office/drawing/2014/main" id="{9727060D-FA7A-C579-5B7A-D851800A5C76}"/>
              </a:ext>
            </a:extLst>
          </p:cNvPr>
          <p:cNvSpPr txBox="1"/>
          <p:nvPr/>
        </p:nvSpPr>
        <p:spPr>
          <a:xfrm>
            <a:off x="5302436" y="3600347"/>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0</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3" name="TextBox 12">
            <a:extLst>
              <a:ext uri="{FF2B5EF4-FFF2-40B4-BE49-F238E27FC236}">
                <a16:creationId xmlns:a16="http://schemas.microsoft.com/office/drawing/2014/main" id="{9A4995FF-C764-0E16-E906-A0C1F49F19DE}"/>
              </a:ext>
            </a:extLst>
          </p:cNvPr>
          <p:cNvSpPr txBox="1"/>
          <p:nvPr/>
        </p:nvSpPr>
        <p:spPr>
          <a:xfrm>
            <a:off x="14905233" y="3598715"/>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10</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4" name="TextBox 13">
            <a:extLst>
              <a:ext uri="{FF2B5EF4-FFF2-40B4-BE49-F238E27FC236}">
                <a16:creationId xmlns:a16="http://schemas.microsoft.com/office/drawing/2014/main" id="{E9F7E84F-9190-0FFD-9B26-2D08A5CE56E6}"/>
              </a:ext>
            </a:extLst>
          </p:cNvPr>
          <p:cNvSpPr txBox="1"/>
          <p:nvPr/>
        </p:nvSpPr>
        <p:spPr>
          <a:xfrm>
            <a:off x="13533696" y="3601648"/>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9</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5" name="TextBox 14">
            <a:extLst>
              <a:ext uri="{FF2B5EF4-FFF2-40B4-BE49-F238E27FC236}">
                <a16:creationId xmlns:a16="http://schemas.microsoft.com/office/drawing/2014/main" id="{21F7AA60-85A2-FD20-4434-4860993EA298}"/>
              </a:ext>
            </a:extLst>
          </p:cNvPr>
          <p:cNvSpPr txBox="1"/>
          <p:nvPr/>
        </p:nvSpPr>
        <p:spPr>
          <a:xfrm>
            <a:off x="12160307" y="3601648"/>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8</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7" name="TextBox 16">
            <a:extLst>
              <a:ext uri="{FF2B5EF4-FFF2-40B4-BE49-F238E27FC236}">
                <a16:creationId xmlns:a16="http://schemas.microsoft.com/office/drawing/2014/main" id="{A43CA81B-45DF-27FD-57FB-74B834834FA4}"/>
              </a:ext>
            </a:extLst>
          </p:cNvPr>
          <p:cNvSpPr txBox="1"/>
          <p:nvPr/>
        </p:nvSpPr>
        <p:spPr>
          <a:xfrm>
            <a:off x="9418967" y="3598715"/>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7</a:t>
            </a:r>
            <a:endParaRPr lang="en-US" sz="6000" b="0" dirty="0">
              <a:effectLst/>
              <a:latin typeface="Courier New" panose="02070309020205020404" pitchFamily="49" charset="0"/>
            </a:endParaRPr>
          </a:p>
        </p:txBody>
      </p:sp>
      <p:sp>
        <p:nvSpPr>
          <p:cNvPr id="4" name="TextBox 3">
            <a:extLst>
              <a:ext uri="{FF2B5EF4-FFF2-40B4-BE49-F238E27FC236}">
                <a16:creationId xmlns:a16="http://schemas.microsoft.com/office/drawing/2014/main" id="{4DB0CDB9-0A45-0C6F-9D8A-4EE311287BAA}"/>
              </a:ext>
            </a:extLst>
          </p:cNvPr>
          <p:cNvSpPr txBox="1"/>
          <p:nvPr/>
        </p:nvSpPr>
        <p:spPr>
          <a:xfrm>
            <a:off x="6675763" y="3598524"/>
            <a:ext cx="1122738"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3</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5" name="TextBox 4">
            <a:extLst>
              <a:ext uri="{FF2B5EF4-FFF2-40B4-BE49-F238E27FC236}">
                <a16:creationId xmlns:a16="http://schemas.microsoft.com/office/drawing/2014/main" id="{04F840D2-10FF-3A2F-CCC2-0A48B13914C3}"/>
              </a:ext>
            </a:extLst>
          </p:cNvPr>
          <p:cNvSpPr txBox="1"/>
          <p:nvPr/>
        </p:nvSpPr>
        <p:spPr>
          <a:xfrm>
            <a:off x="16732067" y="3601647"/>
            <a:ext cx="173903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14</a:t>
            </a:r>
            <a:endParaRPr lang="en-US" sz="6000" b="0" dirty="0">
              <a:effectLst/>
              <a:latin typeface="Courier New" panose="02070309020205020404" pitchFamily="49" charset="0"/>
            </a:endParaRPr>
          </a:p>
        </p:txBody>
      </p:sp>
      <p:sp>
        <p:nvSpPr>
          <p:cNvPr id="8" name="TextBox 7">
            <a:extLst>
              <a:ext uri="{FF2B5EF4-FFF2-40B4-BE49-F238E27FC236}">
                <a16:creationId xmlns:a16="http://schemas.microsoft.com/office/drawing/2014/main" id="{9C78E147-76FC-9938-191C-69FB660E4D59}"/>
              </a:ext>
            </a:extLst>
          </p:cNvPr>
          <p:cNvSpPr txBox="1"/>
          <p:nvPr/>
        </p:nvSpPr>
        <p:spPr>
          <a:xfrm>
            <a:off x="8046633" y="3598713"/>
            <a:ext cx="1739032"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5</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1" name="TextBox 10">
            <a:extLst>
              <a:ext uri="{FF2B5EF4-FFF2-40B4-BE49-F238E27FC236}">
                <a16:creationId xmlns:a16="http://schemas.microsoft.com/office/drawing/2014/main" id="{AE5F40D9-CF5F-09BB-E691-919E09C89F29}"/>
              </a:ext>
            </a:extLst>
          </p:cNvPr>
          <p:cNvSpPr txBox="1"/>
          <p:nvPr/>
        </p:nvSpPr>
        <p:spPr>
          <a:xfrm>
            <a:off x="10791301" y="3599369"/>
            <a:ext cx="1739032"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8</a:t>
            </a:r>
            <a:r>
              <a:rPr lang="en-US" sz="6000" b="0" dirty="0">
                <a:solidFill>
                  <a:srgbClr val="000000"/>
                </a:solidFill>
                <a:effectLst/>
                <a:latin typeface="Courier New" panose="02070309020205020404" pitchFamily="49" charset="0"/>
              </a:rPr>
              <a:t>,</a:t>
            </a:r>
            <a:endParaRPr lang="en-US" sz="6000" b="0" dirty="0">
              <a:effectLst/>
              <a:latin typeface="Courier New" panose="02070309020205020404" pitchFamily="49" charset="0"/>
            </a:endParaRPr>
          </a:p>
        </p:txBody>
      </p:sp>
      <p:sp>
        <p:nvSpPr>
          <p:cNvPr id="19" name="TextBox 18">
            <a:extLst>
              <a:ext uri="{FF2B5EF4-FFF2-40B4-BE49-F238E27FC236}">
                <a16:creationId xmlns:a16="http://schemas.microsoft.com/office/drawing/2014/main" id="{7BFF5860-4E10-DA53-FB7D-34331A040648}"/>
              </a:ext>
            </a:extLst>
          </p:cNvPr>
          <p:cNvSpPr txBox="1"/>
          <p:nvPr/>
        </p:nvSpPr>
        <p:spPr>
          <a:xfrm>
            <a:off x="9874812" y="3598715"/>
            <a:ext cx="626472"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21" name="TextBox 20">
            <a:extLst>
              <a:ext uri="{FF2B5EF4-FFF2-40B4-BE49-F238E27FC236}">
                <a16:creationId xmlns:a16="http://schemas.microsoft.com/office/drawing/2014/main" id="{9D6110DC-80E2-BE82-9FCB-67B69E97D5C0}"/>
              </a:ext>
            </a:extLst>
          </p:cNvPr>
          <p:cNvSpPr txBox="1"/>
          <p:nvPr/>
        </p:nvSpPr>
        <p:spPr>
          <a:xfrm>
            <a:off x="17654898" y="3595129"/>
            <a:ext cx="657107" cy="1015663"/>
          </a:xfrm>
          <a:prstGeom prst="rect">
            <a:avLst/>
          </a:prstGeom>
          <a:noFill/>
        </p:spPr>
        <p:txBody>
          <a:bodyPr wrap="square">
            <a:spAutoFit/>
          </a:bodyPr>
          <a:lstStyle/>
          <a:p>
            <a:r>
              <a:rPr lang="en-US" sz="6000" dirty="0">
                <a:latin typeface="Courier New" panose="02070309020205020404" pitchFamily="49" charset="0"/>
              </a:rPr>
              <a:t>]</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sort()</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dirty="0" err="1">
                <a:solidFill>
                  <a:srgbClr val="000000"/>
                </a:solidFill>
                <a:latin typeface="Courier New" panose="02070309020205020404" pitchFamily="49" charset="0"/>
              </a:rPr>
              <a:t>.</a:t>
            </a:r>
            <a:r>
              <a:rPr lang="en-US" sz="6000" b="0" dirty="0" err="1">
                <a:solidFill>
                  <a:srgbClr val="000000"/>
                </a:solidFill>
                <a:effectLst/>
                <a:latin typeface="Courier New" panose="02070309020205020404" pitchFamily="49" charset="0"/>
              </a:rPr>
              <a:t>sort</a:t>
            </a:r>
            <a:r>
              <a:rPr lang="en-US" sz="6000" b="0" dirty="0">
                <a:solidFill>
                  <a:srgbClr val="000000"/>
                </a:solidFill>
                <a:effectLst/>
                <a:latin typeface="Courier New" panose="02070309020205020404" pitchFamily="49" charset="0"/>
              </a:rPr>
              <a:t>()</a:t>
            </a:r>
            <a:endParaRPr lang="en-US" sz="6000" dirty="0">
              <a:solidFill>
                <a:srgbClr val="000000"/>
              </a:solidFill>
              <a:latin typeface="Courier New" panose="02070309020205020404" pitchFamily="49" charset="0"/>
            </a:endParaRPr>
          </a:p>
        </p:txBody>
      </p:sp>
      <p:sp>
        <p:nvSpPr>
          <p:cNvPr id="20" name="TextBox 19">
            <a:extLst>
              <a:ext uri="{FF2B5EF4-FFF2-40B4-BE49-F238E27FC236}">
                <a16:creationId xmlns:a16="http://schemas.microsoft.com/office/drawing/2014/main" id="{B5F90365-7FC6-C4CD-6E32-71E99C6E2892}"/>
              </a:ext>
            </a:extLst>
          </p:cNvPr>
          <p:cNvSpPr txBox="1"/>
          <p:nvPr/>
        </p:nvSpPr>
        <p:spPr>
          <a:xfrm>
            <a:off x="4845442" y="3598715"/>
            <a:ext cx="657107" cy="1015663"/>
          </a:xfrm>
          <a:prstGeom prst="rect">
            <a:avLst/>
          </a:prstGeom>
          <a:noFill/>
        </p:spPr>
        <p:txBody>
          <a:bodyPr wrap="square">
            <a:spAutoFit/>
          </a:bodyPr>
          <a:lstStyle/>
          <a:p>
            <a:r>
              <a:rPr lang="en-US" sz="6000" b="0" dirty="0">
                <a:effectLst/>
                <a:latin typeface="Courier New" panose="02070309020205020404" pitchFamily="49" charset="0"/>
              </a:rPr>
              <a:t>[</a:t>
            </a:r>
          </a:p>
        </p:txBody>
      </p:sp>
      <p:sp>
        <p:nvSpPr>
          <p:cNvPr id="18" name="TextBox 17">
            <a:extLst>
              <a:ext uri="{FF2B5EF4-FFF2-40B4-BE49-F238E27FC236}">
                <a16:creationId xmlns:a16="http://schemas.microsoft.com/office/drawing/2014/main" id="{F7FC67CC-520F-06A1-4267-9EE5ABC3665B}"/>
              </a:ext>
            </a:extLst>
          </p:cNvPr>
          <p:cNvSpPr txBox="1"/>
          <p:nvPr/>
        </p:nvSpPr>
        <p:spPr>
          <a:xfrm>
            <a:off x="4845442" y="3601647"/>
            <a:ext cx="1381067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dirty="0">
                <a:solidFill>
                  <a:srgbClr val="098156"/>
                </a:solidFill>
                <a:latin typeface="Courier New" panose="02070309020205020404" pitchFamily="49" charset="0"/>
              </a:rPr>
              <a:t>0</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3</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5</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10</a:t>
            </a:r>
            <a:r>
              <a:rPr lang="en-US" sz="6000" dirty="0">
                <a:latin typeface="Courier New" panose="02070309020205020404" pitchFamily="49" charset="0"/>
              </a:rPr>
              <a:t>,</a:t>
            </a:r>
            <a:r>
              <a:rPr lang="en-US" sz="6000" dirty="0">
                <a:solidFill>
                  <a:srgbClr val="098156"/>
                </a:solidFill>
                <a:latin typeface="Courier New" panose="02070309020205020404" pitchFamily="49" charset="0"/>
              </a:rPr>
              <a:t> 14</a:t>
            </a:r>
            <a:r>
              <a:rPr lang="en-US" sz="6000" dirty="0">
                <a:latin typeface="Courier New" panose="02070309020205020404" pitchFamily="49" charset="0"/>
              </a:rPr>
              <a:t>]</a:t>
            </a:r>
            <a:endParaRPr lang="en-US" sz="6000" b="0" dirty="0">
              <a:effectLst/>
              <a:latin typeface="Courier New" panose="02070309020205020404" pitchFamily="49" charset="0"/>
            </a:endParaRPr>
          </a:p>
        </p:txBody>
      </p:sp>
    </p:spTree>
    <p:extLst>
      <p:ext uri="{BB962C8B-B14F-4D97-AF65-F5344CB8AC3E}">
        <p14:creationId xmlns:p14="http://schemas.microsoft.com/office/powerpoint/2010/main" val="62682971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hidden"/>
                                      </p:to>
                                    </p:set>
                                  </p:childTnLst>
                                </p:cTn>
                              </p:par>
                              <p:par>
                                <p:cTn id="29" presetID="1" presetClass="exit"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3" grpId="0"/>
      <p:bldP spid="14" grpId="0"/>
      <p:bldP spid="15" grpId="0"/>
      <p:bldP spid="17" grpId="0"/>
      <p:bldP spid="4" grpId="0"/>
      <p:bldP spid="5" grpId="0"/>
      <p:bldP spid="8" grpId="0"/>
      <p:bldP spid="11" grpId="0"/>
      <p:bldP spid="19" grpId="0"/>
      <p:bldP spid="21" grpId="0"/>
      <p:bldP spid="20" grpId="0"/>
      <p:bldP spid="1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8" name="TextBox 17">
            <a:extLst>
              <a:ext uri="{FF2B5EF4-FFF2-40B4-BE49-F238E27FC236}">
                <a16:creationId xmlns:a16="http://schemas.microsoft.com/office/drawing/2014/main" id="{F7FC67CC-520F-06A1-4267-9EE5ABC3665B}"/>
              </a:ext>
            </a:extLst>
          </p:cNvPr>
          <p:cNvSpPr txBox="1"/>
          <p:nvPr/>
        </p:nvSpPr>
        <p:spPr>
          <a:xfrm>
            <a:off x="4845442" y="3601647"/>
            <a:ext cx="1381067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dirty="0">
                <a:solidFill>
                  <a:srgbClr val="098156"/>
                </a:solidFill>
                <a:latin typeface="Courier New" panose="02070309020205020404" pitchFamily="49" charset="0"/>
              </a:rPr>
              <a:t>0</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3</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5</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10</a:t>
            </a:r>
            <a:r>
              <a:rPr lang="en-US" sz="6000" dirty="0">
                <a:latin typeface="Courier New" panose="02070309020205020404" pitchFamily="49" charset="0"/>
              </a:rPr>
              <a:t>,</a:t>
            </a:r>
            <a:r>
              <a:rPr lang="en-US" sz="6000" dirty="0">
                <a:solidFill>
                  <a:srgbClr val="098156"/>
                </a:solidFill>
                <a:latin typeface="Courier New" panose="02070309020205020404" pitchFamily="49" charset="0"/>
              </a:rPr>
              <a:t> 14</a:t>
            </a:r>
            <a:r>
              <a:rPr lang="en-US" sz="6000" dirty="0">
                <a:latin typeface="Courier New" panose="02070309020205020404" pitchFamily="49" charset="0"/>
              </a:rPr>
              <a:t>]</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err="1">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len</a:t>
            </a:r>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err="1">
                <a:solidFill>
                  <a:srgbClr val="795E27"/>
                </a:solidFill>
                <a:effectLst/>
                <a:latin typeface="Courier New" panose="02070309020205020404" pitchFamily="49" charset="0"/>
              </a:rPr>
              <a:t>len</a:t>
            </a:r>
            <a:r>
              <a:rPr lang="en-US" sz="6000" b="0" dirty="0">
                <a:solidFill>
                  <a:srgbClr val="000000"/>
                </a:solidFill>
                <a:effectLst/>
                <a:latin typeface="Courier New" panose="02070309020205020404" pitchFamily="49" charset="0"/>
              </a:rPr>
              <a:t>(</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endParaRPr lang="en-US" sz="6000" dirty="0">
              <a:solidFill>
                <a:srgbClr val="000000"/>
              </a:solidFill>
              <a:latin typeface="Courier New" panose="02070309020205020404" pitchFamily="49" charset="0"/>
            </a:endParaRPr>
          </a:p>
        </p:txBody>
      </p:sp>
      <p:sp>
        <p:nvSpPr>
          <p:cNvPr id="9" name="Double Brace 8">
            <a:extLst>
              <a:ext uri="{FF2B5EF4-FFF2-40B4-BE49-F238E27FC236}">
                <a16:creationId xmlns:a16="http://schemas.microsoft.com/office/drawing/2014/main" id="{A1D6C08E-8B0F-E18B-CAF8-B541AD97DD0D}"/>
              </a:ext>
            </a:extLst>
          </p:cNvPr>
          <p:cNvSpPr/>
          <p:nvPr/>
        </p:nvSpPr>
        <p:spPr>
          <a:xfrm rot="16200000">
            <a:off x="8044854" y="-4022601"/>
            <a:ext cx="7051742" cy="12393242"/>
          </a:xfrm>
          <a:prstGeom prst="bracePair">
            <a:avLst/>
          </a:prstGeom>
          <a:ln w="76200">
            <a:solidFill>
              <a:srgbClr val="004C7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76200">
                <a:solidFill>
                  <a:schemeClr val="tx1"/>
                </a:solidFill>
              </a:ln>
              <a:solidFill>
                <a:srgbClr val="004C7F"/>
              </a:solidFill>
            </a:endParaRPr>
          </a:p>
        </p:txBody>
      </p:sp>
      <p:cxnSp>
        <p:nvCxnSpPr>
          <p:cNvPr id="22" name="Straight Arrow Connector 21">
            <a:extLst>
              <a:ext uri="{FF2B5EF4-FFF2-40B4-BE49-F238E27FC236}">
                <a16:creationId xmlns:a16="http://schemas.microsoft.com/office/drawing/2014/main" id="{BED6DF85-C88F-337B-9DC2-E7A7A5B5E062}"/>
              </a:ext>
            </a:extLst>
          </p:cNvPr>
          <p:cNvCxnSpPr>
            <a:cxnSpLocks/>
          </p:cNvCxnSpPr>
          <p:nvPr/>
        </p:nvCxnSpPr>
        <p:spPr>
          <a:xfrm>
            <a:off x="7105823" y="6461637"/>
            <a:ext cx="3947188"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3885379-30C7-2902-D80F-E1A1BB043746}"/>
              </a:ext>
            </a:extLst>
          </p:cNvPr>
          <p:cNvSpPr txBox="1"/>
          <p:nvPr/>
        </p:nvSpPr>
        <p:spPr>
          <a:xfrm>
            <a:off x="11174047" y="5953806"/>
            <a:ext cx="793357"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9</a:t>
            </a:r>
            <a:endParaRPr lang="en-US" sz="6000" b="0" dirty="0">
              <a:effectLst/>
              <a:latin typeface="Courier New" panose="02070309020205020404" pitchFamily="49" charset="0"/>
            </a:endParaRPr>
          </a:p>
        </p:txBody>
      </p:sp>
    </p:spTree>
    <p:extLst>
      <p:ext uri="{BB962C8B-B14F-4D97-AF65-F5344CB8AC3E}">
        <p14:creationId xmlns:p14="http://schemas.microsoft.com/office/powerpoint/2010/main" val="19064349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500"/>
                                        <p:tgtEl>
                                          <p:spTgt spid="23"/>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dissolve">
                                      <p:cBhvr>
                                        <p:cTn id="14" dur="500"/>
                                        <p:tgtEl>
                                          <p:spTgt spid="9"/>
                                        </p:tgtEl>
                                      </p:cBhvr>
                                    </p:animEffect>
                                  </p:childTnLst>
                                </p:cTn>
                              </p:par>
                              <p:par>
                                <p:cTn id="15" presetID="9"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dissolve">
                                      <p:cBhvr>
                                        <p:cTn id="1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animBg="1"/>
      <p:bldP spid="23"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8" name="TextBox 17">
            <a:extLst>
              <a:ext uri="{FF2B5EF4-FFF2-40B4-BE49-F238E27FC236}">
                <a16:creationId xmlns:a16="http://schemas.microsoft.com/office/drawing/2014/main" id="{F7FC67CC-520F-06A1-4267-9EE5ABC3665B}"/>
              </a:ext>
            </a:extLst>
          </p:cNvPr>
          <p:cNvSpPr txBox="1"/>
          <p:nvPr/>
        </p:nvSpPr>
        <p:spPr>
          <a:xfrm>
            <a:off x="4845442" y="3601647"/>
            <a:ext cx="1381067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dirty="0">
                <a:solidFill>
                  <a:srgbClr val="098156"/>
                </a:solidFill>
                <a:latin typeface="Courier New" panose="02070309020205020404" pitchFamily="49" charset="0"/>
              </a:rPr>
              <a:t>0</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3</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5</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10</a:t>
            </a:r>
            <a:r>
              <a:rPr lang="en-US" sz="6000" dirty="0">
                <a:latin typeface="Courier New" panose="02070309020205020404" pitchFamily="49" charset="0"/>
              </a:rPr>
              <a:t>,</a:t>
            </a:r>
            <a:r>
              <a:rPr lang="en-US" sz="6000" dirty="0">
                <a:solidFill>
                  <a:srgbClr val="098156"/>
                </a:solidFill>
                <a:latin typeface="Courier New" panose="02070309020205020404" pitchFamily="49" charset="0"/>
              </a:rPr>
              <a:t> 14</a:t>
            </a:r>
            <a:r>
              <a:rPr lang="en-US" sz="6000" dirty="0">
                <a:latin typeface="Courier New" panose="02070309020205020404" pitchFamily="49" charset="0"/>
              </a:rPr>
              <a:t>]</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max()</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a:solidFill>
                  <a:srgbClr val="795E27"/>
                </a:solidFill>
                <a:effectLst/>
                <a:latin typeface="Courier New" panose="02070309020205020404" pitchFamily="49" charset="0"/>
              </a:rPr>
              <a:t>max</a:t>
            </a:r>
            <a:r>
              <a:rPr lang="en-US" sz="6000" b="0" dirty="0">
                <a:solidFill>
                  <a:srgbClr val="000000"/>
                </a:solidFill>
                <a:effectLst/>
                <a:latin typeface="Courier New" panose="02070309020205020404" pitchFamily="49" charset="0"/>
              </a:rPr>
              <a:t>(</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endParaRPr lang="en-US" sz="6000" dirty="0">
              <a:solidFill>
                <a:srgbClr val="000000"/>
              </a:solidFill>
              <a:latin typeface="Courier New" panose="02070309020205020404" pitchFamily="49" charset="0"/>
            </a:endParaRPr>
          </a:p>
        </p:txBody>
      </p:sp>
      <p:cxnSp>
        <p:nvCxnSpPr>
          <p:cNvPr id="22" name="Straight Arrow Connector 21">
            <a:extLst>
              <a:ext uri="{FF2B5EF4-FFF2-40B4-BE49-F238E27FC236}">
                <a16:creationId xmlns:a16="http://schemas.microsoft.com/office/drawing/2014/main" id="{BED6DF85-C88F-337B-9DC2-E7A7A5B5E062}"/>
              </a:ext>
            </a:extLst>
          </p:cNvPr>
          <p:cNvCxnSpPr>
            <a:cxnSpLocks/>
          </p:cNvCxnSpPr>
          <p:nvPr/>
        </p:nvCxnSpPr>
        <p:spPr>
          <a:xfrm>
            <a:off x="7105823" y="6461637"/>
            <a:ext cx="3947188"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3885379-30C7-2902-D80F-E1A1BB043746}"/>
              </a:ext>
            </a:extLst>
          </p:cNvPr>
          <p:cNvSpPr txBox="1"/>
          <p:nvPr/>
        </p:nvSpPr>
        <p:spPr>
          <a:xfrm>
            <a:off x="11174047" y="5953806"/>
            <a:ext cx="1290669"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14</a:t>
            </a:r>
            <a:endParaRPr lang="en-US" sz="6000" b="0" dirty="0">
              <a:effectLst/>
              <a:latin typeface="Courier New" panose="02070309020205020404" pitchFamily="49" charset="0"/>
            </a:endParaRPr>
          </a:p>
        </p:txBody>
      </p:sp>
      <p:cxnSp>
        <p:nvCxnSpPr>
          <p:cNvPr id="4" name="Straight Arrow Connector 3">
            <a:extLst>
              <a:ext uri="{FF2B5EF4-FFF2-40B4-BE49-F238E27FC236}">
                <a16:creationId xmlns:a16="http://schemas.microsoft.com/office/drawing/2014/main" id="{ED2530E2-C211-8D3E-022A-33CDB5F663F9}"/>
              </a:ext>
            </a:extLst>
          </p:cNvPr>
          <p:cNvCxnSpPr>
            <a:cxnSpLocks/>
          </p:cNvCxnSpPr>
          <p:nvPr/>
        </p:nvCxnSpPr>
        <p:spPr>
          <a:xfrm flipH="1">
            <a:off x="12193587" y="4475747"/>
            <a:ext cx="4746876" cy="1812758"/>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77477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500"/>
                                        <p:tgtEl>
                                          <p:spTgt spid="23"/>
                                        </p:tgtEl>
                                      </p:cBhvr>
                                    </p:animEffect>
                                  </p:childTnLst>
                                </p:cTn>
                              </p:par>
                              <p:par>
                                <p:cTn id="12" presetID="9" presetClass="entr" presetSubtype="0" fill="hold"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dissolve">
                                      <p:cBhvr>
                                        <p:cTn id="14" dur="500"/>
                                        <p:tgtEl>
                                          <p:spTgt spid="4"/>
                                        </p:tgtEl>
                                      </p:cBhvr>
                                    </p:animEffect>
                                  </p:childTnLst>
                                </p:cTn>
                              </p:par>
                              <p:par>
                                <p:cTn id="15" presetID="9"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dissolve">
                                      <p:cBhvr>
                                        <p:cTn id="1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18" name="TextBox 17">
            <a:extLst>
              <a:ext uri="{FF2B5EF4-FFF2-40B4-BE49-F238E27FC236}">
                <a16:creationId xmlns:a16="http://schemas.microsoft.com/office/drawing/2014/main" id="{F7FC67CC-520F-06A1-4267-9EE5ABC3665B}"/>
              </a:ext>
            </a:extLst>
          </p:cNvPr>
          <p:cNvSpPr txBox="1"/>
          <p:nvPr/>
        </p:nvSpPr>
        <p:spPr>
          <a:xfrm>
            <a:off x="4845442" y="3601647"/>
            <a:ext cx="13810670" cy="1015663"/>
          </a:xfrm>
          <a:prstGeom prst="rect">
            <a:avLst/>
          </a:prstGeom>
          <a:noFill/>
        </p:spPr>
        <p:txBody>
          <a:bodyPr wrap="square">
            <a:spAutoFit/>
          </a:bodyPr>
          <a:lstStyle/>
          <a:p>
            <a:r>
              <a:rPr lang="en-US" sz="6000" b="0" dirty="0">
                <a:effectLst/>
                <a:latin typeface="Courier New" panose="02070309020205020404" pitchFamily="49" charset="0"/>
              </a:rPr>
              <a:t>[</a:t>
            </a:r>
            <a:r>
              <a:rPr lang="en-US" sz="6000" dirty="0">
                <a:solidFill>
                  <a:srgbClr val="098156"/>
                </a:solidFill>
                <a:latin typeface="Courier New" panose="02070309020205020404" pitchFamily="49" charset="0"/>
              </a:rPr>
              <a:t>0</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3</a:t>
            </a:r>
            <a:r>
              <a:rPr lang="en-US" sz="6000" dirty="0">
                <a:latin typeface="Courier New" panose="02070309020205020404" pitchFamily="49" charset="0"/>
              </a:rPr>
              <a:t>,</a:t>
            </a:r>
            <a:r>
              <a:rPr lang="en-US" sz="6000" dirty="0">
                <a:solidFill>
                  <a:srgbClr val="FF0000"/>
                </a:solidFill>
                <a:latin typeface="Courier New" panose="02070309020205020404" pitchFamily="49" charset="0"/>
              </a:rPr>
              <a:t> </a:t>
            </a:r>
            <a:r>
              <a:rPr lang="en-US" sz="6000" dirty="0">
                <a:solidFill>
                  <a:srgbClr val="098156"/>
                </a:solidFill>
                <a:latin typeface="Courier New" panose="02070309020205020404" pitchFamily="49" charset="0"/>
              </a:rPr>
              <a:t>5</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7</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8</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9</a:t>
            </a:r>
            <a:r>
              <a:rPr lang="en-US" sz="6000" dirty="0">
                <a:latin typeface="Courier New" panose="02070309020205020404" pitchFamily="49" charset="0"/>
              </a:rPr>
              <a:t>, </a:t>
            </a:r>
            <a:r>
              <a:rPr lang="en-US" sz="6000" dirty="0">
                <a:solidFill>
                  <a:srgbClr val="098156"/>
                </a:solidFill>
                <a:latin typeface="Courier New" panose="02070309020205020404" pitchFamily="49" charset="0"/>
              </a:rPr>
              <a:t>10</a:t>
            </a:r>
            <a:r>
              <a:rPr lang="en-US" sz="6000" dirty="0">
                <a:latin typeface="Courier New" panose="02070309020205020404" pitchFamily="49" charset="0"/>
              </a:rPr>
              <a:t>,</a:t>
            </a:r>
            <a:r>
              <a:rPr lang="en-US" sz="6000" dirty="0">
                <a:solidFill>
                  <a:srgbClr val="098156"/>
                </a:solidFill>
                <a:latin typeface="Courier New" panose="02070309020205020404" pitchFamily="49" charset="0"/>
              </a:rPr>
              <a:t> 14</a:t>
            </a:r>
            <a:r>
              <a:rPr lang="en-US" sz="6000" dirty="0">
                <a:latin typeface="Courier New" panose="02070309020205020404" pitchFamily="49" charset="0"/>
              </a:rPr>
              <a:t>]</a:t>
            </a:r>
            <a:endParaRPr lang="en-US" sz="6000" b="0" dirty="0">
              <a:effectLst/>
              <a:latin typeface="Courier New" panose="02070309020205020404" pitchFamily="49" charset="0"/>
            </a:endParaRPr>
          </a:p>
        </p:txBody>
      </p:sp>
      <p:sp>
        <p:nvSpPr>
          <p:cNvPr id="2" name="Google Shape;412;p56">
            <a:extLst>
              <a:ext uri="{FF2B5EF4-FFF2-40B4-BE49-F238E27FC236}">
                <a16:creationId xmlns:a16="http://schemas.microsoft.com/office/drawing/2014/main" id="{4E5DC0DC-DCEB-F4EA-FA06-D349E1D17C1C}"/>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D91AA8B2-6D4C-AEDC-81A7-C8190312A9C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12;p56">
            <a:extLst>
              <a:ext uri="{FF2B5EF4-FFF2-40B4-BE49-F238E27FC236}">
                <a16:creationId xmlns:a16="http://schemas.microsoft.com/office/drawing/2014/main" id="{1DF98835-E352-EAD3-E001-8739AE1A0C64}"/>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min()</a:t>
            </a:r>
          </a:p>
        </p:txBody>
      </p:sp>
      <p:sp>
        <p:nvSpPr>
          <p:cNvPr id="12" name="TextBox 11">
            <a:extLst>
              <a:ext uri="{FF2B5EF4-FFF2-40B4-BE49-F238E27FC236}">
                <a16:creationId xmlns:a16="http://schemas.microsoft.com/office/drawing/2014/main" id="{592EA4AB-D624-178A-243C-BDD002F13C91}"/>
              </a:ext>
            </a:extLst>
          </p:cNvPr>
          <p:cNvSpPr txBox="1"/>
          <p:nvPr/>
        </p:nvSpPr>
        <p:spPr>
          <a:xfrm>
            <a:off x="1270415" y="5953806"/>
            <a:ext cx="11670816" cy="1015663"/>
          </a:xfrm>
          <a:prstGeom prst="rect">
            <a:avLst/>
          </a:prstGeom>
          <a:noFill/>
        </p:spPr>
        <p:txBody>
          <a:bodyPr wrap="square">
            <a:spAutoFit/>
          </a:bodyPr>
          <a:lstStyle/>
          <a:p>
            <a:r>
              <a:rPr lang="en-US" sz="6000" b="0" dirty="0">
                <a:solidFill>
                  <a:srgbClr val="795E27"/>
                </a:solidFill>
                <a:effectLst/>
                <a:latin typeface="Courier New" panose="02070309020205020404" pitchFamily="49" charset="0"/>
              </a:rPr>
              <a:t>min</a:t>
            </a:r>
            <a:r>
              <a:rPr lang="en-US" sz="6000" b="0" dirty="0">
                <a:solidFill>
                  <a:srgbClr val="000000"/>
                </a:solidFill>
                <a:effectLst/>
                <a:latin typeface="Courier New" panose="02070309020205020404" pitchFamily="49" charset="0"/>
              </a:rPr>
              <a:t>(</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endParaRPr lang="en-US" sz="6000" dirty="0">
              <a:solidFill>
                <a:srgbClr val="000000"/>
              </a:solidFill>
              <a:latin typeface="Courier New" panose="02070309020205020404" pitchFamily="49" charset="0"/>
            </a:endParaRPr>
          </a:p>
        </p:txBody>
      </p:sp>
      <p:cxnSp>
        <p:nvCxnSpPr>
          <p:cNvPr id="22" name="Straight Arrow Connector 21">
            <a:extLst>
              <a:ext uri="{FF2B5EF4-FFF2-40B4-BE49-F238E27FC236}">
                <a16:creationId xmlns:a16="http://schemas.microsoft.com/office/drawing/2014/main" id="{BED6DF85-C88F-337B-9DC2-E7A7A5B5E062}"/>
              </a:ext>
            </a:extLst>
          </p:cNvPr>
          <p:cNvCxnSpPr>
            <a:cxnSpLocks/>
          </p:cNvCxnSpPr>
          <p:nvPr/>
        </p:nvCxnSpPr>
        <p:spPr>
          <a:xfrm>
            <a:off x="7105823" y="6461637"/>
            <a:ext cx="3947188" cy="0"/>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3885379-30C7-2902-D80F-E1A1BB043746}"/>
              </a:ext>
            </a:extLst>
          </p:cNvPr>
          <p:cNvSpPr txBox="1"/>
          <p:nvPr/>
        </p:nvSpPr>
        <p:spPr>
          <a:xfrm>
            <a:off x="11174047" y="5953806"/>
            <a:ext cx="793357"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0</a:t>
            </a:r>
            <a:endParaRPr lang="en-US" sz="6000" b="0" dirty="0">
              <a:effectLst/>
              <a:latin typeface="Courier New" panose="02070309020205020404" pitchFamily="49" charset="0"/>
            </a:endParaRPr>
          </a:p>
        </p:txBody>
      </p:sp>
      <p:cxnSp>
        <p:nvCxnSpPr>
          <p:cNvPr id="4" name="Straight Arrow Connector 3">
            <a:extLst>
              <a:ext uri="{FF2B5EF4-FFF2-40B4-BE49-F238E27FC236}">
                <a16:creationId xmlns:a16="http://schemas.microsoft.com/office/drawing/2014/main" id="{9F213B41-DBB5-135C-C161-0E982B9BFCEC}"/>
              </a:ext>
            </a:extLst>
          </p:cNvPr>
          <p:cNvCxnSpPr>
            <a:cxnSpLocks/>
          </p:cNvCxnSpPr>
          <p:nvPr/>
        </p:nvCxnSpPr>
        <p:spPr>
          <a:xfrm>
            <a:off x="5925899" y="4573873"/>
            <a:ext cx="5127112" cy="1586295"/>
          </a:xfrm>
          <a:prstGeom prst="straightConnector1">
            <a:avLst/>
          </a:prstGeom>
          <a:ln w="76200">
            <a:solidFill>
              <a:srgbClr val="004C7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05871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dissolve">
                                      <p:cBhvr>
                                        <p:cTn id="11" dur="500"/>
                                        <p:tgtEl>
                                          <p:spTgt spid="23"/>
                                        </p:tgtEl>
                                      </p:cBhvr>
                                    </p:animEffect>
                                  </p:childTnLst>
                                </p:cTn>
                              </p:par>
                              <p:par>
                                <p:cTn id="12" presetID="9" presetClass="entr" presetSubtype="0" fill="hold"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dissolve">
                                      <p:cBhvr>
                                        <p:cTn id="14" dur="500"/>
                                        <p:tgtEl>
                                          <p:spTgt spid="4"/>
                                        </p:tgtEl>
                                      </p:cBhvr>
                                    </p:animEffect>
                                  </p:childTnLst>
                                </p:cTn>
                              </p:par>
                              <p:par>
                                <p:cTn id="15" presetID="9"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dissolve">
                                      <p:cBhvr>
                                        <p:cTn id="1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0">
          <a:extLst>
            <a:ext uri="{FF2B5EF4-FFF2-40B4-BE49-F238E27FC236}">
              <a16:creationId xmlns:a16="http://schemas.microsoft.com/office/drawing/2014/main" id="{BA2DDA8D-EC46-D90C-C660-513885584A67}"/>
            </a:ext>
          </a:extLst>
        </p:cNvPr>
        <p:cNvGrpSpPr/>
        <p:nvPr/>
      </p:nvGrpSpPr>
      <p:grpSpPr>
        <a:xfrm>
          <a:off x="0" y="0"/>
          <a:ext cx="0" cy="0"/>
          <a:chOff x="0" y="0"/>
          <a:chExt cx="0" cy="0"/>
        </a:xfrm>
      </p:grpSpPr>
      <p:sp>
        <p:nvSpPr>
          <p:cNvPr id="451" name="Google Shape;451;p59">
            <a:extLst>
              <a:ext uri="{FF2B5EF4-FFF2-40B4-BE49-F238E27FC236}">
                <a16:creationId xmlns:a16="http://schemas.microsoft.com/office/drawing/2014/main" id="{CFEEECAD-FDFC-6B7F-0654-9C09F1C9F360}"/>
              </a:ext>
            </a:extLst>
          </p:cNvPr>
          <p:cNvSpPr txBox="1">
            <a:spLocks noGrp="1"/>
          </p:cNvSpPr>
          <p:nvPr>
            <p:ph type="body" idx="1"/>
          </p:nvPr>
        </p:nvSpPr>
        <p:spPr>
          <a:xfrm>
            <a:off x="3709488" y="4081925"/>
            <a:ext cx="4729974" cy="1596847"/>
          </a:xfrm>
          <a:prstGeom prst="rect">
            <a:avLst/>
          </a:prstGeom>
        </p:spPr>
        <p:txBody>
          <a:bodyPr spcFirstLastPara="1" vert="horz" wrap="square" lIns="243800" tIns="243800" rIns="243800" bIns="243800" rtlCol="0" anchor="t" anchorCtr="0">
            <a:normAutofit/>
          </a:bodyPr>
          <a:lstStyle/>
          <a:p>
            <a:pPr marL="237099" indent="0">
              <a:buSzPts val="22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52" name="Google Shape;452;p59">
            <a:extLst>
              <a:ext uri="{FF2B5EF4-FFF2-40B4-BE49-F238E27FC236}">
                <a16:creationId xmlns:a16="http://schemas.microsoft.com/office/drawing/2014/main" id="{F73BC0BD-2F83-38BE-CAFA-2CC7090D6D1B}"/>
              </a:ext>
            </a:extLst>
          </p:cNvPr>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31</a:t>
            </a:fld>
            <a:endParaRPr>
              <a:solidFill>
                <a:schemeClr val="accent1"/>
              </a:solidFill>
              <a:latin typeface="Lato"/>
              <a:ea typeface="Lato"/>
              <a:cs typeface="Lato"/>
              <a:sym typeface="Lato"/>
            </a:endParaRPr>
          </a:p>
        </p:txBody>
      </p:sp>
      <p:sp>
        <p:nvSpPr>
          <p:cNvPr id="5" name="Google Shape;412;p56">
            <a:extLst>
              <a:ext uri="{FF2B5EF4-FFF2-40B4-BE49-F238E27FC236}">
                <a16:creationId xmlns:a16="http://schemas.microsoft.com/office/drawing/2014/main" id="{37C322C9-486D-A36E-1933-7EACE7B6FCF0}"/>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451;p59">
            <a:extLst>
              <a:ext uri="{FF2B5EF4-FFF2-40B4-BE49-F238E27FC236}">
                <a16:creationId xmlns:a16="http://schemas.microsoft.com/office/drawing/2014/main" id="{7D869167-273B-7584-B976-AE8D7290EE85}"/>
              </a:ext>
            </a:extLst>
          </p:cNvPr>
          <p:cNvSpPr txBox="1">
            <a:spLocks/>
          </p:cNvSpPr>
          <p:nvPr/>
        </p:nvSpPr>
        <p:spPr>
          <a:xfrm>
            <a:off x="3709488" y="5057292"/>
            <a:ext cx="7920376"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51;p59">
            <a:extLst>
              <a:ext uri="{FF2B5EF4-FFF2-40B4-BE49-F238E27FC236}">
                <a16:creationId xmlns:a16="http://schemas.microsoft.com/office/drawing/2014/main" id="{74DB29FA-05B1-424F-3305-2F923538CE81}"/>
              </a:ext>
            </a:extLst>
          </p:cNvPr>
          <p:cNvSpPr txBox="1">
            <a:spLocks/>
          </p:cNvSpPr>
          <p:nvPr/>
        </p:nvSpPr>
        <p:spPr>
          <a:xfrm>
            <a:off x="3709488" y="6032659"/>
            <a:ext cx="10039169"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p:txBody>
      </p:sp>
      <p:sp>
        <p:nvSpPr>
          <p:cNvPr id="8" name="Google Shape;451;p59">
            <a:extLst>
              <a:ext uri="{FF2B5EF4-FFF2-40B4-BE49-F238E27FC236}">
                <a16:creationId xmlns:a16="http://schemas.microsoft.com/office/drawing/2014/main" id="{8EBF748C-8231-4A7D-688C-BAEA1EB51F00}"/>
              </a:ext>
            </a:extLst>
          </p:cNvPr>
          <p:cNvSpPr txBox="1">
            <a:spLocks/>
          </p:cNvSpPr>
          <p:nvPr/>
        </p:nvSpPr>
        <p:spPr>
          <a:xfrm>
            <a:off x="3709488" y="6980982"/>
            <a:ext cx="8085269" cy="2030752"/>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9" name="Google Shape;451;p59">
            <a:extLst>
              <a:ext uri="{FF2B5EF4-FFF2-40B4-BE49-F238E27FC236}">
                <a16:creationId xmlns:a16="http://schemas.microsoft.com/office/drawing/2014/main" id="{46DC118B-FD0F-5D9A-4F2E-35E13DF4E4F8}"/>
              </a:ext>
            </a:extLst>
          </p:cNvPr>
          <p:cNvSpPr txBox="1">
            <a:spLocks/>
          </p:cNvSpPr>
          <p:nvPr/>
        </p:nvSpPr>
        <p:spPr>
          <a:xfrm>
            <a:off x="3709488" y="7956349"/>
            <a:ext cx="9578717" cy="1775476"/>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Tree>
    <p:extLst>
      <p:ext uri="{BB962C8B-B14F-4D97-AF65-F5344CB8AC3E}">
        <p14:creationId xmlns:p14="http://schemas.microsoft.com/office/powerpoint/2010/main" val="160374711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64"/>
          <p:cNvSpPr txBox="1">
            <a:spLocks noGrp="1"/>
          </p:cNvSpPr>
          <p:nvPr>
            <p:ph type="body" idx="1"/>
          </p:nvPr>
        </p:nvSpPr>
        <p:spPr>
          <a:xfrm>
            <a:off x="1940652" y="2763142"/>
            <a:ext cx="20666292" cy="3028058"/>
          </a:xfrm>
          <a:prstGeom prst="rect">
            <a:avLst/>
          </a:prstGeom>
        </p:spPr>
        <p:txBody>
          <a:bodyPr spcFirstLastPara="1" vert="horz" wrap="square" lIns="243800" tIns="243800" rIns="243800" bIns="243800" rtlCol="0" anchor="t" anchorCtr="0">
            <a:noAutofit/>
          </a:bodyPr>
          <a:lstStyle/>
          <a:p>
            <a:pPr marL="389519" indent="0">
              <a:buNone/>
            </a:pPr>
            <a:r>
              <a:rPr lang="en"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Shorthand for “for” loops</a:t>
            </a:r>
            <a:endParaRPr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endParaRPr>
          </a:p>
          <a:p>
            <a:pPr marL="0" indent="0">
              <a:lnSpc>
                <a:spcPct val="135714"/>
              </a:lnSpc>
              <a:spcBef>
                <a:spcPts val="3200"/>
              </a:spcBef>
              <a:buNone/>
            </a:pPr>
            <a:r>
              <a:rPr lang="en" dirty="0" err="1">
                <a:solidFill>
                  <a:srgbClr val="000000"/>
                </a:solidFill>
                <a:highlight>
                  <a:srgbClr val="FFFFFE"/>
                </a:highlight>
                <a:latin typeface="Courier New"/>
                <a:ea typeface="Courier New"/>
                <a:cs typeface="Courier New"/>
                <a:sym typeface="Courier New"/>
              </a:rPr>
              <a:t>new_list</a:t>
            </a:r>
            <a:r>
              <a:rPr lang="en" dirty="0">
                <a:solidFill>
                  <a:srgbClr val="000000"/>
                </a:solidFill>
                <a:highlight>
                  <a:srgbClr val="FFFFFE"/>
                </a:highlight>
                <a:latin typeface="Courier New"/>
                <a:ea typeface="Courier New"/>
                <a:cs typeface="Courier New"/>
                <a:sym typeface="Courier New"/>
              </a:rPr>
              <a:t> = [expression </a:t>
            </a:r>
            <a:r>
              <a:rPr lang="en" dirty="0">
                <a:solidFill>
                  <a:srgbClr val="AF00DB"/>
                </a:solidFill>
                <a:highlight>
                  <a:srgbClr val="FFFFFE"/>
                </a:highlight>
                <a:latin typeface="Courier New"/>
                <a:ea typeface="Courier New"/>
                <a:cs typeface="Courier New"/>
                <a:sym typeface="Courier New"/>
              </a:rPr>
              <a:t>for</a:t>
            </a:r>
            <a:r>
              <a:rPr lang="en" dirty="0">
                <a:solidFill>
                  <a:srgbClr val="000000"/>
                </a:solidFill>
                <a:highlight>
                  <a:srgbClr val="FFFFFE"/>
                </a:highlight>
                <a:latin typeface="Courier New"/>
                <a:ea typeface="Courier New"/>
                <a:cs typeface="Courier New"/>
                <a:sym typeface="Courier New"/>
              </a:rPr>
              <a:t> object </a:t>
            </a:r>
            <a:r>
              <a:rPr lang="en" dirty="0">
                <a:solidFill>
                  <a:srgbClr val="0000FF"/>
                </a:solidFill>
                <a:highlight>
                  <a:srgbClr val="FFFFFE"/>
                </a:highlight>
                <a:latin typeface="Courier New"/>
                <a:ea typeface="Courier New"/>
                <a:cs typeface="Courier New"/>
                <a:sym typeface="Courier New"/>
              </a:rPr>
              <a:t>in</a:t>
            </a:r>
            <a:r>
              <a:rPr lang="en" dirty="0">
                <a:solidFill>
                  <a:srgbClr val="000000"/>
                </a:solidFill>
                <a:highlight>
                  <a:srgbClr val="FFFFFE"/>
                </a:highlight>
                <a:latin typeface="Courier New"/>
                <a:ea typeface="Courier New"/>
                <a:cs typeface="Courier New"/>
                <a:sym typeface="Courier New"/>
              </a:rPr>
              <a:t> iteration] </a:t>
            </a:r>
            <a:endParaRPr dirty="0">
              <a:solidFill>
                <a:srgbClr val="000000"/>
              </a:solidFill>
              <a:highlight>
                <a:srgbClr val="FFFFFE"/>
              </a:highlight>
              <a:latin typeface="Courier New"/>
              <a:ea typeface="Courier New"/>
              <a:cs typeface="Courier New"/>
              <a:sym typeface="Courier New"/>
            </a:endParaRPr>
          </a:p>
        </p:txBody>
      </p:sp>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502;p64">
            <a:extLst>
              <a:ext uri="{FF2B5EF4-FFF2-40B4-BE49-F238E27FC236}">
                <a16:creationId xmlns:a16="http://schemas.microsoft.com/office/drawing/2014/main" id="{2032A8A9-25B1-30CF-0CED-D2B56A6D5ECB}"/>
              </a:ext>
            </a:extLst>
          </p:cNvPr>
          <p:cNvSpPr txBox="1">
            <a:spLocks/>
          </p:cNvSpPr>
          <p:nvPr/>
        </p:nvSpPr>
        <p:spPr>
          <a:xfrm>
            <a:off x="1780230" y="5743697"/>
            <a:ext cx="20826713" cy="2228606"/>
          </a:xfrm>
          <a:prstGeom prst="rect">
            <a:avLst/>
          </a:prstGeom>
        </p:spPr>
        <p:txBody>
          <a:bodyPr spcFirstLastPara="1" vert="horz" wrap="square" lIns="243800" tIns="243800" rIns="243800" bIns="243800" rtlCol="0" anchor="t" anchorCtr="0">
            <a:no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0" indent="0">
              <a:lnSpc>
                <a:spcPct val="135714"/>
              </a:lnSpc>
              <a:spcBef>
                <a:spcPts val="3200"/>
              </a:spcBef>
              <a:buFont typeface="Arial" panose="020B0604020202020204" pitchFamily="34" charset="0"/>
              <a:buNone/>
            </a:pPr>
            <a:r>
              <a:rPr lang="en-US" dirty="0">
                <a:solidFill>
                  <a:srgbClr val="000000"/>
                </a:solidFill>
                <a:highlight>
                  <a:srgbClr val="FFFFFE"/>
                </a:highlight>
                <a:latin typeface="Courier New"/>
                <a:ea typeface="Courier New"/>
                <a:cs typeface="Courier New"/>
                <a:sym typeface="Courier New"/>
              </a:rPr>
              <a:t>[obj1, obj2, obj3, obj4, obj5, obj6, obj7 ...]</a:t>
            </a: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[new1, new2, new3, new4, new5, new6, new7 ...]</a:t>
            </a:r>
          </a:p>
        </p:txBody>
      </p:sp>
      <p:grpSp>
        <p:nvGrpSpPr>
          <p:cNvPr id="10" name="Group 9">
            <a:extLst>
              <a:ext uri="{FF2B5EF4-FFF2-40B4-BE49-F238E27FC236}">
                <a16:creationId xmlns:a16="http://schemas.microsoft.com/office/drawing/2014/main" id="{663FFC6C-99A0-2C55-C951-2008208E2710}"/>
              </a:ext>
            </a:extLst>
          </p:cNvPr>
          <p:cNvGrpSpPr/>
          <p:nvPr/>
        </p:nvGrpSpPr>
        <p:grpSpPr>
          <a:xfrm>
            <a:off x="3096126" y="7667571"/>
            <a:ext cx="923328" cy="3385992"/>
            <a:chOff x="3096126" y="7667571"/>
            <a:chExt cx="923328" cy="3385992"/>
          </a:xfrm>
        </p:grpSpPr>
        <p:cxnSp>
          <p:nvCxnSpPr>
            <p:cNvPr id="8" name="Straight Arrow Connector 7">
              <a:extLst>
                <a:ext uri="{FF2B5EF4-FFF2-40B4-BE49-F238E27FC236}">
                  <a16:creationId xmlns:a16="http://schemas.microsoft.com/office/drawing/2014/main" id="{E2A7DA22-256D-EE32-3CE4-E9A9195814C9}"/>
                </a:ext>
              </a:extLst>
            </p:cNvPr>
            <p:cNvCxnSpPr/>
            <p:nvPr/>
          </p:nvCxnSpPr>
          <p:spPr>
            <a:xfrm>
              <a:off x="3096126" y="7684168"/>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C987C-F295-BF6A-8AC2-FD6008F37B45}"/>
                </a:ext>
              </a:extLst>
            </p:cNvPr>
            <p:cNvSpPr txBox="1"/>
            <p:nvPr/>
          </p:nvSpPr>
          <p:spPr>
            <a:xfrm rot="5400000">
              <a:off x="1910960" y="8945068"/>
              <a:ext cx="3385992" cy="830997"/>
            </a:xfrm>
            <a:prstGeom prst="rect">
              <a:avLst/>
            </a:prstGeom>
            <a:noFill/>
          </p:spPr>
          <p:txBody>
            <a:bodyPr wrap="none" rtlCol="0">
              <a:spAutoFit/>
            </a:bodyPr>
            <a:lstStyle/>
            <a:p>
              <a:r>
                <a:rPr lang="en-US" sz="4800" b="1" dirty="0">
                  <a:solidFill>
                    <a:srgbClr val="EF7001"/>
                  </a:solidFill>
                  <a:latin typeface="Helvetica Neue" panose="02000503000000020004" pitchFamily="2" charset="0"/>
                  <a:ea typeface="Helvetica Neue" panose="02000503000000020004" pitchFamily="2" charset="0"/>
                  <a:cs typeface="Helvetica Neue" panose="02000503000000020004" pitchFamily="2" charset="0"/>
                </a:rPr>
                <a:t>expression</a:t>
              </a:r>
            </a:p>
          </p:txBody>
        </p:sp>
      </p:gr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0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nodeType="clickEffect">
                                  <p:stCondLst>
                                    <p:cond delay="0"/>
                                  </p:stCondLst>
                                  <p:childTnLst>
                                    <p:animMotion origin="layout" path="M 5.57219E-7 2.59259E-6 L 0.09816 0.00058 " pathEditMode="relative" rAng="0" ptsTypes="AA">
                                      <p:cBhvr>
                                        <p:cTn id="20" dur="500" fill="hold"/>
                                        <p:tgtEl>
                                          <p:spTgt spid="10"/>
                                        </p:tgtEl>
                                        <p:attrNameLst>
                                          <p:attrName>ppt_x</p:attrName>
                                          <p:attrName>ppt_y</p:attrName>
                                        </p:attrNameLst>
                                      </p:cBhvr>
                                      <p:rCtr x="4908" y="23"/>
                                    </p:animMotion>
                                  </p:childTnLst>
                                </p:cTn>
                              </p:par>
                            </p:childTnLst>
                          </p:cTn>
                        </p:par>
                        <p:par>
                          <p:cTn id="21" fill="hold">
                            <p:stCondLst>
                              <p:cond delay="500"/>
                            </p:stCondLst>
                            <p:childTnLst>
                              <p:par>
                                <p:cTn id="22" presetID="42" presetClass="path" presetSubtype="0" accel="50000" decel="50000" fill="hold" nodeType="afterEffect">
                                  <p:stCondLst>
                                    <p:cond delay="0"/>
                                  </p:stCondLst>
                                  <p:childTnLst>
                                    <p:animMotion origin="layout" path="M 0.09816 0.00058 L 0.20147 0.00185 " pathEditMode="relative" rAng="0" ptsTypes="AA">
                                      <p:cBhvr>
                                        <p:cTn id="23" dur="500" fill="hold"/>
                                        <p:tgtEl>
                                          <p:spTgt spid="10"/>
                                        </p:tgtEl>
                                        <p:attrNameLst>
                                          <p:attrName>ppt_x</p:attrName>
                                          <p:attrName>ppt_y</p:attrName>
                                        </p:attrNameLst>
                                      </p:cBhvr>
                                      <p:rCtr x="5162" y="58"/>
                                    </p:animMotion>
                                  </p:childTnLst>
                                </p:cTn>
                              </p:par>
                            </p:childTnLst>
                          </p:cTn>
                        </p:par>
                        <p:par>
                          <p:cTn id="24" fill="hold">
                            <p:stCondLst>
                              <p:cond delay="1000"/>
                            </p:stCondLst>
                            <p:childTnLst>
                              <p:par>
                                <p:cTn id="25" presetID="42" presetClass="path" presetSubtype="0" accel="50000" decel="50000" fill="hold" nodeType="afterEffect">
                                  <p:stCondLst>
                                    <p:cond delay="0"/>
                                  </p:stCondLst>
                                  <p:childTnLst>
                                    <p:animMotion origin="layout" path="M 0.20147 0.00185 L 0.30999 0.00185 " pathEditMode="relative" rAng="0" ptsTypes="AA">
                                      <p:cBhvr>
                                        <p:cTn id="26" dur="500" fill="hold"/>
                                        <p:tgtEl>
                                          <p:spTgt spid="10"/>
                                        </p:tgtEl>
                                        <p:attrNameLst>
                                          <p:attrName>ppt_x</p:attrName>
                                          <p:attrName>ppt_y</p:attrName>
                                        </p:attrNameLst>
                                      </p:cBhvr>
                                      <p:rCtr x="5422" y="0"/>
                                    </p:animMotion>
                                  </p:childTnLst>
                                </p:cTn>
                              </p:par>
                            </p:childTnLst>
                          </p:cTn>
                        </p:par>
                        <p:par>
                          <p:cTn id="27" fill="hold">
                            <p:stCondLst>
                              <p:cond delay="1500"/>
                            </p:stCondLst>
                            <p:childTnLst>
                              <p:par>
                                <p:cTn id="28" presetID="42" presetClass="path" presetSubtype="0" accel="50000" decel="50000" fill="hold" nodeType="afterEffect">
                                  <p:stCondLst>
                                    <p:cond delay="0"/>
                                  </p:stCondLst>
                                  <p:childTnLst>
                                    <p:animMotion origin="layout" path="M 0.30999 0.00185 L 0.41394 0.00058 " pathEditMode="relative" rAng="0" ptsTypes="AA">
                                      <p:cBhvr>
                                        <p:cTn id="29" dur="500" fill="hold"/>
                                        <p:tgtEl>
                                          <p:spTgt spid="10"/>
                                        </p:tgtEl>
                                        <p:attrNameLst>
                                          <p:attrName>ppt_x</p:attrName>
                                          <p:attrName>ppt_y</p:attrName>
                                        </p:attrNameLst>
                                      </p:cBhvr>
                                      <p:rCtr x="5195" y="-69"/>
                                    </p:animMotion>
                                  </p:childTnLst>
                                </p:cTn>
                              </p:par>
                            </p:childTnLst>
                          </p:cTn>
                        </p:par>
                        <p:par>
                          <p:cTn id="30" fill="hold">
                            <p:stCondLst>
                              <p:cond delay="2000"/>
                            </p:stCondLst>
                            <p:childTnLst>
                              <p:par>
                                <p:cTn id="31" presetID="42" presetClass="path" presetSubtype="0" accel="50000" decel="50000" fill="hold" nodeType="afterEffect">
                                  <p:stCondLst>
                                    <p:cond delay="0"/>
                                  </p:stCondLst>
                                  <p:childTnLst>
                                    <p:animMotion origin="layout" path="M 0.41394 0.00058 L 0.52116 -0.00174 " pathEditMode="relative" rAng="0" ptsTypes="AA">
                                      <p:cBhvr>
                                        <p:cTn id="32" dur="500" fill="hold"/>
                                        <p:tgtEl>
                                          <p:spTgt spid="10"/>
                                        </p:tgtEl>
                                        <p:attrNameLst>
                                          <p:attrName>ppt_x</p:attrName>
                                          <p:attrName>ppt_y</p:attrName>
                                        </p:attrNameLst>
                                      </p:cBhvr>
                                      <p:rCtr x="5357" y="-116"/>
                                    </p:animMotion>
                                  </p:childTnLst>
                                </p:cTn>
                              </p:par>
                            </p:childTnLst>
                          </p:cTn>
                        </p:par>
                        <p:par>
                          <p:cTn id="33" fill="hold">
                            <p:stCondLst>
                              <p:cond delay="2500"/>
                            </p:stCondLst>
                            <p:childTnLst>
                              <p:par>
                                <p:cTn id="34" presetID="42" presetClass="path" presetSubtype="0" accel="50000" decel="50000" fill="hold" nodeType="afterEffect">
                                  <p:stCondLst>
                                    <p:cond delay="0"/>
                                  </p:stCondLst>
                                  <p:childTnLst>
                                    <p:animMotion origin="layout" path="M 0.52116 -0.00174 L 0.63891 -0.00058 " pathEditMode="relative" rAng="0" ptsTypes="AA">
                                      <p:cBhvr>
                                        <p:cTn id="35" dur="500" fill="hold"/>
                                        <p:tgtEl>
                                          <p:spTgt spid="10"/>
                                        </p:tgtEl>
                                        <p:attrNameLst>
                                          <p:attrName>ppt_x</p:attrName>
                                          <p:attrName>ppt_y</p:attrName>
                                        </p:attrNameLst>
                                      </p:cBhvr>
                                      <p:rCtr x="5885" y="58"/>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2" grpId="0" build="p"/>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502" name="Google Shape;502;p64"/>
          <p:cNvSpPr txBox="1">
            <a:spLocks noGrp="1"/>
          </p:cNvSpPr>
          <p:nvPr>
            <p:ph type="body" idx="1"/>
          </p:nvPr>
        </p:nvSpPr>
        <p:spPr>
          <a:xfrm>
            <a:off x="1940651" y="2679032"/>
            <a:ext cx="20666292" cy="3028058"/>
          </a:xfrm>
          <a:prstGeom prst="rect">
            <a:avLst/>
          </a:prstGeom>
        </p:spPr>
        <p:txBody>
          <a:bodyPr spcFirstLastPara="1" vert="horz" wrap="square" lIns="243800" tIns="243800" rIns="243800" bIns="243800" rtlCol="0" anchor="t" anchorCtr="0">
            <a:noAutofit/>
          </a:bodyPr>
          <a:lstStyle/>
          <a:p>
            <a:pPr marL="0" indent="0">
              <a:lnSpc>
                <a:spcPct val="135714"/>
              </a:lnSpc>
              <a:spcBef>
                <a:spcPts val="3200"/>
              </a:spcBef>
              <a:buNone/>
            </a:pPr>
            <a:r>
              <a:rPr lang="en" dirty="0" err="1">
                <a:solidFill>
                  <a:srgbClr val="000000"/>
                </a:solidFill>
                <a:highlight>
                  <a:srgbClr val="FFFFFE"/>
                </a:highlight>
                <a:latin typeface="Courier New"/>
                <a:ea typeface="Courier New"/>
                <a:cs typeface="Courier New"/>
                <a:sym typeface="Courier New"/>
              </a:rPr>
              <a:t>new_list</a:t>
            </a:r>
            <a:r>
              <a:rPr lang="en" dirty="0">
                <a:solidFill>
                  <a:srgbClr val="000000"/>
                </a:solidFill>
                <a:highlight>
                  <a:srgbClr val="FFFFFE"/>
                </a:highlight>
                <a:latin typeface="Courier New"/>
                <a:ea typeface="Courier New"/>
                <a:cs typeface="Courier New"/>
                <a:sym typeface="Courier New"/>
              </a:rPr>
              <a:t> = [(i+1)/</a:t>
            </a:r>
            <a:r>
              <a:rPr lang="en-US" sz="5400" dirty="0">
                <a:solidFill>
                  <a:srgbClr val="098156"/>
                </a:solidFill>
                <a:highlight>
                  <a:srgbClr val="FFFFFE"/>
                </a:highlight>
                <a:latin typeface="Courier New" panose="02070309020205020404" pitchFamily="49" charset="0"/>
              </a:rPr>
              <a:t>2 </a:t>
            </a:r>
            <a:r>
              <a:rPr lang="en" dirty="0">
                <a:solidFill>
                  <a:srgbClr val="AF00DB"/>
                </a:solidFill>
                <a:highlight>
                  <a:srgbClr val="FFFFFE"/>
                </a:highlight>
                <a:latin typeface="Courier New"/>
                <a:ea typeface="Courier New"/>
                <a:cs typeface="Courier New"/>
                <a:sym typeface="Courier New"/>
              </a:rPr>
              <a:t>for</a:t>
            </a:r>
            <a:r>
              <a:rPr lang="en" dirty="0">
                <a:solidFill>
                  <a:srgbClr val="000000"/>
                </a:solidFill>
                <a:highlight>
                  <a:srgbClr val="FFFFFE"/>
                </a:highlight>
                <a:latin typeface="Courier New"/>
                <a:ea typeface="Courier New"/>
                <a:cs typeface="Courier New"/>
                <a:sym typeface="Courier New"/>
              </a:rPr>
              <a:t> </a:t>
            </a:r>
            <a:r>
              <a:rPr lang="en" dirty="0" err="1">
                <a:solidFill>
                  <a:srgbClr val="000000"/>
                </a:solidFill>
                <a:highlight>
                  <a:srgbClr val="FFFFFE"/>
                </a:highlight>
                <a:latin typeface="Courier New"/>
                <a:ea typeface="Courier New"/>
                <a:cs typeface="Courier New"/>
                <a:sym typeface="Courier New"/>
              </a:rPr>
              <a:t>i</a:t>
            </a:r>
            <a:r>
              <a:rPr lang="en" dirty="0">
                <a:solidFill>
                  <a:srgbClr val="000000"/>
                </a:solidFill>
                <a:highlight>
                  <a:srgbClr val="FFFFFE"/>
                </a:highlight>
                <a:latin typeface="Courier New"/>
                <a:ea typeface="Courier New"/>
                <a:cs typeface="Courier New"/>
                <a:sym typeface="Courier New"/>
              </a:rPr>
              <a:t> </a:t>
            </a:r>
            <a:r>
              <a:rPr lang="en" dirty="0">
                <a:solidFill>
                  <a:srgbClr val="0000FF"/>
                </a:solidFill>
                <a:highlight>
                  <a:srgbClr val="FFFFFE"/>
                </a:highlight>
                <a:latin typeface="Courier New"/>
                <a:ea typeface="Courier New"/>
                <a:cs typeface="Courier New"/>
                <a:sym typeface="Courier New"/>
              </a:rPr>
              <a:t>in</a:t>
            </a:r>
            <a:r>
              <a:rPr lang="en" dirty="0">
                <a:solidFill>
                  <a:srgbClr val="000000"/>
                </a:solidFill>
                <a:highlight>
                  <a:srgbClr val="FFFFFE"/>
                </a:highlight>
                <a:latin typeface="Courier New"/>
                <a:ea typeface="Courier New"/>
                <a:cs typeface="Courier New"/>
                <a:sym typeface="Courier New"/>
              </a:rPr>
              <a:t> range(</a:t>
            </a:r>
            <a:r>
              <a:rPr lang="en-US" sz="5400" dirty="0">
                <a:solidFill>
                  <a:srgbClr val="098156"/>
                </a:solidFill>
                <a:highlight>
                  <a:srgbClr val="FFFFFE"/>
                </a:highlight>
                <a:latin typeface="Courier New" panose="02070309020205020404" pitchFamily="49" charset="0"/>
                <a:sym typeface="Courier New"/>
              </a:rPr>
              <a:t>7</a:t>
            </a:r>
            <a:r>
              <a:rPr lang="en" dirty="0">
                <a:solidFill>
                  <a:srgbClr val="000000"/>
                </a:solidFill>
                <a:highlight>
                  <a:srgbClr val="FFFFFE"/>
                </a:highlight>
                <a:latin typeface="Courier New"/>
                <a:ea typeface="Courier New"/>
                <a:cs typeface="Courier New"/>
                <a:sym typeface="Courier New"/>
              </a:rPr>
              <a:t>)] </a:t>
            </a:r>
            <a:endParaRPr dirty="0">
              <a:solidFill>
                <a:srgbClr val="000000"/>
              </a:solidFill>
              <a:highlight>
                <a:srgbClr val="FFFFFE"/>
              </a:highlight>
              <a:latin typeface="Courier New"/>
              <a:ea typeface="Courier New"/>
              <a:cs typeface="Courier New"/>
              <a:sym typeface="Courier New"/>
            </a:endParaRPr>
          </a:p>
        </p:txBody>
      </p:sp>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502;p64">
            <a:extLst>
              <a:ext uri="{FF2B5EF4-FFF2-40B4-BE49-F238E27FC236}">
                <a16:creationId xmlns:a16="http://schemas.microsoft.com/office/drawing/2014/main" id="{2032A8A9-25B1-30CF-0CED-D2B56A6D5ECB}"/>
              </a:ext>
            </a:extLst>
          </p:cNvPr>
          <p:cNvSpPr txBox="1">
            <a:spLocks/>
          </p:cNvSpPr>
          <p:nvPr/>
        </p:nvSpPr>
        <p:spPr>
          <a:xfrm>
            <a:off x="1780230" y="5743697"/>
            <a:ext cx="20826713" cy="2228606"/>
          </a:xfrm>
          <a:prstGeom prst="rect">
            <a:avLst/>
          </a:prstGeom>
        </p:spPr>
        <p:txBody>
          <a:bodyPr spcFirstLastPara="1" vert="horz" wrap="square" lIns="243800" tIns="243800" rIns="243800" bIns="243800" rtlCol="0" anchor="t" anchorCtr="0">
            <a:no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1</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2</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3</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4</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5</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6</a:t>
            </a:r>
            <a:r>
              <a:rPr lang="en-US" dirty="0">
                <a:solidFill>
                  <a:srgbClr val="000000"/>
                </a:solidFill>
                <a:highlight>
                  <a:srgbClr val="FFFFFE"/>
                </a:highlight>
                <a:latin typeface="Courier New"/>
                <a:ea typeface="Courier New"/>
                <a:cs typeface="Courier New"/>
                <a:sym typeface="Courier New"/>
              </a:rPr>
              <a:t>]</a:t>
            </a: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a:t>
            </a:r>
            <a:r>
              <a:rPr lang="en-US" dirty="0">
                <a:solidFill>
                  <a:srgbClr val="098156"/>
                </a:solidFill>
                <a:highlight>
                  <a:srgbClr val="FFFFFE"/>
                </a:highlight>
                <a:latin typeface="Courier New" panose="02070309020205020404" pitchFamily="49" charset="0"/>
              </a:rPr>
              <a:t>0.5</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1.0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1.5</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2.0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2.5</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3.0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3.5</a:t>
            </a:r>
            <a:r>
              <a:rPr lang="en-US" dirty="0">
                <a:solidFill>
                  <a:srgbClr val="000000"/>
                </a:solidFill>
                <a:highlight>
                  <a:srgbClr val="FFFFFE"/>
                </a:highlight>
                <a:latin typeface="Courier New"/>
                <a:ea typeface="Courier New"/>
                <a:cs typeface="Courier New"/>
                <a:sym typeface="Courier New"/>
              </a:rPr>
              <a:t>]</a:t>
            </a:r>
          </a:p>
        </p:txBody>
      </p:sp>
      <p:grpSp>
        <p:nvGrpSpPr>
          <p:cNvPr id="10" name="Group 9">
            <a:extLst>
              <a:ext uri="{FF2B5EF4-FFF2-40B4-BE49-F238E27FC236}">
                <a16:creationId xmlns:a16="http://schemas.microsoft.com/office/drawing/2014/main" id="{663FFC6C-99A0-2C55-C951-2008208E2710}"/>
              </a:ext>
            </a:extLst>
          </p:cNvPr>
          <p:cNvGrpSpPr/>
          <p:nvPr/>
        </p:nvGrpSpPr>
        <p:grpSpPr>
          <a:xfrm>
            <a:off x="3096126" y="7684168"/>
            <a:ext cx="923329" cy="3352800"/>
            <a:chOff x="3096126" y="7684168"/>
            <a:chExt cx="923329" cy="3352800"/>
          </a:xfrm>
        </p:grpSpPr>
        <p:cxnSp>
          <p:nvCxnSpPr>
            <p:cNvPr id="8" name="Straight Arrow Connector 7">
              <a:extLst>
                <a:ext uri="{FF2B5EF4-FFF2-40B4-BE49-F238E27FC236}">
                  <a16:creationId xmlns:a16="http://schemas.microsoft.com/office/drawing/2014/main" id="{E2A7DA22-256D-EE32-3CE4-E9A9195814C9}"/>
                </a:ext>
              </a:extLst>
            </p:cNvPr>
            <p:cNvCxnSpPr/>
            <p:nvPr/>
          </p:nvCxnSpPr>
          <p:spPr>
            <a:xfrm>
              <a:off x="3096126" y="7684168"/>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C987C-F295-BF6A-8AC2-FD6008F37B45}"/>
                </a:ext>
              </a:extLst>
            </p:cNvPr>
            <p:cNvSpPr txBox="1"/>
            <p:nvPr/>
          </p:nvSpPr>
          <p:spPr>
            <a:xfrm rot="5400000">
              <a:off x="2221206" y="8945068"/>
              <a:ext cx="2765501" cy="830997"/>
            </a:xfrm>
            <a:prstGeom prst="rect">
              <a:avLst/>
            </a:prstGeom>
            <a:noFill/>
          </p:spPr>
          <p:txBody>
            <a:bodyPr wrap="none" rtlCol="0">
              <a:spAutoFit/>
            </a:bodyPr>
            <a:lstStyle/>
            <a:p>
              <a:r>
                <a:rPr lang="en" sz="4800" dirty="0">
                  <a:solidFill>
                    <a:srgbClr val="000000"/>
                  </a:solidFill>
                  <a:highlight>
                    <a:srgbClr val="FFFFFE"/>
                  </a:highlight>
                  <a:latin typeface="Courier New"/>
                  <a:ea typeface="Courier New"/>
                  <a:cs typeface="Courier New"/>
                  <a:sym typeface="Courier New"/>
                </a:rPr>
                <a:t>(i+1)/</a:t>
              </a:r>
              <a:r>
                <a:rPr lang="en-US" sz="4800" dirty="0">
                  <a:solidFill>
                    <a:srgbClr val="098156"/>
                  </a:solidFill>
                  <a:highlight>
                    <a:srgbClr val="FFFFFE"/>
                  </a:highlight>
                  <a:latin typeface="Courier New" panose="02070309020205020404" pitchFamily="49" charset="0"/>
                </a:rPr>
                <a:t>2</a:t>
              </a:r>
              <a:endParaRPr lang="en-US" sz="4800" b="1" dirty="0">
                <a:solidFill>
                  <a:srgbClr val="EF7001"/>
                </a:solidFill>
                <a:latin typeface="Helvetica Neue" panose="02000503000000020004" pitchFamily="2" charset="0"/>
                <a:ea typeface="Helvetica Neue" panose="02000503000000020004" pitchFamily="2" charset="0"/>
                <a:cs typeface="Helvetica Neue" panose="02000503000000020004" pitchFamily="2" charset="0"/>
              </a:endParaRPr>
            </a:p>
          </p:txBody>
        </p:sp>
      </p:grpSp>
    </p:spTree>
    <p:extLst>
      <p:ext uri="{BB962C8B-B14F-4D97-AF65-F5344CB8AC3E}">
        <p14:creationId xmlns:p14="http://schemas.microsoft.com/office/powerpoint/2010/main" val="351529417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5.57219E-7 2.59259E-6 L 0.09816 0.00058 " pathEditMode="relative" rAng="0" ptsTypes="AA">
                                      <p:cBhvr>
                                        <p:cTn id="16" dur="500" fill="hold"/>
                                        <p:tgtEl>
                                          <p:spTgt spid="10"/>
                                        </p:tgtEl>
                                        <p:attrNameLst>
                                          <p:attrName>ppt_x</p:attrName>
                                          <p:attrName>ppt_y</p:attrName>
                                        </p:attrNameLst>
                                      </p:cBhvr>
                                      <p:rCtr x="4908" y="23"/>
                                    </p:animMotion>
                                  </p:childTnLst>
                                </p:cTn>
                              </p:par>
                            </p:childTnLst>
                          </p:cTn>
                        </p:par>
                        <p:par>
                          <p:cTn id="17" fill="hold">
                            <p:stCondLst>
                              <p:cond delay="500"/>
                            </p:stCondLst>
                            <p:childTnLst>
                              <p:par>
                                <p:cTn id="18" presetID="42" presetClass="path" presetSubtype="0" accel="50000" decel="50000" fill="hold" nodeType="afterEffect">
                                  <p:stCondLst>
                                    <p:cond delay="0"/>
                                  </p:stCondLst>
                                  <p:childTnLst>
                                    <p:animMotion origin="layout" path="M 0.09816 0.00058 L 0.20147 0.00185 " pathEditMode="relative" rAng="0" ptsTypes="AA">
                                      <p:cBhvr>
                                        <p:cTn id="19" dur="500" fill="hold"/>
                                        <p:tgtEl>
                                          <p:spTgt spid="10"/>
                                        </p:tgtEl>
                                        <p:attrNameLst>
                                          <p:attrName>ppt_x</p:attrName>
                                          <p:attrName>ppt_y</p:attrName>
                                        </p:attrNameLst>
                                      </p:cBhvr>
                                      <p:rCtr x="5162" y="58"/>
                                    </p:animMotion>
                                  </p:childTnLst>
                                </p:cTn>
                              </p:par>
                            </p:childTnLst>
                          </p:cTn>
                        </p:par>
                        <p:par>
                          <p:cTn id="20" fill="hold">
                            <p:stCondLst>
                              <p:cond delay="1000"/>
                            </p:stCondLst>
                            <p:childTnLst>
                              <p:par>
                                <p:cTn id="21" presetID="42" presetClass="path" presetSubtype="0" accel="50000" decel="50000" fill="hold" nodeType="afterEffect">
                                  <p:stCondLst>
                                    <p:cond delay="0"/>
                                  </p:stCondLst>
                                  <p:childTnLst>
                                    <p:animMotion origin="layout" path="M 0.20147 0.00185 L 0.30999 0.00185 " pathEditMode="relative" rAng="0" ptsTypes="AA">
                                      <p:cBhvr>
                                        <p:cTn id="22" dur="500" fill="hold"/>
                                        <p:tgtEl>
                                          <p:spTgt spid="10"/>
                                        </p:tgtEl>
                                        <p:attrNameLst>
                                          <p:attrName>ppt_x</p:attrName>
                                          <p:attrName>ppt_y</p:attrName>
                                        </p:attrNameLst>
                                      </p:cBhvr>
                                      <p:rCtr x="5422" y="0"/>
                                    </p:animMotion>
                                  </p:childTnLst>
                                </p:cTn>
                              </p:par>
                            </p:childTnLst>
                          </p:cTn>
                        </p:par>
                        <p:par>
                          <p:cTn id="23" fill="hold">
                            <p:stCondLst>
                              <p:cond delay="1500"/>
                            </p:stCondLst>
                            <p:childTnLst>
                              <p:par>
                                <p:cTn id="24" presetID="42" presetClass="path" presetSubtype="0" accel="50000" decel="50000" fill="hold" nodeType="afterEffect">
                                  <p:stCondLst>
                                    <p:cond delay="0"/>
                                  </p:stCondLst>
                                  <p:childTnLst>
                                    <p:animMotion origin="layout" path="M 0.30999 0.00185 L 0.41394 0.00058 " pathEditMode="relative" rAng="0" ptsTypes="AA">
                                      <p:cBhvr>
                                        <p:cTn id="25" dur="500" fill="hold"/>
                                        <p:tgtEl>
                                          <p:spTgt spid="10"/>
                                        </p:tgtEl>
                                        <p:attrNameLst>
                                          <p:attrName>ppt_x</p:attrName>
                                          <p:attrName>ppt_y</p:attrName>
                                        </p:attrNameLst>
                                      </p:cBhvr>
                                      <p:rCtr x="5195" y="-69"/>
                                    </p:animMotion>
                                  </p:childTnLst>
                                </p:cTn>
                              </p:par>
                            </p:childTnLst>
                          </p:cTn>
                        </p:par>
                        <p:par>
                          <p:cTn id="26" fill="hold">
                            <p:stCondLst>
                              <p:cond delay="2000"/>
                            </p:stCondLst>
                            <p:childTnLst>
                              <p:par>
                                <p:cTn id="27" presetID="42" presetClass="path" presetSubtype="0" accel="50000" decel="50000" fill="hold" nodeType="afterEffect">
                                  <p:stCondLst>
                                    <p:cond delay="0"/>
                                  </p:stCondLst>
                                  <p:childTnLst>
                                    <p:animMotion origin="layout" path="M 0.41394 0.00058 L 0.52116 -0.00174 " pathEditMode="relative" rAng="0" ptsTypes="AA">
                                      <p:cBhvr>
                                        <p:cTn id="28" dur="500" fill="hold"/>
                                        <p:tgtEl>
                                          <p:spTgt spid="10"/>
                                        </p:tgtEl>
                                        <p:attrNameLst>
                                          <p:attrName>ppt_x</p:attrName>
                                          <p:attrName>ppt_y</p:attrName>
                                        </p:attrNameLst>
                                      </p:cBhvr>
                                      <p:rCtr x="5357" y="-116"/>
                                    </p:animMotion>
                                  </p:childTnLst>
                                </p:cTn>
                              </p:par>
                            </p:childTnLst>
                          </p:cTn>
                        </p:par>
                        <p:par>
                          <p:cTn id="29" fill="hold">
                            <p:stCondLst>
                              <p:cond delay="2500"/>
                            </p:stCondLst>
                            <p:childTnLst>
                              <p:par>
                                <p:cTn id="30" presetID="42" presetClass="path" presetSubtype="0" accel="50000" decel="50000" fill="hold" nodeType="afterEffect">
                                  <p:stCondLst>
                                    <p:cond delay="0"/>
                                  </p:stCondLst>
                                  <p:childTnLst>
                                    <p:animMotion origin="layout" path="M 0.52116 -0.00174 L 0.63891 -0.00058 " pathEditMode="relative" rAng="0" ptsTypes="AA">
                                      <p:cBhvr>
                                        <p:cTn id="31" dur="500" fill="hold"/>
                                        <p:tgtEl>
                                          <p:spTgt spid="10"/>
                                        </p:tgtEl>
                                        <p:attrNameLst>
                                          <p:attrName>ppt_x</p:attrName>
                                          <p:attrName>ppt_y</p:attrName>
                                        </p:attrNameLst>
                                      </p:cBhvr>
                                      <p:rCtr x="5885" y="58"/>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2" grpId="0" build="p"/>
      <p:bldP spid="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01">
          <a:extLst>
            <a:ext uri="{FF2B5EF4-FFF2-40B4-BE49-F238E27FC236}">
              <a16:creationId xmlns:a16="http://schemas.microsoft.com/office/drawing/2014/main" id="{E2ECDA23-77F7-EE7B-4B69-5B5BE7EAE7E3}"/>
            </a:ext>
          </a:extLst>
        </p:cNvPr>
        <p:cNvGrpSpPr/>
        <p:nvPr/>
      </p:nvGrpSpPr>
      <p:grpSpPr>
        <a:xfrm>
          <a:off x="0" y="0"/>
          <a:ext cx="0" cy="0"/>
          <a:chOff x="0" y="0"/>
          <a:chExt cx="0" cy="0"/>
        </a:xfrm>
      </p:grpSpPr>
      <p:sp>
        <p:nvSpPr>
          <p:cNvPr id="502" name="Google Shape;502;p64">
            <a:extLst>
              <a:ext uri="{FF2B5EF4-FFF2-40B4-BE49-F238E27FC236}">
                <a16:creationId xmlns:a16="http://schemas.microsoft.com/office/drawing/2014/main" id="{809474F1-4DD9-8E63-4478-C9514E43BA4B}"/>
              </a:ext>
            </a:extLst>
          </p:cNvPr>
          <p:cNvSpPr txBox="1">
            <a:spLocks noGrp="1"/>
          </p:cNvSpPr>
          <p:nvPr>
            <p:ph type="body" idx="1"/>
          </p:nvPr>
        </p:nvSpPr>
        <p:spPr>
          <a:xfrm>
            <a:off x="1940650" y="2744346"/>
            <a:ext cx="21768435" cy="3028058"/>
          </a:xfrm>
          <a:prstGeom prst="rect">
            <a:avLst/>
          </a:prstGeom>
        </p:spPr>
        <p:txBody>
          <a:bodyPr spcFirstLastPara="1" vert="horz" wrap="square" lIns="243800" tIns="243800" rIns="243800" bIns="243800" rtlCol="0" anchor="t" anchorCtr="0">
            <a:noAutofit/>
          </a:bodyPr>
          <a:lstStyle/>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even</a:t>
            </a:r>
            <a:r>
              <a:rPr lang="en" dirty="0">
                <a:solidFill>
                  <a:srgbClr val="000000"/>
                </a:solidFill>
                <a:highlight>
                  <a:srgbClr val="FFFFFE"/>
                </a:highlight>
                <a:latin typeface="Courier New"/>
                <a:ea typeface="Courier New"/>
                <a:cs typeface="Courier New"/>
                <a:sym typeface="Courier New"/>
              </a:rPr>
              <a:t>_</a:t>
            </a:r>
            <a:r>
              <a:rPr lang="en" dirty="0" err="1">
                <a:solidFill>
                  <a:srgbClr val="000000"/>
                </a:solidFill>
                <a:highlight>
                  <a:srgbClr val="FFFFFE"/>
                </a:highlight>
                <a:latin typeface="Courier New"/>
                <a:ea typeface="Courier New"/>
                <a:cs typeface="Courier New"/>
                <a:sym typeface="Courier New"/>
              </a:rPr>
              <a:t>nums</a:t>
            </a:r>
            <a:r>
              <a:rPr lang="en" dirty="0">
                <a:solidFill>
                  <a:srgbClr val="000000"/>
                </a:solidFill>
                <a:highlight>
                  <a:srgbClr val="FFFFFE"/>
                </a:highlight>
                <a:latin typeface="Courier New"/>
                <a:ea typeface="Courier New"/>
                <a:cs typeface="Courier New"/>
                <a:sym typeface="Courier New"/>
              </a:rPr>
              <a:t> = [x</a:t>
            </a:r>
            <a:r>
              <a:rPr lang="en-US" sz="5400" dirty="0">
                <a:solidFill>
                  <a:srgbClr val="098156"/>
                </a:solidFill>
                <a:highlight>
                  <a:srgbClr val="FFFFFE"/>
                </a:highlight>
                <a:latin typeface="Courier New" panose="02070309020205020404" pitchFamily="49" charset="0"/>
              </a:rPr>
              <a:t> </a:t>
            </a:r>
            <a:r>
              <a:rPr lang="en" dirty="0">
                <a:solidFill>
                  <a:srgbClr val="AF00DB"/>
                </a:solidFill>
                <a:highlight>
                  <a:srgbClr val="FFFFFE"/>
                </a:highlight>
                <a:latin typeface="Courier New"/>
                <a:ea typeface="Courier New"/>
                <a:cs typeface="Courier New"/>
                <a:sym typeface="Courier New"/>
              </a:rPr>
              <a:t>for</a:t>
            </a:r>
            <a:r>
              <a:rPr lang="en" dirty="0">
                <a:solidFill>
                  <a:srgbClr val="000000"/>
                </a:solidFill>
                <a:highlight>
                  <a:srgbClr val="FFFFFE"/>
                </a:highlight>
                <a:latin typeface="Courier New"/>
                <a:ea typeface="Courier New"/>
                <a:cs typeface="Courier New"/>
                <a:sym typeface="Courier New"/>
              </a:rPr>
              <a:t> x </a:t>
            </a:r>
            <a:r>
              <a:rPr lang="en" dirty="0">
                <a:solidFill>
                  <a:srgbClr val="0000FF"/>
                </a:solidFill>
                <a:highlight>
                  <a:srgbClr val="FFFFFE"/>
                </a:highlight>
                <a:latin typeface="Courier New"/>
                <a:ea typeface="Courier New"/>
                <a:cs typeface="Courier New"/>
                <a:sym typeface="Courier New"/>
              </a:rPr>
              <a:t>in</a:t>
            </a:r>
            <a:r>
              <a:rPr lang="en" dirty="0">
                <a:solidFill>
                  <a:srgbClr val="000000"/>
                </a:solidFill>
                <a:highlight>
                  <a:srgbClr val="FFFFFE"/>
                </a:highlight>
                <a:latin typeface="Courier New"/>
                <a:ea typeface="Courier New"/>
                <a:cs typeface="Courier New"/>
                <a:sym typeface="Courier New"/>
              </a:rPr>
              <a:t> </a:t>
            </a:r>
            <a:r>
              <a:rPr lang="en-US" dirty="0">
                <a:solidFill>
                  <a:srgbClr val="000000"/>
                </a:solidFill>
                <a:highlight>
                  <a:srgbClr val="FFFFFE"/>
                </a:highlight>
                <a:latin typeface="Courier New"/>
                <a:ea typeface="Courier New"/>
                <a:cs typeface="Courier New"/>
                <a:sym typeface="Courier New"/>
              </a:rPr>
              <a:t>range(7) </a:t>
            </a:r>
            <a:r>
              <a:rPr lang="en-US" dirty="0">
                <a:solidFill>
                  <a:srgbClr val="AF00DB"/>
                </a:solidFill>
                <a:highlight>
                  <a:srgbClr val="FFFFFE"/>
                </a:highlight>
                <a:latin typeface="Courier New"/>
                <a:ea typeface="Courier New"/>
                <a:cs typeface="Courier New"/>
                <a:sym typeface="Courier New"/>
              </a:rPr>
              <a:t>if</a:t>
            </a:r>
            <a:r>
              <a:rPr lang="en-US" dirty="0">
                <a:solidFill>
                  <a:srgbClr val="000000"/>
                </a:solidFill>
                <a:highlight>
                  <a:srgbClr val="FFFFFE"/>
                </a:highlight>
                <a:latin typeface="Courier New"/>
                <a:ea typeface="Courier New"/>
                <a:cs typeface="Courier New"/>
                <a:sym typeface="Courier New"/>
              </a:rPr>
              <a:t> x % 2 == 0</a:t>
            </a:r>
            <a:r>
              <a:rPr lang="en" dirty="0">
                <a:solidFill>
                  <a:srgbClr val="000000"/>
                </a:solidFill>
                <a:highlight>
                  <a:srgbClr val="FFFFFE"/>
                </a:highlight>
                <a:latin typeface="Courier New"/>
                <a:ea typeface="Courier New"/>
                <a:cs typeface="Courier New"/>
                <a:sym typeface="Courier New"/>
              </a:rPr>
              <a:t>] </a:t>
            </a:r>
            <a:endParaRPr dirty="0">
              <a:solidFill>
                <a:srgbClr val="000000"/>
              </a:solidFill>
              <a:highlight>
                <a:srgbClr val="FFFFFE"/>
              </a:highlight>
              <a:latin typeface="Courier New"/>
              <a:ea typeface="Courier New"/>
              <a:cs typeface="Courier New"/>
              <a:sym typeface="Courier New"/>
            </a:endParaRPr>
          </a:p>
        </p:txBody>
      </p:sp>
      <p:sp>
        <p:nvSpPr>
          <p:cNvPr id="2" name="Google Shape;412;p56">
            <a:extLst>
              <a:ext uri="{FF2B5EF4-FFF2-40B4-BE49-F238E27FC236}">
                <a16:creationId xmlns:a16="http://schemas.microsoft.com/office/drawing/2014/main" id="{35A9A852-B7C4-E884-CCE5-57FF6B8AF556}"/>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5922FD37-8CF1-22EA-2256-BC361164880B}"/>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502;p64">
            <a:extLst>
              <a:ext uri="{FF2B5EF4-FFF2-40B4-BE49-F238E27FC236}">
                <a16:creationId xmlns:a16="http://schemas.microsoft.com/office/drawing/2014/main" id="{2D5C52BC-FD0F-FBFE-D9D2-EA3FEF4DAD86}"/>
              </a:ext>
            </a:extLst>
          </p:cNvPr>
          <p:cNvSpPr txBox="1">
            <a:spLocks/>
          </p:cNvSpPr>
          <p:nvPr/>
        </p:nvSpPr>
        <p:spPr>
          <a:xfrm>
            <a:off x="1780230" y="5743697"/>
            <a:ext cx="20826713" cy="6796782"/>
          </a:xfrm>
          <a:prstGeom prst="rect">
            <a:avLst/>
          </a:prstGeom>
        </p:spPr>
        <p:txBody>
          <a:bodyPr spcFirstLastPara="1" vert="horz" wrap="square" lIns="243800" tIns="243800" rIns="243800" bIns="243800" rtlCol="0" anchor="t" anchorCtr="0">
            <a:no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1</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2</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3</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4</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5</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6</a:t>
            </a:r>
            <a:r>
              <a:rPr lang="en-US" dirty="0">
                <a:solidFill>
                  <a:srgbClr val="000000"/>
                </a:solidFill>
                <a:highlight>
                  <a:srgbClr val="FFFFFE"/>
                </a:highlight>
                <a:latin typeface="Courier New"/>
                <a:ea typeface="Courier New"/>
                <a:cs typeface="Courier New"/>
                <a:sym typeface="Courier New"/>
              </a:rPr>
              <a:t>]</a:t>
            </a: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Font typeface="Arial" panose="020B0604020202020204" pitchFamily="34" charset="0"/>
              <a:buNone/>
            </a:pPr>
            <a:endParaRPr lang="en-US" dirty="0">
              <a:solidFill>
                <a:srgbClr val="000000"/>
              </a:solidFill>
              <a:highlight>
                <a:srgbClr val="FFFFFE"/>
              </a:highlight>
              <a:latin typeface="Courier New"/>
              <a:ea typeface="Courier New"/>
              <a:cs typeface="Courier New"/>
              <a:sym typeface="Courier New"/>
            </a:endParaRPr>
          </a:p>
          <a:p>
            <a:pPr marL="0" indent="0">
              <a:lnSpc>
                <a:spcPct val="135714"/>
              </a:lnSpc>
              <a:spcBef>
                <a:spcPts val="3200"/>
              </a:spcBef>
              <a:buNone/>
            </a:pP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0</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rPr>
              <a:t>2</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4</a:t>
            </a:r>
            <a:r>
              <a:rPr lang="en-US" dirty="0">
                <a:solidFill>
                  <a:srgbClr val="000000"/>
                </a:solidFill>
                <a:highlight>
                  <a:srgbClr val="FFFFFE"/>
                </a:highlight>
                <a:latin typeface="Courier New"/>
                <a:ea typeface="Courier New"/>
                <a:cs typeface="Courier New"/>
                <a:sym typeface="Courier New"/>
              </a:rPr>
              <a:t>, </a:t>
            </a:r>
            <a:r>
              <a:rPr lang="en-US" dirty="0">
                <a:solidFill>
                  <a:srgbClr val="098156"/>
                </a:solidFill>
                <a:highlight>
                  <a:srgbClr val="FFFFFE"/>
                </a:highlight>
                <a:latin typeface="Courier New" panose="02070309020205020404" pitchFamily="49" charset="0"/>
                <a:sym typeface="Courier New"/>
              </a:rPr>
              <a:t> </a:t>
            </a:r>
            <a:r>
              <a:rPr lang="en-US" dirty="0">
                <a:solidFill>
                  <a:srgbClr val="098156"/>
                </a:solidFill>
                <a:highlight>
                  <a:srgbClr val="FFFFFE"/>
                </a:highlight>
                <a:latin typeface="Courier New" panose="02070309020205020404" pitchFamily="49" charset="0"/>
              </a:rPr>
              <a:t>        6</a:t>
            </a:r>
            <a:r>
              <a:rPr lang="en-US" dirty="0">
                <a:solidFill>
                  <a:srgbClr val="000000"/>
                </a:solidFill>
                <a:highlight>
                  <a:srgbClr val="FFFFFE"/>
                </a:highlight>
                <a:latin typeface="Courier New"/>
                <a:ea typeface="Courier New"/>
                <a:cs typeface="Courier New"/>
                <a:sym typeface="Courier New"/>
              </a:rPr>
              <a:t>]</a:t>
            </a:r>
          </a:p>
        </p:txBody>
      </p:sp>
      <p:cxnSp>
        <p:nvCxnSpPr>
          <p:cNvPr id="8" name="Straight Arrow Connector 7">
            <a:extLst>
              <a:ext uri="{FF2B5EF4-FFF2-40B4-BE49-F238E27FC236}">
                <a16:creationId xmlns:a16="http://schemas.microsoft.com/office/drawing/2014/main" id="{397E05F5-B366-9244-44B5-EFFA42815CCE}"/>
              </a:ext>
            </a:extLst>
          </p:cNvPr>
          <p:cNvCxnSpPr/>
          <p:nvPr/>
        </p:nvCxnSpPr>
        <p:spPr>
          <a:xfrm>
            <a:off x="3096126" y="7684168"/>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68B3F4E9-73ED-BDD7-2D3B-E11D963D832B}"/>
              </a:ext>
            </a:extLst>
          </p:cNvPr>
          <p:cNvCxnSpPr/>
          <p:nvPr/>
        </p:nvCxnSpPr>
        <p:spPr>
          <a:xfrm>
            <a:off x="8190640" y="7716825"/>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B81DCED6-D35E-C661-524B-DAE7F3A5DBBC}"/>
              </a:ext>
            </a:extLst>
          </p:cNvPr>
          <p:cNvCxnSpPr/>
          <p:nvPr/>
        </p:nvCxnSpPr>
        <p:spPr>
          <a:xfrm>
            <a:off x="13350469" y="7684168"/>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239320E-CCE9-7CAF-0429-9A8372939D89}"/>
              </a:ext>
            </a:extLst>
          </p:cNvPr>
          <p:cNvCxnSpPr/>
          <p:nvPr/>
        </p:nvCxnSpPr>
        <p:spPr>
          <a:xfrm>
            <a:off x="18510297" y="7749482"/>
            <a:ext cx="0" cy="335280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630574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50">
          <a:extLst>
            <a:ext uri="{FF2B5EF4-FFF2-40B4-BE49-F238E27FC236}">
              <a16:creationId xmlns:a16="http://schemas.microsoft.com/office/drawing/2014/main" id="{D985D829-E0CC-C563-6318-1A8C58574F73}"/>
            </a:ext>
          </a:extLst>
        </p:cNvPr>
        <p:cNvGrpSpPr/>
        <p:nvPr/>
      </p:nvGrpSpPr>
      <p:grpSpPr>
        <a:xfrm>
          <a:off x="0" y="0"/>
          <a:ext cx="0" cy="0"/>
          <a:chOff x="0" y="0"/>
          <a:chExt cx="0" cy="0"/>
        </a:xfrm>
      </p:grpSpPr>
      <p:sp>
        <p:nvSpPr>
          <p:cNvPr id="451" name="Google Shape;451;p59">
            <a:extLst>
              <a:ext uri="{FF2B5EF4-FFF2-40B4-BE49-F238E27FC236}">
                <a16:creationId xmlns:a16="http://schemas.microsoft.com/office/drawing/2014/main" id="{7248EBEC-4AD1-F014-549A-7B89C2F4B833}"/>
              </a:ext>
            </a:extLst>
          </p:cNvPr>
          <p:cNvSpPr txBox="1">
            <a:spLocks noGrp="1"/>
          </p:cNvSpPr>
          <p:nvPr>
            <p:ph type="body" idx="1"/>
          </p:nvPr>
        </p:nvSpPr>
        <p:spPr>
          <a:xfrm>
            <a:off x="3709488" y="4081925"/>
            <a:ext cx="4729974" cy="1596847"/>
          </a:xfrm>
          <a:prstGeom prst="rect">
            <a:avLst/>
          </a:prstGeom>
        </p:spPr>
        <p:txBody>
          <a:bodyPr spcFirstLastPara="1" vert="horz" wrap="square" lIns="243800" tIns="243800" rIns="243800" bIns="243800" rtlCol="0" anchor="t" anchorCtr="0">
            <a:normAutofit/>
          </a:bodyPr>
          <a:lstStyle/>
          <a:p>
            <a:pPr marL="237099" indent="0">
              <a:buSzPts val="22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52" name="Google Shape;452;p59">
            <a:extLst>
              <a:ext uri="{FF2B5EF4-FFF2-40B4-BE49-F238E27FC236}">
                <a16:creationId xmlns:a16="http://schemas.microsoft.com/office/drawing/2014/main" id="{722A69A5-B181-330E-F785-DE501FC5BD82}"/>
              </a:ext>
            </a:extLst>
          </p:cNvPr>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35</a:t>
            </a:fld>
            <a:endParaRPr>
              <a:solidFill>
                <a:schemeClr val="accent1"/>
              </a:solidFill>
              <a:latin typeface="Lato"/>
              <a:ea typeface="Lato"/>
              <a:cs typeface="Lato"/>
              <a:sym typeface="Lato"/>
            </a:endParaRPr>
          </a:p>
        </p:txBody>
      </p:sp>
      <p:sp>
        <p:nvSpPr>
          <p:cNvPr id="5" name="Google Shape;412;p56">
            <a:extLst>
              <a:ext uri="{FF2B5EF4-FFF2-40B4-BE49-F238E27FC236}">
                <a16:creationId xmlns:a16="http://schemas.microsoft.com/office/drawing/2014/main" id="{A137DE9C-583F-F298-AF90-2B3FDB821608}"/>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451;p59">
            <a:extLst>
              <a:ext uri="{FF2B5EF4-FFF2-40B4-BE49-F238E27FC236}">
                <a16:creationId xmlns:a16="http://schemas.microsoft.com/office/drawing/2014/main" id="{3C9931C6-FCDA-5C0F-613F-7114FF57840B}"/>
              </a:ext>
            </a:extLst>
          </p:cNvPr>
          <p:cNvSpPr txBox="1">
            <a:spLocks/>
          </p:cNvSpPr>
          <p:nvPr/>
        </p:nvSpPr>
        <p:spPr>
          <a:xfrm>
            <a:off x="3709488" y="5057292"/>
            <a:ext cx="7920376"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51;p59">
            <a:extLst>
              <a:ext uri="{FF2B5EF4-FFF2-40B4-BE49-F238E27FC236}">
                <a16:creationId xmlns:a16="http://schemas.microsoft.com/office/drawing/2014/main" id="{00AD36DA-9AE0-B51C-3319-191B3DDED2B8}"/>
              </a:ext>
            </a:extLst>
          </p:cNvPr>
          <p:cNvSpPr txBox="1">
            <a:spLocks/>
          </p:cNvSpPr>
          <p:nvPr/>
        </p:nvSpPr>
        <p:spPr>
          <a:xfrm>
            <a:off x="3709488" y="6032659"/>
            <a:ext cx="10039169"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p:txBody>
      </p:sp>
      <p:sp>
        <p:nvSpPr>
          <p:cNvPr id="8" name="Google Shape;451;p59">
            <a:extLst>
              <a:ext uri="{FF2B5EF4-FFF2-40B4-BE49-F238E27FC236}">
                <a16:creationId xmlns:a16="http://schemas.microsoft.com/office/drawing/2014/main" id="{BD392B09-2C9D-5E77-96BF-FA6C65DBD4D3}"/>
              </a:ext>
            </a:extLst>
          </p:cNvPr>
          <p:cNvSpPr txBox="1">
            <a:spLocks/>
          </p:cNvSpPr>
          <p:nvPr/>
        </p:nvSpPr>
        <p:spPr>
          <a:xfrm>
            <a:off x="3709488" y="6980982"/>
            <a:ext cx="8085269" cy="2030752"/>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9" name="Google Shape;451;p59">
            <a:extLst>
              <a:ext uri="{FF2B5EF4-FFF2-40B4-BE49-F238E27FC236}">
                <a16:creationId xmlns:a16="http://schemas.microsoft.com/office/drawing/2014/main" id="{7B476DF8-1590-A819-139E-966752FF6259}"/>
              </a:ext>
            </a:extLst>
          </p:cNvPr>
          <p:cNvSpPr txBox="1">
            <a:spLocks/>
          </p:cNvSpPr>
          <p:nvPr/>
        </p:nvSpPr>
        <p:spPr>
          <a:xfrm>
            <a:off x="3709488" y="7956349"/>
            <a:ext cx="9578717" cy="1775476"/>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Tree>
    <p:extLst>
      <p:ext uri="{BB962C8B-B14F-4D97-AF65-F5344CB8AC3E}">
        <p14:creationId xmlns:p14="http://schemas.microsoft.com/office/powerpoint/2010/main" val="143813804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23" name="TextBox 22">
            <a:extLst>
              <a:ext uri="{FF2B5EF4-FFF2-40B4-BE49-F238E27FC236}">
                <a16:creationId xmlns:a16="http://schemas.microsoft.com/office/drawing/2014/main" id="{6BEB854C-1B31-17EC-CC0C-7D36AB8DE2B8}"/>
              </a:ext>
            </a:extLst>
          </p:cNvPr>
          <p:cNvSpPr txBox="1"/>
          <p:nvPr/>
        </p:nvSpPr>
        <p:spPr>
          <a:xfrm>
            <a:off x="2328861" y="6059507"/>
            <a:ext cx="436871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separator</a:t>
            </a:r>
          </a:p>
        </p:txBody>
      </p:sp>
      <p:sp>
        <p:nvSpPr>
          <p:cNvPr id="24" name="TextBox 23">
            <a:extLst>
              <a:ext uri="{FF2B5EF4-FFF2-40B4-BE49-F238E27FC236}">
                <a16:creationId xmlns:a16="http://schemas.microsoft.com/office/drawing/2014/main" id="{B9A12DE9-36AE-8E02-3093-52B82CC5AB13}"/>
              </a:ext>
            </a:extLst>
          </p:cNvPr>
          <p:cNvSpPr txBox="1"/>
          <p:nvPr/>
        </p:nvSpPr>
        <p:spPr>
          <a:xfrm>
            <a:off x="2328861" y="6059506"/>
            <a:ext cx="436871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separator</a:t>
            </a:r>
          </a:p>
        </p:txBody>
      </p:sp>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4" name="Google Shape;412;p56">
            <a:extLst>
              <a:ext uri="{FF2B5EF4-FFF2-40B4-BE49-F238E27FC236}">
                <a16:creationId xmlns:a16="http://schemas.microsoft.com/office/drawing/2014/main" id="{786FA14C-5507-2ACD-4E8F-6D7389956F35}"/>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join()</a:t>
            </a:r>
          </a:p>
        </p:txBody>
      </p:sp>
      <p:sp>
        <p:nvSpPr>
          <p:cNvPr id="6" name="TextBox 5">
            <a:extLst>
              <a:ext uri="{FF2B5EF4-FFF2-40B4-BE49-F238E27FC236}">
                <a16:creationId xmlns:a16="http://schemas.microsoft.com/office/drawing/2014/main" id="{631C23A4-5BAF-EA77-F178-888A6B588BA9}"/>
              </a:ext>
            </a:extLst>
          </p:cNvPr>
          <p:cNvSpPr txBox="1"/>
          <p:nvPr/>
        </p:nvSpPr>
        <p:spPr>
          <a:xfrm>
            <a:off x="2328861" y="6059508"/>
            <a:ext cx="15487650"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separator.join</a:t>
            </a:r>
            <a:r>
              <a:rPr lang="en-US" sz="6000" b="0" dirty="0">
                <a:solidFill>
                  <a:srgbClr val="000000"/>
                </a:solidFill>
                <a:effectLst/>
                <a:latin typeface="Courier New" panose="02070309020205020404" pitchFamily="49" charset="0"/>
              </a:rPr>
              <a:t>(</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p>
        </p:txBody>
      </p:sp>
      <p:grpSp>
        <p:nvGrpSpPr>
          <p:cNvPr id="11" name="Group 10">
            <a:extLst>
              <a:ext uri="{FF2B5EF4-FFF2-40B4-BE49-F238E27FC236}">
                <a16:creationId xmlns:a16="http://schemas.microsoft.com/office/drawing/2014/main" id="{2FB9C594-7289-5AC2-4487-CB15D25E2BD1}"/>
              </a:ext>
            </a:extLst>
          </p:cNvPr>
          <p:cNvGrpSpPr/>
          <p:nvPr/>
        </p:nvGrpSpPr>
        <p:grpSpPr>
          <a:xfrm>
            <a:off x="11194884" y="2400401"/>
            <a:ext cx="2936298" cy="1767046"/>
            <a:chOff x="11123447" y="2544403"/>
            <a:chExt cx="2936298" cy="1767046"/>
          </a:xfrm>
        </p:grpSpPr>
        <p:sp>
          <p:nvSpPr>
            <p:cNvPr id="9" name="that’s a lot of features!">
              <a:extLst>
                <a:ext uri="{FF2B5EF4-FFF2-40B4-BE49-F238E27FC236}">
                  <a16:creationId xmlns:a16="http://schemas.microsoft.com/office/drawing/2014/main" id="{1AA9F5A3-9ED3-2BCD-D9CF-F3FE15FF9C11}"/>
                </a:ext>
              </a:extLst>
            </p:cNvPr>
            <p:cNvSpPr txBox="1"/>
            <p:nvPr/>
          </p:nvSpPr>
          <p:spPr>
            <a:xfrm>
              <a:off x="11123447" y="2544403"/>
              <a:ext cx="2936298"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List of strings</a:t>
              </a:r>
              <a:endParaRPr dirty="0">
                <a:solidFill>
                  <a:srgbClr val="EF7001"/>
                </a:solidFill>
              </a:endParaRPr>
            </a:p>
          </p:txBody>
        </p:sp>
        <p:pic>
          <p:nvPicPr>
            <p:cNvPr id="10" name="Line Line" descr="Line Line">
              <a:extLst>
                <a:ext uri="{FF2B5EF4-FFF2-40B4-BE49-F238E27FC236}">
                  <a16:creationId xmlns:a16="http://schemas.microsoft.com/office/drawing/2014/main" id="{56C03302-4FDB-B0EC-D754-F539B50B2F06}"/>
                </a:ext>
              </a:extLst>
            </p:cNvPr>
            <p:cNvPicPr>
              <a:picLocks/>
            </p:cNvPicPr>
            <p:nvPr/>
          </p:nvPicPr>
          <p:blipFill>
            <a:blip r:embed="rId3"/>
            <a:stretch>
              <a:fillRect/>
            </a:stretch>
          </p:blipFill>
          <p:spPr>
            <a:xfrm rot="6998290">
              <a:off x="10953217" y="3566822"/>
              <a:ext cx="997180" cy="492074"/>
            </a:xfrm>
            <a:prstGeom prst="rect">
              <a:avLst/>
            </a:prstGeom>
          </p:spPr>
        </p:pic>
      </p:grpSp>
      <p:sp>
        <p:nvSpPr>
          <p:cNvPr id="18" name="TextBox 17">
            <a:extLst>
              <a:ext uri="{FF2B5EF4-FFF2-40B4-BE49-F238E27FC236}">
                <a16:creationId xmlns:a16="http://schemas.microsoft.com/office/drawing/2014/main" id="{A5227815-6BBD-D7DE-D068-12F6EF18E040}"/>
              </a:ext>
            </a:extLst>
          </p:cNvPr>
          <p:cNvSpPr txBox="1"/>
          <p:nvPr/>
        </p:nvSpPr>
        <p:spPr>
          <a:xfrm>
            <a:off x="2328861" y="4583430"/>
            <a:ext cx="13344527"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[str1, str2, str3]</a:t>
            </a:r>
          </a:p>
        </p:txBody>
      </p:sp>
      <p:sp>
        <p:nvSpPr>
          <p:cNvPr id="19" name="TextBox 18">
            <a:extLst>
              <a:ext uri="{FF2B5EF4-FFF2-40B4-BE49-F238E27FC236}">
                <a16:creationId xmlns:a16="http://schemas.microsoft.com/office/drawing/2014/main" id="{8D6677E9-C9B8-CCF1-C9F8-C4731BD983E5}"/>
              </a:ext>
            </a:extLst>
          </p:cNvPr>
          <p:cNvSpPr txBox="1"/>
          <p:nvPr/>
        </p:nvSpPr>
        <p:spPr>
          <a:xfrm>
            <a:off x="7356203" y="4583430"/>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str1</a:t>
            </a:r>
          </a:p>
        </p:txBody>
      </p:sp>
      <p:sp>
        <p:nvSpPr>
          <p:cNvPr id="20" name="TextBox 19">
            <a:extLst>
              <a:ext uri="{FF2B5EF4-FFF2-40B4-BE49-F238E27FC236}">
                <a16:creationId xmlns:a16="http://schemas.microsoft.com/office/drawing/2014/main" id="{CC9D33C2-2EBC-C4AB-7904-9DAEB495877A}"/>
              </a:ext>
            </a:extLst>
          </p:cNvPr>
          <p:cNvSpPr txBox="1"/>
          <p:nvPr/>
        </p:nvSpPr>
        <p:spPr>
          <a:xfrm>
            <a:off x="12843631" y="4583429"/>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str3</a:t>
            </a:r>
          </a:p>
        </p:txBody>
      </p:sp>
      <p:sp>
        <p:nvSpPr>
          <p:cNvPr id="21" name="TextBox 20">
            <a:extLst>
              <a:ext uri="{FF2B5EF4-FFF2-40B4-BE49-F238E27FC236}">
                <a16:creationId xmlns:a16="http://schemas.microsoft.com/office/drawing/2014/main" id="{8A0A54D7-2F08-1FA4-BADD-6A7D51CD2F01}"/>
              </a:ext>
            </a:extLst>
          </p:cNvPr>
          <p:cNvSpPr txBox="1"/>
          <p:nvPr/>
        </p:nvSpPr>
        <p:spPr>
          <a:xfrm>
            <a:off x="10097259" y="4583430"/>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str2</a:t>
            </a:r>
          </a:p>
        </p:txBody>
      </p:sp>
    </p:spTree>
    <p:extLst>
      <p:ext uri="{BB962C8B-B14F-4D97-AF65-F5344CB8AC3E}">
        <p14:creationId xmlns:p14="http://schemas.microsoft.com/office/powerpoint/2010/main" val="30400414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6" grpId="0"/>
      <p:bldP spid="18" grpId="0"/>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4" name="Google Shape;412;p56">
            <a:extLst>
              <a:ext uri="{FF2B5EF4-FFF2-40B4-BE49-F238E27FC236}">
                <a16:creationId xmlns:a16="http://schemas.microsoft.com/office/drawing/2014/main" id="{786FA14C-5507-2ACD-4E8F-6D7389956F35}"/>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join()</a:t>
            </a:r>
          </a:p>
        </p:txBody>
      </p:sp>
      <p:sp>
        <p:nvSpPr>
          <p:cNvPr id="6" name="TextBox 5">
            <a:extLst>
              <a:ext uri="{FF2B5EF4-FFF2-40B4-BE49-F238E27FC236}">
                <a16:creationId xmlns:a16="http://schemas.microsoft.com/office/drawing/2014/main" id="{631C23A4-5BAF-EA77-F178-888A6B588BA9}"/>
              </a:ext>
            </a:extLst>
          </p:cNvPr>
          <p:cNvSpPr txBox="1"/>
          <p:nvPr/>
        </p:nvSpPr>
        <p:spPr>
          <a:xfrm>
            <a:off x="2328861" y="6059508"/>
            <a:ext cx="15487650"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separator.join</a:t>
            </a:r>
            <a:r>
              <a:rPr lang="en-US" sz="6000" b="0" dirty="0">
                <a:solidFill>
                  <a:srgbClr val="000000"/>
                </a:solidFill>
                <a:effectLst/>
                <a:latin typeface="Courier New" panose="02070309020205020404" pitchFamily="49" charset="0"/>
              </a:rPr>
              <a:t>(</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p>
        </p:txBody>
      </p:sp>
      <p:grpSp>
        <p:nvGrpSpPr>
          <p:cNvPr id="11" name="Group 10">
            <a:extLst>
              <a:ext uri="{FF2B5EF4-FFF2-40B4-BE49-F238E27FC236}">
                <a16:creationId xmlns:a16="http://schemas.microsoft.com/office/drawing/2014/main" id="{2FB9C594-7289-5AC2-4487-CB15D25E2BD1}"/>
              </a:ext>
            </a:extLst>
          </p:cNvPr>
          <p:cNvGrpSpPr/>
          <p:nvPr/>
        </p:nvGrpSpPr>
        <p:grpSpPr>
          <a:xfrm>
            <a:off x="11194884" y="2400401"/>
            <a:ext cx="2936298" cy="1767046"/>
            <a:chOff x="11123447" y="2544403"/>
            <a:chExt cx="2936298" cy="1767046"/>
          </a:xfrm>
        </p:grpSpPr>
        <p:sp>
          <p:nvSpPr>
            <p:cNvPr id="9" name="that’s a lot of features!">
              <a:extLst>
                <a:ext uri="{FF2B5EF4-FFF2-40B4-BE49-F238E27FC236}">
                  <a16:creationId xmlns:a16="http://schemas.microsoft.com/office/drawing/2014/main" id="{1AA9F5A3-9ED3-2BCD-D9CF-F3FE15FF9C11}"/>
                </a:ext>
              </a:extLst>
            </p:cNvPr>
            <p:cNvSpPr txBox="1"/>
            <p:nvPr/>
          </p:nvSpPr>
          <p:spPr>
            <a:xfrm>
              <a:off x="11123447" y="2544403"/>
              <a:ext cx="2936298" cy="7181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List of strings</a:t>
              </a:r>
              <a:endParaRPr dirty="0">
                <a:solidFill>
                  <a:srgbClr val="EF7001"/>
                </a:solidFill>
              </a:endParaRPr>
            </a:p>
          </p:txBody>
        </p:sp>
        <p:pic>
          <p:nvPicPr>
            <p:cNvPr id="10" name="Line Line" descr="Line Line">
              <a:extLst>
                <a:ext uri="{FF2B5EF4-FFF2-40B4-BE49-F238E27FC236}">
                  <a16:creationId xmlns:a16="http://schemas.microsoft.com/office/drawing/2014/main" id="{56C03302-4FDB-B0EC-D754-F539B50B2F06}"/>
                </a:ext>
              </a:extLst>
            </p:cNvPr>
            <p:cNvPicPr>
              <a:picLocks/>
            </p:cNvPicPr>
            <p:nvPr/>
          </p:nvPicPr>
          <p:blipFill>
            <a:blip r:embed="rId3"/>
            <a:stretch>
              <a:fillRect/>
            </a:stretch>
          </p:blipFill>
          <p:spPr>
            <a:xfrm rot="6998290">
              <a:off x="10953217" y="3566822"/>
              <a:ext cx="997180" cy="492074"/>
            </a:xfrm>
            <a:prstGeom prst="rect">
              <a:avLst/>
            </a:prstGeom>
          </p:spPr>
        </p:pic>
      </p:grpSp>
      <p:sp>
        <p:nvSpPr>
          <p:cNvPr id="18" name="TextBox 17">
            <a:extLst>
              <a:ext uri="{FF2B5EF4-FFF2-40B4-BE49-F238E27FC236}">
                <a16:creationId xmlns:a16="http://schemas.microsoft.com/office/drawing/2014/main" id="{A5227815-6BBD-D7DE-D068-12F6EF18E040}"/>
              </a:ext>
            </a:extLst>
          </p:cNvPr>
          <p:cNvSpPr txBox="1"/>
          <p:nvPr/>
        </p:nvSpPr>
        <p:spPr>
          <a:xfrm>
            <a:off x="2328861" y="4583430"/>
            <a:ext cx="13344527"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[str1, str2, str3]</a:t>
            </a:r>
          </a:p>
        </p:txBody>
      </p:sp>
      <p:sp>
        <p:nvSpPr>
          <p:cNvPr id="19" name="TextBox 18">
            <a:extLst>
              <a:ext uri="{FF2B5EF4-FFF2-40B4-BE49-F238E27FC236}">
                <a16:creationId xmlns:a16="http://schemas.microsoft.com/office/drawing/2014/main" id="{8D6677E9-C9B8-CCF1-C9F8-C4731BD983E5}"/>
              </a:ext>
            </a:extLst>
          </p:cNvPr>
          <p:cNvSpPr txBox="1"/>
          <p:nvPr/>
        </p:nvSpPr>
        <p:spPr>
          <a:xfrm>
            <a:off x="3767213" y="9113063"/>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str1</a:t>
            </a:r>
          </a:p>
        </p:txBody>
      </p:sp>
      <p:sp>
        <p:nvSpPr>
          <p:cNvPr id="20" name="TextBox 19">
            <a:extLst>
              <a:ext uri="{FF2B5EF4-FFF2-40B4-BE49-F238E27FC236}">
                <a16:creationId xmlns:a16="http://schemas.microsoft.com/office/drawing/2014/main" id="{CC9D33C2-2EBC-C4AB-7904-9DAEB495877A}"/>
              </a:ext>
            </a:extLst>
          </p:cNvPr>
          <p:cNvSpPr txBox="1"/>
          <p:nvPr/>
        </p:nvSpPr>
        <p:spPr>
          <a:xfrm>
            <a:off x="16562305" y="9107228"/>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str3</a:t>
            </a:r>
          </a:p>
        </p:txBody>
      </p:sp>
      <p:sp>
        <p:nvSpPr>
          <p:cNvPr id="21" name="TextBox 20">
            <a:extLst>
              <a:ext uri="{FF2B5EF4-FFF2-40B4-BE49-F238E27FC236}">
                <a16:creationId xmlns:a16="http://schemas.microsoft.com/office/drawing/2014/main" id="{8A0A54D7-2F08-1FA4-BADD-6A7D51CD2F01}"/>
              </a:ext>
            </a:extLst>
          </p:cNvPr>
          <p:cNvSpPr txBox="1"/>
          <p:nvPr/>
        </p:nvSpPr>
        <p:spPr>
          <a:xfrm>
            <a:off x="10164759" y="9113063"/>
            <a:ext cx="202882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str2</a:t>
            </a:r>
          </a:p>
        </p:txBody>
      </p:sp>
      <p:sp>
        <p:nvSpPr>
          <p:cNvPr id="23" name="TextBox 22">
            <a:extLst>
              <a:ext uri="{FF2B5EF4-FFF2-40B4-BE49-F238E27FC236}">
                <a16:creationId xmlns:a16="http://schemas.microsoft.com/office/drawing/2014/main" id="{6BEB854C-1B31-17EC-CC0C-7D36AB8DE2B8}"/>
              </a:ext>
            </a:extLst>
          </p:cNvPr>
          <p:cNvSpPr txBox="1"/>
          <p:nvPr/>
        </p:nvSpPr>
        <p:spPr>
          <a:xfrm>
            <a:off x="12193587" y="9107228"/>
            <a:ext cx="436871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separator</a:t>
            </a:r>
          </a:p>
        </p:txBody>
      </p:sp>
      <p:sp>
        <p:nvSpPr>
          <p:cNvPr id="24" name="TextBox 23">
            <a:extLst>
              <a:ext uri="{FF2B5EF4-FFF2-40B4-BE49-F238E27FC236}">
                <a16:creationId xmlns:a16="http://schemas.microsoft.com/office/drawing/2014/main" id="{B9A12DE9-36AE-8E02-3093-52B82CC5AB13}"/>
              </a:ext>
            </a:extLst>
          </p:cNvPr>
          <p:cNvSpPr txBox="1"/>
          <p:nvPr/>
        </p:nvSpPr>
        <p:spPr>
          <a:xfrm>
            <a:off x="5796041" y="9107229"/>
            <a:ext cx="4368718"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separator</a:t>
            </a:r>
          </a:p>
        </p:txBody>
      </p:sp>
      <p:grpSp>
        <p:nvGrpSpPr>
          <p:cNvPr id="7" name="Group 6">
            <a:extLst>
              <a:ext uri="{FF2B5EF4-FFF2-40B4-BE49-F238E27FC236}">
                <a16:creationId xmlns:a16="http://schemas.microsoft.com/office/drawing/2014/main" id="{1B19029D-D791-08DA-60AC-099B6CF2AB3E}"/>
              </a:ext>
            </a:extLst>
          </p:cNvPr>
          <p:cNvGrpSpPr/>
          <p:nvPr/>
        </p:nvGrpSpPr>
        <p:grpSpPr>
          <a:xfrm>
            <a:off x="15935326" y="7473133"/>
            <a:ext cx="2936298" cy="1767046"/>
            <a:chOff x="11123447" y="2544403"/>
            <a:chExt cx="2936298" cy="1767046"/>
          </a:xfrm>
        </p:grpSpPr>
        <p:sp>
          <p:nvSpPr>
            <p:cNvPr id="8" name="that’s a lot of features!">
              <a:extLst>
                <a:ext uri="{FF2B5EF4-FFF2-40B4-BE49-F238E27FC236}">
                  <a16:creationId xmlns:a16="http://schemas.microsoft.com/office/drawing/2014/main" id="{C5F843D8-2C1E-89CD-650E-1B04BC27E42F}"/>
                </a:ext>
              </a:extLst>
            </p:cNvPr>
            <p:cNvSpPr txBox="1"/>
            <p:nvPr/>
          </p:nvSpPr>
          <p:spPr>
            <a:xfrm>
              <a:off x="11123447" y="2544403"/>
              <a:ext cx="2936298" cy="7181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Final String</a:t>
              </a:r>
              <a:endParaRPr dirty="0">
                <a:solidFill>
                  <a:srgbClr val="EF7001"/>
                </a:solidFill>
              </a:endParaRPr>
            </a:p>
          </p:txBody>
        </p:sp>
        <p:pic>
          <p:nvPicPr>
            <p:cNvPr id="12" name="Line Line" descr="Line Line">
              <a:extLst>
                <a:ext uri="{FF2B5EF4-FFF2-40B4-BE49-F238E27FC236}">
                  <a16:creationId xmlns:a16="http://schemas.microsoft.com/office/drawing/2014/main" id="{80BC5A5A-F4C9-6041-66E3-E9CAE52F7F86}"/>
                </a:ext>
              </a:extLst>
            </p:cNvPr>
            <p:cNvPicPr>
              <a:picLocks/>
            </p:cNvPicPr>
            <p:nvPr/>
          </p:nvPicPr>
          <p:blipFill>
            <a:blip r:embed="rId3"/>
            <a:stretch>
              <a:fillRect/>
            </a:stretch>
          </p:blipFill>
          <p:spPr>
            <a:xfrm rot="6998290">
              <a:off x="10953217" y="3566822"/>
              <a:ext cx="997180" cy="492074"/>
            </a:xfrm>
            <a:prstGeom prst="rect">
              <a:avLst/>
            </a:prstGeom>
          </p:spPr>
        </p:pic>
      </p:grpSp>
    </p:spTree>
    <p:extLst>
      <p:ext uri="{BB962C8B-B14F-4D97-AF65-F5344CB8AC3E}">
        <p14:creationId xmlns:p14="http://schemas.microsoft.com/office/powerpoint/2010/main" val="173314855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13" name="TextBox 12">
            <a:extLst>
              <a:ext uri="{FF2B5EF4-FFF2-40B4-BE49-F238E27FC236}">
                <a16:creationId xmlns:a16="http://schemas.microsoft.com/office/drawing/2014/main" id="{E026FA16-AED4-506B-E9B9-43C387E3F78A}"/>
              </a:ext>
            </a:extLst>
          </p:cNvPr>
          <p:cNvSpPr txBox="1"/>
          <p:nvPr/>
        </p:nvSpPr>
        <p:spPr>
          <a:xfrm>
            <a:off x="1382377" y="4583035"/>
            <a:ext cx="22130785"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a:t>
            </a:r>
            <a:r>
              <a:rPr lang="en-US" sz="6000" b="0" dirty="0">
                <a:solidFill>
                  <a:srgbClr val="A31515"/>
                </a:solidFill>
                <a:effectLst/>
                <a:latin typeface="Courier New" panose="02070309020205020404" pitchFamily="49" charset="0"/>
              </a:rPr>
              <a:t>"Hello,"</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"my"</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"name"</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"is"</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"Bob!"</a:t>
            </a:r>
            <a:r>
              <a:rPr lang="en-US" sz="6000" b="0" dirty="0">
                <a:solidFill>
                  <a:srgbClr val="000000"/>
                </a:solidFill>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4" name="Google Shape;412;p56">
            <a:extLst>
              <a:ext uri="{FF2B5EF4-FFF2-40B4-BE49-F238E27FC236}">
                <a16:creationId xmlns:a16="http://schemas.microsoft.com/office/drawing/2014/main" id="{786FA14C-5507-2ACD-4E8F-6D7389956F35}"/>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join()</a:t>
            </a:r>
          </a:p>
        </p:txBody>
      </p:sp>
      <p:sp>
        <p:nvSpPr>
          <p:cNvPr id="6" name="TextBox 5">
            <a:extLst>
              <a:ext uri="{FF2B5EF4-FFF2-40B4-BE49-F238E27FC236}">
                <a16:creationId xmlns:a16="http://schemas.microsoft.com/office/drawing/2014/main" id="{631C23A4-5BAF-EA77-F178-888A6B588BA9}"/>
              </a:ext>
            </a:extLst>
          </p:cNvPr>
          <p:cNvSpPr txBox="1"/>
          <p:nvPr/>
        </p:nvSpPr>
        <p:spPr>
          <a:xfrm>
            <a:off x="1382377" y="6075765"/>
            <a:ext cx="1548765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r>
              <a:rPr lang="en-US" sz="6000" b="0" dirty="0">
                <a:solidFill>
                  <a:srgbClr val="000000"/>
                </a:solidFill>
                <a:effectLst/>
                <a:latin typeface="Courier New" panose="02070309020205020404" pitchFamily="49" charset="0"/>
              </a:rPr>
              <a:t>.join(</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p>
        </p:txBody>
      </p:sp>
      <p:sp>
        <p:nvSpPr>
          <p:cNvPr id="16" name="TextBox 15">
            <a:extLst>
              <a:ext uri="{FF2B5EF4-FFF2-40B4-BE49-F238E27FC236}">
                <a16:creationId xmlns:a16="http://schemas.microsoft.com/office/drawing/2014/main" id="{5FBA8A68-6B78-0ED3-8B64-1AE24DD74879}"/>
              </a:ext>
            </a:extLst>
          </p:cNvPr>
          <p:cNvSpPr txBox="1"/>
          <p:nvPr/>
        </p:nvSpPr>
        <p:spPr>
          <a:xfrm>
            <a:off x="6411117" y="4583034"/>
            <a:ext cx="431257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"Hello,"</a:t>
            </a:r>
            <a:endParaRPr lang="en-US" sz="6000" b="0" dirty="0">
              <a:solidFill>
                <a:srgbClr val="000000"/>
              </a:solidFill>
              <a:effectLst/>
              <a:latin typeface="Courier New" panose="02070309020205020404" pitchFamily="49" charset="0"/>
            </a:endParaRPr>
          </a:p>
        </p:txBody>
      </p:sp>
      <p:sp>
        <p:nvSpPr>
          <p:cNvPr id="17" name="TextBox 16">
            <a:extLst>
              <a:ext uri="{FF2B5EF4-FFF2-40B4-BE49-F238E27FC236}">
                <a16:creationId xmlns:a16="http://schemas.microsoft.com/office/drawing/2014/main" id="{D864BBE3-7D2F-F7A6-258E-ED01028F3BE9}"/>
              </a:ext>
            </a:extLst>
          </p:cNvPr>
          <p:cNvSpPr txBox="1"/>
          <p:nvPr/>
        </p:nvSpPr>
        <p:spPr>
          <a:xfrm>
            <a:off x="10982163" y="4583034"/>
            <a:ext cx="2170948"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"my"</a:t>
            </a:r>
            <a:endParaRPr lang="en-US" sz="6000" b="0" dirty="0">
              <a:solidFill>
                <a:srgbClr val="000000"/>
              </a:solidFill>
              <a:effectLst/>
              <a:latin typeface="Courier New" panose="02070309020205020404" pitchFamily="49" charset="0"/>
            </a:endParaRPr>
          </a:p>
        </p:txBody>
      </p:sp>
      <p:sp>
        <p:nvSpPr>
          <p:cNvPr id="22" name="TextBox 21">
            <a:extLst>
              <a:ext uri="{FF2B5EF4-FFF2-40B4-BE49-F238E27FC236}">
                <a16:creationId xmlns:a16="http://schemas.microsoft.com/office/drawing/2014/main" id="{BD59C70F-F3F7-319C-3959-AD83F0CD1DB1}"/>
              </a:ext>
            </a:extLst>
          </p:cNvPr>
          <p:cNvSpPr txBox="1"/>
          <p:nvPr/>
        </p:nvSpPr>
        <p:spPr>
          <a:xfrm>
            <a:off x="13726277" y="4583034"/>
            <a:ext cx="3003434"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"name"</a:t>
            </a:r>
            <a:endParaRPr lang="en-US" sz="6000" b="0" dirty="0">
              <a:solidFill>
                <a:srgbClr val="000000"/>
              </a:solidFill>
              <a:effectLst/>
              <a:latin typeface="Courier New" panose="02070309020205020404" pitchFamily="49" charset="0"/>
            </a:endParaRPr>
          </a:p>
        </p:txBody>
      </p:sp>
      <p:sp>
        <p:nvSpPr>
          <p:cNvPr id="25" name="TextBox 24">
            <a:extLst>
              <a:ext uri="{FF2B5EF4-FFF2-40B4-BE49-F238E27FC236}">
                <a16:creationId xmlns:a16="http://schemas.microsoft.com/office/drawing/2014/main" id="{3D7DFA66-611E-2831-5C14-2539DB18F122}"/>
              </a:ext>
            </a:extLst>
          </p:cNvPr>
          <p:cNvSpPr txBox="1"/>
          <p:nvPr/>
        </p:nvSpPr>
        <p:spPr>
          <a:xfrm>
            <a:off x="17384377" y="4583034"/>
            <a:ext cx="2170948"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"is"</a:t>
            </a:r>
            <a:endParaRPr lang="en-US" sz="60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0681A9FE-3393-AEFE-A19B-D2E3DFED2AEC}"/>
              </a:ext>
            </a:extLst>
          </p:cNvPr>
          <p:cNvSpPr txBox="1"/>
          <p:nvPr/>
        </p:nvSpPr>
        <p:spPr>
          <a:xfrm>
            <a:off x="20127750" y="4583033"/>
            <a:ext cx="2959346"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"Bob!"</a:t>
            </a:r>
            <a:endParaRPr lang="en-US" sz="6000" b="0" dirty="0">
              <a:solidFill>
                <a:srgbClr val="000000"/>
              </a:solidFill>
              <a:effectLst/>
              <a:latin typeface="Courier New" panose="02070309020205020404" pitchFamily="49" charset="0"/>
            </a:endParaRPr>
          </a:p>
        </p:txBody>
      </p:sp>
      <p:sp>
        <p:nvSpPr>
          <p:cNvPr id="29" name="TextBox 28">
            <a:extLst>
              <a:ext uri="{FF2B5EF4-FFF2-40B4-BE49-F238E27FC236}">
                <a16:creationId xmlns:a16="http://schemas.microsoft.com/office/drawing/2014/main" id="{A0C26CB3-EFA1-C25B-A39A-65C8FC94C147}"/>
              </a:ext>
            </a:extLst>
          </p:cNvPr>
          <p:cNvSpPr txBox="1"/>
          <p:nvPr/>
        </p:nvSpPr>
        <p:spPr>
          <a:xfrm>
            <a:off x="1382377" y="6075765"/>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30" name="TextBox 29">
            <a:extLst>
              <a:ext uri="{FF2B5EF4-FFF2-40B4-BE49-F238E27FC236}">
                <a16:creationId xmlns:a16="http://schemas.microsoft.com/office/drawing/2014/main" id="{DF28090A-7339-77D7-59CE-2F0C69C3A1D3}"/>
              </a:ext>
            </a:extLst>
          </p:cNvPr>
          <p:cNvSpPr txBox="1"/>
          <p:nvPr/>
        </p:nvSpPr>
        <p:spPr>
          <a:xfrm>
            <a:off x="1382377" y="6075765"/>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31" name="TextBox 30">
            <a:extLst>
              <a:ext uri="{FF2B5EF4-FFF2-40B4-BE49-F238E27FC236}">
                <a16:creationId xmlns:a16="http://schemas.microsoft.com/office/drawing/2014/main" id="{F61A62A5-4FE0-C8C4-D66C-6829032FAD99}"/>
              </a:ext>
            </a:extLst>
          </p:cNvPr>
          <p:cNvSpPr txBox="1"/>
          <p:nvPr/>
        </p:nvSpPr>
        <p:spPr>
          <a:xfrm>
            <a:off x="1382377" y="6075764"/>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32" name="TextBox 31">
            <a:extLst>
              <a:ext uri="{FF2B5EF4-FFF2-40B4-BE49-F238E27FC236}">
                <a16:creationId xmlns:a16="http://schemas.microsoft.com/office/drawing/2014/main" id="{A33EAB0A-8509-C72A-241C-E25BA1F6B23C}"/>
              </a:ext>
            </a:extLst>
          </p:cNvPr>
          <p:cNvSpPr txBox="1"/>
          <p:nvPr/>
        </p:nvSpPr>
        <p:spPr>
          <a:xfrm>
            <a:off x="1382377" y="6075765"/>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Tree>
    <p:extLst>
      <p:ext uri="{BB962C8B-B14F-4D97-AF65-F5344CB8AC3E}">
        <p14:creationId xmlns:p14="http://schemas.microsoft.com/office/powerpoint/2010/main" val="328808962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6" grpId="0"/>
      <p:bldP spid="16" grpId="0"/>
      <p:bldP spid="17" grpId="0"/>
      <p:bldP spid="22" grpId="0"/>
      <p:bldP spid="25" grpId="0"/>
      <p:bldP spid="26" grpId="0"/>
      <p:bldP spid="29" grpId="0"/>
      <p:bldP spid="30" grpId="0"/>
      <p:bldP spid="31" grpId="0"/>
      <p:bldP spid="3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8" name="TextBox 7">
            <a:extLst>
              <a:ext uri="{FF2B5EF4-FFF2-40B4-BE49-F238E27FC236}">
                <a16:creationId xmlns:a16="http://schemas.microsoft.com/office/drawing/2014/main" id="{2E120ABC-0D2D-A588-10B6-90EB696B10D0}"/>
              </a:ext>
            </a:extLst>
          </p:cNvPr>
          <p:cNvSpPr txBox="1"/>
          <p:nvPr/>
        </p:nvSpPr>
        <p:spPr>
          <a:xfrm>
            <a:off x="14394551" y="8474055"/>
            <a:ext cx="2959346"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"Bob!"</a:t>
            </a:r>
            <a:endParaRPr lang="en-US" sz="6000" b="0" dirty="0">
              <a:solidFill>
                <a:srgbClr val="000000"/>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8A2F0ACD-2BD3-3D2E-591F-BE7A83164CE0}"/>
              </a:ext>
            </a:extLst>
          </p:cNvPr>
          <p:cNvSpPr txBox="1"/>
          <p:nvPr/>
        </p:nvSpPr>
        <p:spPr>
          <a:xfrm>
            <a:off x="13015577" y="8474057"/>
            <a:ext cx="2170948"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"is"</a:t>
            </a:r>
            <a:endParaRPr lang="en-US" sz="6000" b="0" dirty="0">
              <a:solidFill>
                <a:srgbClr val="000000"/>
              </a:solidFill>
              <a:effectLst/>
              <a:latin typeface="Courier New" panose="02070309020205020404" pitchFamily="49" charset="0"/>
            </a:endParaRPr>
          </a:p>
        </p:txBody>
      </p:sp>
      <p:sp>
        <p:nvSpPr>
          <p:cNvPr id="5" name="TextBox 4">
            <a:extLst>
              <a:ext uri="{FF2B5EF4-FFF2-40B4-BE49-F238E27FC236}">
                <a16:creationId xmlns:a16="http://schemas.microsoft.com/office/drawing/2014/main" id="{863C8062-64F9-D4F6-140C-633B8FECA4C5}"/>
              </a:ext>
            </a:extLst>
          </p:cNvPr>
          <p:cNvSpPr txBox="1"/>
          <p:nvPr/>
        </p:nvSpPr>
        <p:spPr>
          <a:xfrm>
            <a:off x="6165219" y="8474059"/>
            <a:ext cx="11219158"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"Hello, my name is Bob!"</a:t>
            </a:r>
            <a:endParaRPr lang="en-US" sz="6000" b="0" dirty="0">
              <a:solidFill>
                <a:srgbClr val="000000"/>
              </a:solidFill>
              <a:effectLst/>
              <a:latin typeface="Courier New" panose="02070309020205020404" pitchFamily="49" charset="0"/>
            </a:endParaRPr>
          </a:p>
        </p:txBody>
      </p:sp>
      <p:sp>
        <p:nvSpPr>
          <p:cNvPr id="29" name="TextBox 28">
            <a:extLst>
              <a:ext uri="{FF2B5EF4-FFF2-40B4-BE49-F238E27FC236}">
                <a16:creationId xmlns:a16="http://schemas.microsoft.com/office/drawing/2014/main" id="{A0C26CB3-EFA1-C25B-A39A-65C8FC94C147}"/>
              </a:ext>
            </a:extLst>
          </p:cNvPr>
          <p:cNvSpPr txBox="1"/>
          <p:nvPr/>
        </p:nvSpPr>
        <p:spPr>
          <a:xfrm>
            <a:off x="13908619" y="8474054"/>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22" name="TextBox 21">
            <a:extLst>
              <a:ext uri="{FF2B5EF4-FFF2-40B4-BE49-F238E27FC236}">
                <a16:creationId xmlns:a16="http://schemas.microsoft.com/office/drawing/2014/main" id="{BD59C70F-F3F7-319C-3959-AD83F0CD1DB1}"/>
              </a:ext>
            </a:extLst>
          </p:cNvPr>
          <p:cNvSpPr txBox="1"/>
          <p:nvPr/>
        </p:nvSpPr>
        <p:spPr>
          <a:xfrm>
            <a:off x="10729077" y="8474057"/>
            <a:ext cx="3003435"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"name"</a:t>
            </a:r>
            <a:endParaRPr lang="en-US" sz="6000" b="0" dirty="0">
              <a:solidFill>
                <a:srgbClr val="000000"/>
              </a:solidFill>
              <a:effectLst/>
              <a:latin typeface="Courier New" panose="02070309020205020404" pitchFamily="49" charset="0"/>
            </a:endParaRPr>
          </a:p>
        </p:txBody>
      </p:sp>
      <p:sp>
        <p:nvSpPr>
          <p:cNvPr id="31" name="TextBox 30">
            <a:extLst>
              <a:ext uri="{FF2B5EF4-FFF2-40B4-BE49-F238E27FC236}">
                <a16:creationId xmlns:a16="http://schemas.microsoft.com/office/drawing/2014/main" id="{F61A62A5-4FE0-C8C4-D66C-6829032FAD99}"/>
              </a:ext>
            </a:extLst>
          </p:cNvPr>
          <p:cNvSpPr txBox="1"/>
          <p:nvPr/>
        </p:nvSpPr>
        <p:spPr>
          <a:xfrm>
            <a:off x="10267113" y="8474055"/>
            <a:ext cx="1641560" cy="1015663"/>
          </a:xfrm>
          <a:prstGeom prst="rect">
            <a:avLst/>
          </a:prstGeom>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17" name="TextBox 16">
            <a:extLst>
              <a:ext uri="{FF2B5EF4-FFF2-40B4-BE49-F238E27FC236}">
                <a16:creationId xmlns:a16="http://schemas.microsoft.com/office/drawing/2014/main" id="{D864BBE3-7D2F-F7A6-258E-ED01028F3BE9}"/>
              </a:ext>
            </a:extLst>
          </p:cNvPr>
          <p:cNvSpPr txBox="1"/>
          <p:nvPr/>
        </p:nvSpPr>
        <p:spPr>
          <a:xfrm>
            <a:off x="9361835" y="8474058"/>
            <a:ext cx="2170948"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"my"</a:t>
            </a:r>
            <a:endParaRPr lang="en-US" sz="6000" b="0" dirty="0">
              <a:solidFill>
                <a:srgbClr val="000000"/>
              </a:solidFill>
              <a:effectLst/>
              <a:latin typeface="Courier New" panose="02070309020205020404" pitchFamily="49" charset="0"/>
            </a:endParaRPr>
          </a:p>
        </p:txBody>
      </p:sp>
      <p:sp>
        <p:nvSpPr>
          <p:cNvPr id="32" name="TextBox 31">
            <a:extLst>
              <a:ext uri="{FF2B5EF4-FFF2-40B4-BE49-F238E27FC236}">
                <a16:creationId xmlns:a16="http://schemas.microsoft.com/office/drawing/2014/main" id="{A33EAB0A-8509-C72A-241C-E25BA1F6B23C}"/>
              </a:ext>
            </a:extLst>
          </p:cNvPr>
          <p:cNvSpPr txBox="1"/>
          <p:nvPr/>
        </p:nvSpPr>
        <p:spPr>
          <a:xfrm>
            <a:off x="8836229" y="8474059"/>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
        <p:nvSpPr>
          <p:cNvPr id="16" name="TextBox 15">
            <a:extLst>
              <a:ext uri="{FF2B5EF4-FFF2-40B4-BE49-F238E27FC236}">
                <a16:creationId xmlns:a16="http://schemas.microsoft.com/office/drawing/2014/main" id="{5FBA8A68-6B78-0ED3-8B64-1AE24DD74879}"/>
              </a:ext>
            </a:extLst>
          </p:cNvPr>
          <p:cNvSpPr txBox="1"/>
          <p:nvPr/>
        </p:nvSpPr>
        <p:spPr>
          <a:xfrm>
            <a:off x="6165219" y="8474060"/>
            <a:ext cx="431257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"Hello,"</a:t>
            </a:r>
            <a:endParaRPr lang="en-US" sz="6000" b="0" dirty="0">
              <a:solidFill>
                <a:srgbClr val="000000"/>
              </a:solidFill>
              <a:effectLst/>
              <a:latin typeface="Courier New" panose="02070309020205020404" pitchFamily="49" charset="0"/>
            </a:endParaRPr>
          </a:p>
        </p:txBody>
      </p:sp>
      <p:sp>
        <p:nvSpPr>
          <p:cNvPr id="13" name="TextBox 12">
            <a:extLst>
              <a:ext uri="{FF2B5EF4-FFF2-40B4-BE49-F238E27FC236}">
                <a16:creationId xmlns:a16="http://schemas.microsoft.com/office/drawing/2014/main" id="{E026FA16-AED4-506B-E9B9-43C387E3F78A}"/>
              </a:ext>
            </a:extLst>
          </p:cNvPr>
          <p:cNvSpPr txBox="1"/>
          <p:nvPr/>
        </p:nvSpPr>
        <p:spPr>
          <a:xfrm>
            <a:off x="1382377" y="4583035"/>
            <a:ext cx="22130785"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 = [</a:t>
            </a:r>
            <a:r>
              <a:rPr lang="en-US" sz="6000" b="0" dirty="0">
                <a:solidFill>
                  <a:srgbClr val="A31515"/>
                </a:solidFill>
                <a:effectLst/>
                <a:latin typeface="Courier New" panose="02070309020205020404" pitchFamily="49" charset="0"/>
              </a:rPr>
              <a:t>"Hello,"</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"my"</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"name"</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"is"</a:t>
            </a:r>
            <a:r>
              <a:rPr lang="en-US" sz="6000" b="0" dirty="0">
                <a:solidFill>
                  <a:srgbClr val="000000"/>
                </a:solidFill>
                <a:effectLst/>
                <a:latin typeface="Courier New" panose="02070309020205020404" pitchFamily="49" charset="0"/>
              </a:rPr>
              <a:t>, </a:t>
            </a:r>
            <a:r>
              <a:rPr lang="en-US" sz="6000" b="0" dirty="0">
                <a:solidFill>
                  <a:srgbClr val="A31515"/>
                </a:solidFill>
                <a:effectLst/>
                <a:latin typeface="Courier New" panose="02070309020205020404" pitchFamily="49" charset="0"/>
              </a:rPr>
              <a:t>"Bob!"</a:t>
            </a:r>
            <a:r>
              <a:rPr lang="en-US" sz="6000" b="0" dirty="0">
                <a:solidFill>
                  <a:srgbClr val="000000"/>
                </a:solidFill>
                <a:effectLst/>
                <a:latin typeface="Courier New" panose="02070309020205020404" pitchFamily="49" charset="0"/>
              </a:rPr>
              <a:t>]</a:t>
            </a:r>
          </a:p>
        </p:txBody>
      </p:sp>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4" name="Google Shape;412;p56">
            <a:extLst>
              <a:ext uri="{FF2B5EF4-FFF2-40B4-BE49-F238E27FC236}">
                <a16:creationId xmlns:a16="http://schemas.microsoft.com/office/drawing/2014/main" id="{786FA14C-5507-2ACD-4E8F-6D7389956F35}"/>
              </a:ext>
            </a:extLst>
          </p:cNvPr>
          <p:cNvSpPr txBox="1">
            <a:spLocks/>
          </p:cNvSpPr>
          <p:nvPr/>
        </p:nvSpPr>
        <p:spPr>
          <a:xfrm>
            <a:off x="298605" y="2092419"/>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join()</a:t>
            </a:r>
          </a:p>
        </p:txBody>
      </p:sp>
      <p:sp>
        <p:nvSpPr>
          <p:cNvPr id="6" name="TextBox 5">
            <a:extLst>
              <a:ext uri="{FF2B5EF4-FFF2-40B4-BE49-F238E27FC236}">
                <a16:creationId xmlns:a16="http://schemas.microsoft.com/office/drawing/2014/main" id="{631C23A4-5BAF-EA77-F178-888A6B588BA9}"/>
              </a:ext>
            </a:extLst>
          </p:cNvPr>
          <p:cNvSpPr txBox="1"/>
          <p:nvPr/>
        </p:nvSpPr>
        <p:spPr>
          <a:xfrm>
            <a:off x="1382377" y="6075765"/>
            <a:ext cx="1548765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r>
              <a:rPr lang="en-US" sz="6000" b="0" dirty="0">
                <a:solidFill>
                  <a:srgbClr val="000000"/>
                </a:solidFill>
                <a:effectLst/>
                <a:latin typeface="Courier New" panose="02070309020205020404" pitchFamily="49" charset="0"/>
              </a:rPr>
              <a:t>.join(</a:t>
            </a:r>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p>
        </p:txBody>
      </p:sp>
      <p:sp>
        <p:nvSpPr>
          <p:cNvPr id="30" name="TextBox 29">
            <a:extLst>
              <a:ext uri="{FF2B5EF4-FFF2-40B4-BE49-F238E27FC236}">
                <a16:creationId xmlns:a16="http://schemas.microsoft.com/office/drawing/2014/main" id="{DF28090A-7339-77D7-59CE-2F0C69C3A1D3}"/>
              </a:ext>
            </a:extLst>
          </p:cNvPr>
          <p:cNvSpPr txBox="1"/>
          <p:nvPr/>
        </p:nvSpPr>
        <p:spPr>
          <a:xfrm>
            <a:off x="12549173" y="8474054"/>
            <a:ext cx="1641560" cy="1015663"/>
          </a:xfrm>
          <a:prstGeom prst="rect">
            <a:avLst/>
          </a:prstGeom>
          <a:noFill/>
        </p:spPr>
        <p:txBody>
          <a:bodyPr wrap="square">
            <a:spAutoFit/>
          </a:bodyPr>
          <a:lstStyle/>
          <a:p>
            <a:r>
              <a:rPr lang="en-US" sz="6000" b="0" dirty="0">
                <a:solidFill>
                  <a:srgbClr val="A31515"/>
                </a:solidFill>
                <a:effectLst/>
                <a:latin typeface="Courier New" panose="02070309020205020404" pitchFamily="49" charset="0"/>
              </a:rPr>
              <a:t>' '</a:t>
            </a:r>
            <a:endParaRPr lang="en-US" sz="6000" b="0" dirty="0">
              <a:solidFill>
                <a:srgbClr val="000000"/>
              </a:solidFill>
              <a:effectLst/>
              <a:latin typeface="Courier New" panose="02070309020205020404" pitchFamily="49" charset="0"/>
            </a:endParaRPr>
          </a:p>
        </p:txBody>
      </p:sp>
    </p:spTree>
    <p:extLst>
      <p:ext uri="{BB962C8B-B14F-4D97-AF65-F5344CB8AC3E}">
        <p14:creationId xmlns:p14="http://schemas.microsoft.com/office/powerpoint/2010/main" val="576405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7" grpId="0"/>
      <p:bldP spid="5" grpId="0"/>
      <p:bldP spid="29" grpId="0"/>
      <p:bldP spid="22" grpId="0"/>
      <p:bldP spid="31" grpId="0"/>
      <p:bldP spid="17" grpId="0"/>
      <p:bldP spid="32" grpId="0"/>
      <p:bldP spid="16" grpId="0"/>
      <p:bldP spid="30"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0">
          <a:extLst>
            <a:ext uri="{FF2B5EF4-FFF2-40B4-BE49-F238E27FC236}">
              <a16:creationId xmlns:a16="http://schemas.microsoft.com/office/drawing/2014/main" id="{8A5F8DFD-A0E8-C4FE-C110-3962245A4F0D}"/>
            </a:ext>
          </a:extLst>
        </p:cNvPr>
        <p:cNvGrpSpPr/>
        <p:nvPr/>
      </p:nvGrpSpPr>
      <p:grpSpPr>
        <a:xfrm>
          <a:off x="0" y="0"/>
          <a:ext cx="0" cy="0"/>
          <a:chOff x="0" y="0"/>
          <a:chExt cx="0" cy="0"/>
        </a:xfrm>
      </p:grpSpPr>
      <p:sp>
        <p:nvSpPr>
          <p:cNvPr id="451" name="Google Shape;451;p59">
            <a:extLst>
              <a:ext uri="{FF2B5EF4-FFF2-40B4-BE49-F238E27FC236}">
                <a16:creationId xmlns:a16="http://schemas.microsoft.com/office/drawing/2014/main" id="{B3F10483-0D07-2396-2C61-7CF1E450BBB8}"/>
              </a:ext>
            </a:extLst>
          </p:cNvPr>
          <p:cNvSpPr txBox="1">
            <a:spLocks noGrp="1"/>
          </p:cNvSpPr>
          <p:nvPr>
            <p:ph type="body" idx="1"/>
          </p:nvPr>
        </p:nvSpPr>
        <p:spPr>
          <a:xfrm>
            <a:off x="3709488" y="4081925"/>
            <a:ext cx="4729974" cy="1596847"/>
          </a:xfrm>
          <a:prstGeom prst="rect">
            <a:avLst/>
          </a:prstGeom>
        </p:spPr>
        <p:txBody>
          <a:bodyPr spcFirstLastPara="1" vert="horz" wrap="square" lIns="243800" tIns="243800" rIns="243800" bIns="243800" rtlCol="0" anchor="t" anchorCtr="0">
            <a:normAutofit/>
          </a:bodyPr>
          <a:lstStyle/>
          <a:p>
            <a:pPr marL="237099" indent="0">
              <a:buSzPts val="22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Indexing</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52" name="Google Shape;452;p59">
            <a:extLst>
              <a:ext uri="{FF2B5EF4-FFF2-40B4-BE49-F238E27FC236}">
                <a16:creationId xmlns:a16="http://schemas.microsoft.com/office/drawing/2014/main" id="{29CA8708-C1A9-7D20-1231-94D6E6E5B7C8}"/>
              </a:ext>
            </a:extLst>
          </p:cNvPr>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40</a:t>
            </a:fld>
            <a:endParaRPr>
              <a:solidFill>
                <a:schemeClr val="accent1"/>
              </a:solidFill>
              <a:latin typeface="Lato"/>
              <a:ea typeface="Lato"/>
              <a:cs typeface="Lato"/>
              <a:sym typeface="Lato"/>
            </a:endParaRPr>
          </a:p>
        </p:txBody>
      </p:sp>
      <p:sp>
        <p:nvSpPr>
          <p:cNvPr id="5" name="Google Shape;412;p56">
            <a:extLst>
              <a:ext uri="{FF2B5EF4-FFF2-40B4-BE49-F238E27FC236}">
                <a16:creationId xmlns:a16="http://schemas.microsoft.com/office/drawing/2014/main" id="{90DC03D0-E68A-4445-A7D1-AF17A28A29FD}"/>
              </a:ext>
            </a:extLst>
          </p:cNvPr>
          <p:cNvSpPr txBox="1">
            <a:spLocks noGrp="1"/>
          </p:cNvSpPr>
          <p:nvPr>
            <p:ph type="title"/>
          </p:nvPr>
        </p:nvSpPr>
        <p:spPr>
          <a:xfrm>
            <a:off x="298453" y="249400"/>
            <a:ext cx="20503200" cy="1427200"/>
          </a:xfrm>
          <a:prstGeom prst="rect">
            <a:avLst/>
          </a:prstGeom>
        </p:spPr>
        <p:txBody>
          <a:bodyPr spcFirstLastPara="1" vert="horz" wrap="square" lIns="243800" tIns="243800" rIns="243800" bIns="243800" rtlCol="0" anchor="t" anchorCtr="0">
            <a:normAutofit/>
          </a:bodyPr>
          <a:lstStyle/>
          <a:p>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Google Shape;451;p59">
            <a:extLst>
              <a:ext uri="{FF2B5EF4-FFF2-40B4-BE49-F238E27FC236}">
                <a16:creationId xmlns:a16="http://schemas.microsoft.com/office/drawing/2014/main" id="{7B0BF095-F300-5BB3-440F-1234B3FCE122}"/>
              </a:ext>
            </a:extLst>
          </p:cNvPr>
          <p:cNvSpPr txBox="1">
            <a:spLocks/>
          </p:cNvSpPr>
          <p:nvPr/>
        </p:nvSpPr>
        <p:spPr>
          <a:xfrm>
            <a:off x="3709488" y="5057292"/>
            <a:ext cx="7920376"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Operations</a:t>
            </a:r>
          </a:p>
        </p:txBody>
      </p:sp>
      <p:sp>
        <p:nvSpPr>
          <p:cNvPr id="7" name="Google Shape;451;p59">
            <a:extLst>
              <a:ext uri="{FF2B5EF4-FFF2-40B4-BE49-F238E27FC236}">
                <a16:creationId xmlns:a16="http://schemas.microsoft.com/office/drawing/2014/main" id="{D52E2565-657C-C983-F828-682BE32A6150}"/>
              </a:ext>
            </a:extLst>
          </p:cNvPr>
          <p:cNvSpPr txBox="1">
            <a:spLocks/>
          </p:cNvSpPr>
          <p:nvPr/>
        </p:nvSpPr>
        <p:spPr>
          <a:xfrm>
            <a:off x="3709488" y="6032659"/>
            <a:ext cx="10039169" cy="1596847"/>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Comprehension</a:t>
            </a:r>
          </a:p>
        </p:txBody>
      </p:sp>
      <p:sp>
        <p:nvSpPr>
          <p:cNvPr id="8" name="Google Shape;451;p59">
            <a:extLst>
              <a:ext uri="{FF2B5EF4-FFF2-40B4-BE49-F238E27FC236}">
                <a16:creationId xmlns:a16="http://schemas.microsoft.com/office/drawing/2014/main" id="{1C1CBC62-FEC9-C028-DDB3-B472E68EDBC8}"/>
              </a:ext>
            </a:extLst>
          </p:cNvPr>
          <p:cNvSpPr txBox="1">
            <a:spLocks/>
          </p:cNvSpPr>
          <p:nvPr/>
        </p:nvSpPr>
        <p:spPr>
          <a:xfrm>
            <a:off x="3709488" y="6980982"/>
            <a:ext cx="8085269" cy="2030752"/>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String/list Interop</a:t>
            </a:r>
          </a:p>
        </p:txBody>
      </p:sp>
      <p:sp>
        <p:nvSpPr>
          <p:cNvPr id="9" name="Google Shape;451;p59">
            <a:extLst>
              <a:ext uri="{FF2B5EF4-FFF2-40B4-BE49-F238E27FC236}">
                <a16:creationId xmlns:a16="http://schemas.microsoft.com/office/drawing/2014/main" id="{4589E4A5-4AE1-4927-E7C2-2BFFF84C1B26}"/>
              </a:ext>
            </a:extLst>
          </p:cNvPr>
          <p:cNvSpPr txBox="1">
            <a:spLocks/>
          </p:cNvSpPr>
          <p:nvPr/>
        </p:nvSpPr>
        <p:spPr>
          <a:xfrm>
            <a:off x="3709488" y="7956349"/>
            <a:ext cx="9578717" cy="1775476"/>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237099" indent="0">
              <a:buSzPts val="22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Tree>
    <p:extLst>
      <p:ext uri="{BB962C8B-B14F-4D97-AF65-F5344CB8AC3E}">
        <p14:creationId xmlns:p14="http://schemas.microsoft.com/office/powerpoint/2010/main" val="264335890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
        <p:nvSpPr>
          <p:cNvPr id="12" name="Google Shape;502;p64">
            <a:extLst>
              <a:ext uri="{FF2B5EF4-FFF2-40B4-BE49-F238E27FC236}">
                <a16:creationId xmlns:a16="http://schemas.microsoft.com/office/drawing/2014/main" id="{92EF44ED-4CD4-87F1-60ED-89D5DBD328F5}"/>
              </a:ext>
            </a:extLst>
          </p:cNvPr>
          <p:cNvSpPr txBox="1">
            <a:spLocks noGrp="1"/>
          </p:cNvSpPr>
          <p:nvPr>
            <p:ph type="body" idx="1"/>
          </p:nvPr>
        </p:nvSpPr>
        <p:spPr>
          <a:xfrm>
            <a:off x="1940651" y="2763142"/>
            <a:ext cx="28924359" cy="3028058"/>
          </a:xfrm>
          <a:prstGeom prst="rect">
            <a:avLst/>
          </a:prstGeom>
        </p:spPr>
        <p:txBody>
          <a:bodyPr spcFirstLastPara="1" vert="horz" wrap="square" lIns="243800" tIns="243800" rIns="243800" bIns="243800" rtlCol="0" anchor="t" anchorCtr="0">
            <a:noAutofit/>
          </a:bodyPr>
          <a:lstStyle/>
          <a:p>
            <a:pPr marL="389519" indent="0">
              <a:buNone/>
            </a:pPr>
            <a:r>
              <a:rPr lang="en"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 list inside a list [inside a list inside …]</a:t>
            </a:r>
          </a:p>
        </p:txBody>
      </p:sp>
      <p:grpSp>
        <p:nvGrpSpPr>
          <p:cNvPr id="15" name="Group 14">
            <a:extLst>
              <a:ext uri="{FF2B5EF4-FFF2-40B4-BE49-F238E27FC236}">
                <a16:creationId xmlns:a16="http://schemas.microsoft.com/office/drawing/2014/main" id="{811BA2B3-6826-49D4-F4CD-480CF2615CCC}"/>
              </a:ext>
            </a:extLst>
          </p:cNvPr>
          <p:cNvGrpSpPr/>
          <p:nvPr/>
        </p:nvGrpSpPr>
        <p:grpSpPr>
          <a:xfrm>
            <a:off x="7349416" y="4802271"/>
            <a:ext cx="14904602" cy="8127666"/>
            <a:chOff x="7349416" y="4802271"/>
            <a:chExt cx="14904602" cy="8127666"/>
          </a:xfrm>
        </p:grpSpPr>
        <p:pic>
          <p:nvPicPr>
            <p:cNvPr id="1026" name="Picture 2" descr="Always has been Blank Template - Imgflip">
              <a:extLst>
                <a:ext uri="{FF2B5EF4-FFF2-40B4-BE49-F238E27FC236}">
                  <a16:creationId xmlns:a16="http://schemas.microsoft.com/office/drawing/2014/main" id="{846CC731-67EA-6333-A4E1-A8F465249647}"/>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7349416" y="4802271"/>
              <a:ext cx="14904602" cy="8127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E8933018-3ADE-8C8B-66D8-4869169920D9}"/>
                </a:ext>
              </a:extLst>
            </p:cNvPr>
            <p:cNvSpPr txBox="1"/>
            <p:nvPr/>
          </p:nvSpPr>
          <p:spPr>
            <a:xfrm>
              <a:off x="12193587" y="7830330"/>
              <a:ext cx="4781950" cy="769441"/>
            </a:xfrm>
            <a:prstGeom prst="rect">
              <a:avLst/>
            </a:prstGeom>
            <a:noFill/>
          </p:spPr>
          <p:txBody>
            <a:bodyPr wrap="none" rtlCol="0">
              <a:spAutoFit/>
            </a:bodyPr>
            <a:lstStyle/>
            <a:p>
              <a:r>
                <a:rPr lang="en-US" sz="4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Wait, it’s all lists?</a:t>
              </a:r>
            </a:p>
          </p:txBody>
        </p:sp>
        <p:sp>
          <p:nvSpPr>
            <p:cNvPr id="14" name="TextBox 13">
              <a:extLst>
                <a:ext uri="{FF2B5EF4-FFF2-40B4-BE49-F238E27FC236}">
                  <a16:creationId xmlns:a16="http://schemas.microsoft.com/office/drawing/2014/main" id="{1C926048-B20A-7133-0950-A2B2F836C308}"/>
                </a:ext>
              </a:extLst>
            </p:cNvPr>
            <p:cNvSpPr txBox="1"/>
            <p:nvPr/>
          </p:nvSpPr>
          <p:spPr>
            <a:xfrm>
              <a:off x="16680121" y="5182180"/>
              <a:ext cx="4700326" cy="769441"/>
            </a:xfrm>
            <a:prstGeom prst="rect">
              <a:avLst/>
            </a:prstGeom>
            <a:noFill/>
          </p:spPr>
          <p:txBody>
            <a:bodyPr wrap="none" rtlCol="0">
              <a:spAutoFit/>
            </a:bodyPr>
            <a:lstStyle/>
            <a:p>
              <a:r>
                <a:rPr lang="en-US" sz="44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Always has been</a:t>
              </a:r>
            </a:p>
          </p:txBody>
        </p:sp>
      </p:grpSp>
    </p:spTree>
    <p:extLst>
      <p:ext uri="{BB962C8B-B14F-4D97-AF65-F5344CB8AC3E}">
        <p14:creationId xmlns:p14="http://schemas.microsoft.com/office/powerpoint/2010/main" val="41714138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200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par>
                          <p:cTn id="11" fill="hold">
                            <p:stCondLst>
                              <p:cond delay="2500"/>
                            </p:stCondLst>
                            <p:childTnLst>
                              <p:par>
                                <p:cTn id="12" presetID="10" presetClass="exit" presetSubtype="0" fill="hold" nodeType="afterEffect">
                                  <p:stCondLst>
                                    <p:cond delay="1000"/>
                                  </p:stCondLst>
                                  <p:childTnLst>
                                    <p:animEffect transition="out" filter="fade">
                                      <p:cBhvr>
                                        <p:cTn id="13" dur="500"/>
                                        <p:tgtEl>
                                          <p:spTgt spid="15"/>
                                        </p:tgtEl>
                                      </p:cBhvr>
                                    </p:animEffect>
                                    <p:set>
                                      <p:cBhvr>
                                        <p:cTn id="14"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01"/>
        <p:cNvGrpSpPr/>
        <p:nvPr/>
      </p:nvGrpSpPr>
      <p:grpSpPr>
        <a:xfrm>
          <a:off x="0" y="0"/>
          <a:ext cx="0" cy="0"/>
          <a:chOff x="0" y="0"/>
          <a:chExt cx="0" cy="0"/>
        </a:xfrm>
      </p:grpSpPr>
      <p:sp>
        <p:nvSpPr>
          <p:cNvPr id="2" name="Google Shape;412;p56">
            <a:extLst>
              <a:ext uri="{FF2B5EF4-FFF2-40B4-BE49-F238E27FC236}">
                <a16:creationId xmlns:a16="http://schemas.microsoft.com/office/drawing/2014/main" id="{78FAF4A1-E6FF-2A2F-0117-836B1C586B5F}"/>
              </a:ext>
            </a:extLst>
          </p:cNvPr>
          <p:cNvSpPr txBox="1">
            <a:spLocks/>
          </p:cNvSpPr>
          <p:nvPr/>
        </p:nvSpPr>
        <p:spPr>
          <a:xfrm>
            <a:off x="298453" y="249400"/>
            <a:ext cx="20503200" cy="1427200"/>
          </a:xfrm>
          <a:prstGeom prst="rect">
            <a:avLst/>
          </a:prstGeom>
        </p:spPr>
        <p:txBody>
          <a:bodyPr spcFirstLastPara="1" vert="horz" wrap="square" lIns="243800" tIns="243800" rIns="243800" bIns="243800" rtlCol="0" anchor="t" anchorCtr="0">
            <a:norm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List Manipulation</a:t>
            </a:r>
          </a:p>
        </p:txBody>
      </p:sp>
      <p:sp>
        <p:nvSpPr>
          <p:cNvPr id="3" name="Google Shape;412;p56">
            <a:extLst>
              <a:ext uri="{FF2B5EF4-FFF2-40B4-BE49-F238E27FC236}">
                <a16:creationId xmlns:a16="http://schemas.microsoft.com/office/drawing/2014/main" id="{99B14EF1-7E47-C979-A21D-973B3F9EFB8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Multidimensional Lists</a:t>
            </a:r>
          </a:p>
        </p:txBody>
      </p:sp>
      <p:sp>
        <p:nvSpPr>
          <p:cNvPr id="12" name="Google Shape;502;p64">
            <a:extLst>
              <a:ext uri="{FF2B5EF4-FFF2-40B4-BE49-F238E27FC236}">
                <a16:creationId xmlns:a16="http://schemas.microsoft.com/office/drawing/2014/main" id="{92EF44ED-4CD4-87F1-60ED-89D5DBD328F5}"/>
              </a:ext>
            </a:extLst>
          </p:cNvPr>
          <p:cNvSpPr txBox="1">
            <a:spLocks noGrp="1"/>
          </p:cNvSpPr>
          <p:nvPr>
            <p:ph type="body" idx="1"/>
          </p:nvPr>
        </p:nvSpPr>
        <p:spPr>
          <a:xfrm>
            <a:off x="1940651" y="2763142"/>
            <a:ext cx="28924359" cy="3028058"/>
          </a:xfrm>
          <a:prstGeom prst="rect">
            <a:avLst/>
          </a:prstGeom>
        </p:spPr>
        <p:txBody>
          <a:bodyPr spcFirstLastPara="1" vert="horz" wrap="square" lIns="243800" tIns="243800" rIns="243800" bIns="243800" rtlCol="0" anchor="t" anchorCtr="0">
            <a:noAutofit/>
          </a:bodyPr>
          <a:lstStyle/>
          <a:p>
            <a:pPr marL="389519" indent="0">
              <a:buNone/>
            </a:pPr>
            <a:r>
              <a:rPr lang="en" b="1" dirty="0">
                <a:solidFill>
                  <a:srgbClr val="006B64"/>
                </a:solidFill>
                <a:latin typeface="Helvetica Neue" panose="02000503000000020004" pitchFamily="2" charset="0"/>
                <a:ea typeface="Helvetica Neue" panose="02000503000000020004" pitchFamily="2" charset="0"/>
                <a:cs typeface="Helvetica Neue" panose="02000503000000020004" pitchFamily="2" charset="0"/>
              </a:rPr>
              <a:t>A list inside a list [inside a list inside …]</a:t>
            </a:r>
          </a:p>
        </p:txBody>
      </p:sp>
      <p:sp>
        <p:nvSpPr>
          <p:cNvPr id="5" name="TextBox 4">
            <a:extLst>
              <a:ext uri="{FF2B5EF4-FFF2-40B4-BE49-F238E27FC236}">
                <a16:creationId xmlns:a16="http://schemas.microsoft.com/office/drawing/2014/main" id="{DD691EC3-1C55-215D-FEC7-FE593AC2FBFF}"/>
              </a:ext>
            </a:extLst>
          </p:cNvPr>
          <p:cNvSpPr txBox="1"/>
          <p:nvPr/>
        </p:nvSpPr>
        <p:spPr>
          <a:xfrm>
            <a:off x="12193587" y="4277171"/>
            <a:ext cx="10252937" cy="7171194"/>
          </a:xfrm>
          <a:prstGeom prst="rect">
            <a:avLst/>
          </a:prstGeom>
          <a:noFill/>
        </p:spPr>
        <p:txBody>
          <a:bodyPr wrap="square">
            <a:spAutoFit/>
          </a:bodyPr>
          <a:lstStyle/>
          <a:p>
            <a:r>
              <a:rPr lang="en-US" sz="11500" dirty="0">
                <a:solidFill>
                  <a:srgbClr val="000000"/>
                </a:solidFill>
                <a:latin typeface="Courier New" panose="02070309020205020404" pitchFamily="49" charset="0"/>
              </a:rPr>
              <a:t>  </a:t>
            </a:r>
            <a:r>
              <a:rPr lang="en-US" sz="11500" dirty="0" err="1">
                <a:solidFill>
                  <a:srgbClr val="000000"/>
                </a:solidFill>
                <a:latin typeface="Courier New" panose="02070309020205020404" pitchFamily="49" charset="0"/>
              </a:rPr>
              <a:t>my_list</a:t>
            </a:r>
            <a:endParaRPr lang="en-US" sz="11500" b="0" dirty="0">
              <a:solidFill>
                <a:srgbClr val="000000"/>
              </a:solidFill>
              <a:effectLst/>
              <a:latin typeface="Courier New" panose="02070309020205020404" pitchFamily="49" charset="0"/>
            </a:endParaRPr>
          </a:p>
          <a:p>
            <a:r>
              <a:rPr lang="en-US" sz="11500" b="0" dirty="0">
                <a:solidFill>
                  <a:srgbClr val="000000"/>
                </a:solidFill>
                <a:effectLst/>
                <a:latin typeface="Courier New" panose="02070309020205020404" pitchFamily="49" charset="0"/>
              </a:rPr>
              <a:t>[[</a:t>
            </a:r>
            <a:r>
              <a:rPr lang="en-US" sz="11500" b="0" dirty="0">
                <a:solidFill>
                  <a:srgbClr val="098156"/>
                </a:solidFill>
                <a:effectLst/>
                <a:latin typeface="Courier New" panose="02070309020205020404" pitchFamily="49" charset="0"/>
              </a:rPr>
              <a:t>1</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2</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3</a:t>
            </a:r>
            <a:r>
              <a:rPr lang="en-US" sz="11500" b="0" dirty="0">
                <a:solidFill>
                  <a:srgbClr val="000000"/>
                </a:solidFill>
                <a:effectLst/>
                <a:latin typeface="Courier New" panose="02070309020205020404" pitchFamily="49" charset="0"/>
              </a:rPr>
              <a:t>],</a:t>
            </a:r>
          </a:p>
          <a:p>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4</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5</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6</a:t>
            </a:r>
            <a:r>
              <a:rPr lang="en-US" sz="11500" b="0" dirty="0">
                <a:solidFill>
                  <a:srgbClr val="000000"/>
                </a:solidFill>
                <a:effectLst/>
                <a:latin typeface="Courier New" panose="02070309020205020404" pitchFamily="49" charset="0"/>
              </a:rPr>
              <a:t>],</a:t>
            </a:r>
          </a:p>
          <a:p>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7</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8</a:t>
            </a:r>
            <a:r>
              <a:rPr lang="en-US" sz="11500" b="0" dirty="0">
                <a:solidFill>
                  <a:srgbClr val="000000"/>
                </a:solidFill>
                <a:effectLst/>
                <a:latin typeface="Courier New" panose="02070309020205020404" pitchFamily="49" charset="0"/>
              </a:rPr>
              <a:t>, </a:t>
            </a:r>
            <a:r>
              <a:rPr lang="en-US" sz="11500" b="0" dirty="0">
                <a:solidFill>
                  <a:srgbClr val="098156"/>
                </a:solidFill>
                <a:effectLst/>
                <a:latin typeface="Courier New" panose="02070309020205020404" pitchFamily="49" charset="0"/>
              </a:rPr>
              <a:t>9</a:t>
            </a:r>
            <a:r>
              <a:rPr lang="en-US" sz="11500" b="0" dirty="0">
                <a:solidFill>
                  <a:srgbClr val="000000"/>
                </a:solidFill>
                <a:effectLst/>
                <a:latin typeface="Courier New" panose="02070309020205020404" pitchFamily="49" charset="0"/>
              </a:rPr>
              <a:t>]]</a:t>
            </a:r>
          </a:p>
        </p:txBody>
      </p:sp>
      <p:sp>
        <p:nvSpPr>
          <p:cNvPr id="8" name="TextBox 7">
            <a:extLst>
              <a:ext uri="{FF2B5EF4-FFF2-40B4-BE49-F238E27FC236}">
                <a16:creationId xmlns:a16="http://schemas.microsoft.com/office/drawing/2014/main" id="{1764DEA5-092B-AEA6-F565-9C4DA65F0F49}"/>
              </a:ext>
            </a:extLst>
          </p:cNvPr>
          <p:cNvSpPr txBox="1"/>
          <p:nvPr/>
        </p:nvSpPr>
        <p:spPr>
          <a:xfrm>
            <a:off x="1277448" y="5283368"/>
            <a:ext cx="4995305"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 </a:t>
            </a:r>
            <a:r>
              <a:rPr lang="en-US" sz="6000" b="0" dirty="0">
                <a:solidFill>
                  <a:srgbClr val="000000"/>
                </a:solidFill>
                <a:effectLst/>
                <a:latin typeface="Courier New" panose="02070309020205020404" pitchFamily="49" charset="0"/>
              </a:rPr>
              <a:t>]</a:t>
            </a:r>
          </a:p>
        </p:txBody>
      </p:sp>
      <p:sp>
        <p:nvSpPr>
          <p:cNvPr id="9" name="TextBox 8">
            <a:extLst>
              <a:ext uri="{FF2B5EF4-FFF2-40B4-BE49-F238E27FC236}">
                <a16:creationId xmlns:a16="http://schemas.microsoft.com/office/drawing/2014/main" id="{B7FCB2BA-C9AD-AF27-D61A-4A75D002C1A1}"/>
              </a:ext>
            </a:extLst>
          </p:cNvPr>
          <p:cNvSpPr txBox="1"/>
          <p:nvPr/>
        </p:nvSpPr>
        <p:spPr>
          <a:xfrm>
            <a:off x="4935935" y="5283367"/>
            <a:ext cx="73027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0</a:t>
            </a:r>
            <a:endParaRPr lang="en-US" sz="6000" b="0" dirty="0">
              <a:solidFill>
                <a:srgbClr val="000000"/>
              </a:solidFill>
              <a:effectLst/>
              <a:latin typeface="Courier New" panose="02070309020205020404" pitchFamily="49" charset="0"/>
            </a:endParaRPr>
          </a:p>
        </p:txBody>
      </p:sp>
      <p:sp>
        <p:nvSpPr>
          <p:cNvPr id="10" name="TextBox 9">
            <a:extLst>
              <a:ext uri="{FF2B5EF4-FFF2-40B4-BE49-F238E27FC236}">
                <a16:creationId xmlns:a16="http://schemas.microsoft.com/office/drawing/2014/main" id="{98535E70-F0B8-58A5-6902-24E716299A4F}"/>
              </a:ext>
            </a:extLst>
          </p:cNvPr>
          <p:cNvSpPr txBox="1"/>
          <p:nvPr/>
        </p:nvSpPr>
        <p:spPr>
          <a:xfrm>
            <a:off x="4935935" y="5283367"/>
            <a:ext cx="73027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2</a:t>
            </a:r>
            <a:endParaRPr lang="en-US" sz="6000" b="0" dirty="0">
              <a:solidFill>
                <a:srgbClr val="000000"/>
              </a:solidFill>
              <a:effectLst/>
              <a:latin typeface="Courier New" panose="02070309020205020404" pitchFamily="49" charset="0"/>
            </a:endParaRPr>
          </a:p>
        </p:txBody>
      </p:sp>
      <p:sp>
        <p:nvSpPr>
          <p:cNvPr id="11" name="Rectangle 10">
            <a:extLst>
              <a:ext uri="{FF2B5EF4-FFF2-40B4-BE49-F238E27FC236}">
                <a16:creationId xmlns:a16="http://schemas.microsoft.com/office/drawing/2014/main" id="{A0FF6B28-CE02-EBF7-BA82-5B6243064064}"/>
              </a:ext>
            </a:extLst>
          </p:cNvPr>
          <p:cNvSpPr/>
          <p:nvPr/>
        </p:nvSpPr>
        <p:spPr>
          <a:xfrm>
            <a:off x="13459327" y="6299030"/>
            <a:ext cx="7339978" cy="1385137"/>
          </a:xfrm>
          <a:prstGeom prst="rect">
            <a:avLst/>
          </a:prstGeom>
          <a:noFill/>
          <a:ln w="76200">
            <a:solidFill>
              <a:srgbClr val="004C7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FB0A704-19F5-3C55-9A1F-61A3C3D6BDE0}"/>
              </a:ext>
            </a:extLst>
          </p:cNvPr>
          <p:cNvSpPr txBox="1"/>
          <p:nvPr/>
        </p:nvSpPr>
        <p:spPr>
          <a:xfrm>
            <a:off x="4935935" y="5283366"/>
            <a:ext cx="73027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17" name="TextBox 16">
            <a:extLst>
              <a:ext uri="{FF2B5EF4-FFF2-40B4-BE49-F238E27FC236}">
                <a16:creationId xmlns:a16="http://schemas.microsoft.com/office/drawing/2014/main" id="{C831A0C5-983E-2F0F-340D-8255625C3A94}"/>
              </a:ext>
            </a:extLst>
          </p:cNvPr>
          <p:cNvSpPr txBox="1"/>
          <p:nvPr/>
        </p:nvSpPr>
        <p:spPr>
          <a:xfrm>
            <a:off x="1277447" y="6668504"/>
            <a:ext cx="6262342"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my_list</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 </a:t>
            </a:r>
            <a:r>
              <a:rPr lang="en-US" sz="6000" b="0" dirty="0">
                <a:solidFill>
                  <a:srgbClr val="000000"/>
                </a:solidFill>
                <a:effectLst/>
                <a:latin typeface="Courier New" panose="02070309020205020404" pitchFamily="49" charset="0"/>
              </a:rPr>
              <a:t>][</a:t>
            </a:r>
            <a:r>
              <a:rPr lang="en-US" sz="6000" dirty="0">
                <a:solidFill>
                  <a:srgbClr val="098156"/>
                </a:solidFill>
                <a:latin typeface="Courier New" panose="02070309020205020404" pitchFamily="49" charset="0"/>
              </a:rPr>
              <a:t> </a:t>
            </a:r>
            <a:r>
              <a:rPr lang="en-US" sz="6000" b="0" dirty="0">
                <a:solidFill>
                  <a:srgbClr val="000000"/>
                </a:solidFill>
                <a:effectLst/>
                <a:latin typeface="Courier New" panose="02070309020205020404" pitchFamily="49" charset="0"/>
              </a:rPr>
              <a:t>]</a:t>
            </a:r>
          </a:p>
        </p:txBody>
      </p:sp>
      <p:sp>
        <p:nvSpPr>
          <p:cNvPr id="20" name="TextBox 19">
            <a:extLst>
              <a:ext uri="{FF2B5EF4-FFF2-40B4-BE49-F238E27FC236}">
                <a16:creationId xmlns:a16="http://schemas.microsoft.com/office/drawing/2014/main" id="{9E6C7911-F4EC-00DA-5C54-AFA6992D855A}"/>
              </a:ext>
            </a:extLst>
          </p:cNvPr>
          <p:cNvSpPr txBox="1"/>
          <p:nvPr/>
        </p:nvSpPr>
        <p:spPr>
          <a:xfrm>
            <a:off x="4936339" y="6668504"/>
            <a:ext cx="73027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0</a:t>
            </a:r>
            <a:endParaRPr lang="en-US" sz="6000" b="0" dirty="0">
              <a:solidFill>
                <a:srgbClr val="000000"/>
              </a:solidFill>
              <a:effectLst/>
              <a:latin typeface="Courier New" panose="02070309020205020404" pitchFamily="49" charset="0"/>
            </a:endParaRPr>
          </a:p>
        </p:txBody>
      </p:sp>
      <p:sp>
        <p:nvSpPr>
          <p:cNvPr id="22" name="TextBox 21">
            <a:extLst>
              <a:ext uri="{FF2B5EF4-FFF2-40B4-BE49-F238E27FC236}">
                <a16:creationId xmlns:a16="http://schemas.microsoft.com/office/drawing/2014/main" id="{D96B3DE4-4EA9-C93F-10DB-8AD92A346C6B}"/>
              </a:ext>
            </a:extLst>
          </p:cNvPr>
          <p:cNvSpPr txBox="1"/>
          <p:nvPr/>
        </p:nvSpPr>
        <p:spPr>
          <a:xfrm>
            <a:off x="6306569" y="6668503"/>
            <a:ext cx="730271" cy="1015663"/>
          </a:xfrm>
          <a:prstGeom prst="rect">
            <a:avLst/>
          </a:prstGeom>
          <a:noFill/>
        </p:spPr>
        <p:txBody>
          <a:bodyPr wrap="square">
            <a:spAutoFit/>
          </a:bodyPr>
          <a:lstStyle/>
          <a:p>
            <a:r>
              <a:rPr lang="en-US" sz="6000" b="0" dirty="0">
                <a:solidFill>
                  <a:srgbClr val="098156"/>
                </a:solidFill>
                <a:effectLst/>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23" name="TextBox 22">
            <a:extLst>
              <a:ext uri="{FF2B5EF4-FFF2-40B4-BE49-F238E27FC236}">
                <a16:creationId xmlns:a16="http://schemas.microsoft.com/office/drawing/2014/main" id="{79844DED-593F-30DD-C33B-4985EDA3A3C0}"/>
              </a:ext>
            </a:extLst>
          </p:cNvPr>
          <p:cNvSpPr txBox="1"/>
          <p:nvPr/>
        </p:nvSpPr>
        <p:spPr>
          <a:xfrm>
            <a:off x="4956128" y="6667801"/>
            <a:ext cx="73027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2</a:t>
            </a:r>
            <a:endParaRPr lang="en-US" sz="6000" b="0" dirty="0">
              <a:solidFill>
                <a:srgbClr val="000000"/>
              </a:solidFill>
              <a:effectLst/>
              <a:latin typeface="Courier New" panose="02070309020205020404" pitchFamily="49" charset="0"/>
            </a:endParaRPr>
          </a:p>
        </p:txBody>
      </p:sp>
      <p:sp>
        <p:nvSpPr>
          <p:cNvPr id="24" name="TextBox 23">
            <a:extLst>
              <a:ext uri="{FF2B5EF4-FFF2-40B4-BE49-F238E27FC236}">
                <a16:creationId xmlns:a16="http://schemas.microsoft.com/office/drawing/2014/main" id="{AB47A3F1-4EE9-1D26-5581-5570406613FE}"/>
              </a:ext>
            </a:extLst>
          </p:cNvPr>
          <p:cNvSpPr txBox="1"/>
          <p:nvPr/>
        </p:nvSpPr>
        <p:spPr>
          <a:xfrm>
            <a:off x="6306569" y="6667800"/>
            <a:ext cx="73027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0</a:t>
            </a:r>
            <a:endParaRPr lang="en-US" sz="6000" b="0" dirty="0">
              <a:solidFill>
                <a:srgbClr val="000000"/>
              </a:solidFill>
              <a:effectLst/>
              <a:latin typeface="Courier New" panose="02070309020205020404" pitchFamily="49" charset="0"/>
            </a:endParaRPr>
          </a:p>
        </p:txBody>
      </p:sp>
      <p:sp>
        <p:nvSpPr>
          <p:cNvPr id="25" name="TextBox 24">
            <a:extLst>
              <a:ext uri="{FF2B5EF4-FFF2-40B4-BE49-F238E27FC236}">
                <a16:creationId xmlns:a16="http://schemas.microsoft.com/office/drawing/2014/main" id="{3CF6655F-685C-84C2-BFE5-4986F9FA5A0E}"/>
              </a:ext>
            </a:extLst>
          </p:cNvPr>
          <p:cNvSpPr txBox="1"/>
          <p:nvPr/>
        </p:nvSpPr>
        <p:spPr>
          <a:xfrm>
            <a:off x="4935934" y="5283365"/>
            <a:ext cx="730271"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i</a:t>
            </a:r>
            <a:endParaRPr lang="en-US" sz="6000" b="0" dirty="0">
              <a:solidFill>
                <a:srgbClr val="000000"/>
              </a:solidFill>
              <a:effectLst/>
              <a:latin typeface="Courier New" panose="02070309020205020404" pitchFamily="49" charset="0"/>
            </a:endParaRPr>
          </a:p>
        </p:txBody>
      </p:sp>
      <p:sp>
        <p:nvSpPr>
          <p:cNvPr id="26" name="Rectangle 25">
            <a:extLst>
              <a:ext uri="{FF2B5EF4-FFF2-40B4-BE49-F238E27FC236}">
                <a16:creationId xmlns:a16="http://schemas.microsoft.com/office/drawing/2014/main" id="{CBC9352F-2CA5-59C0-B7EA-1C5DB23F1FBF}"/>
              </a:ext>
            </a:extLst>
          </p:cNvPr>
          <p:cNvSpPr/>
          <p:nvPr/>
        </p:nvSpPr>
        <p:spPr>
          <a:xfrm>
            <a:off x="16525689" y="6299029"/>
            <a:ext cx="1136669" cy="1385137"/>
          </a:xfrm>
          <a:prstGeom prst="rect">
            <a:avLst/>
          </a:prstGeom>
          <a:noFill/>
          <a:ln w="76200">
            <a:solidFill>
              <a:srgbClr val="004C7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C1509C-50EA-805F-1706-165BD6B7A9CA}"/>
              </a:ext>
            </a:extLst>
          </p:cNvPr>
          <p:cNvSpPr txBox="1"/>
          <p:nvPr/>
        </p:nvSpPr>
        <p:spPr>
          <a:xfrm>
            <a:off x="4944360" y="6674930"/>
            <a:ext cx="73027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1</a:t>
            </a:r>
            <a:endParaRPr lang="en-US" sz="6000" b="0" dirty="0">
              <a:solidFill>
                <a:srgbClr val="000000"/>
              </a:solidFill>
              <a:effectLst/>
              <a:latin typeface="Courier New" panose="02070309020205020404" pitchFamily="49" charset="0"/>
            </a:endParaRPr>
          </a:p>
        </p:txBody>
      </p:sp>
      <p:sp>
        <p:nvSpPr>
          <p:cNvPr id="28" name="TextBox 27">
            <a:extLst>
              <a:ext uri="{FF2B5EF4-FFF2-40B4-BE49-F238E27FC236}">
                <a16:creationId xmlns:a16="http://schemas.microsoft.com/office/drawing/2014/main" id="{E9576B41-B488-3645-42AF-2C6B1B843D7D}"/>
              </a:ext>
            </a:extLst>
          </p:cNvPr>
          <p:cNvSpPr txBox="1"/>
          <p:nvPr/>
        </p:nvSpPr>
        <p:spPr>
          <a:xfrm>
            <a:off x="6326358" y="6674930"/>
            <a:ext cx="730271" cy="1015663"/>
          </a:xfrm>
          <a:prstGeom prst="rect">
            <a:avLst/>
          </a:prstGeom>
          <a:noFill/>
        </p:spPr>
        <p:txBody>
          <a:bodyPr wrap="square">
            <a:spAutoFit/>
          </a:bodyPr>
          <a:lstStyle/>
          <a:p>
            <a:r>
              <a:rPr lang="en-US" sz="6000" dirty="0">
                <a:solidFill>
                  <a:srgbClr val="098156"/>
                </a:solidFill>
                <a:latin typeface="Courier New" panose="02070309020205020404" pitchFamily="49" charset="0"/>
              </a:rPr>
              <a:t>2</a:t>
            </a:r>
            <a:endParaRPr lang="en-US" sz="6000" b="0" dirty="0">
              <a:solidFill>
                <a:srgbClr val="000000"/>
              </a:solidFill>
              <a:effectLst/>
              <a:latin typeface="Courier New" panose="02070309020205020404" pitchFamily="49" charset="0"/>
            </a:endParaRPr>
          </a:p>
        </p:txBody>
      </p:sp>
      <p:sp>
        <p:nvSpPr>
          <p:cNvPr id="29" name="TextBox 28">
            <a:extLst>
              <a:ext uri="{FF2B5EF4-FFF2-40B4-BE49-F238E27FC236}">
                <a16:creationId xmlns:a16="http://schemas.microsoft.com/office/drawing/2014/main" id="{F2718C0D-18BB-89A2-40AB-3908E3B19DB7}"/>
              </a:ext>
            </a:extLst>
          </p:cNvPr>
          <p:cNvSpPr txBox="1"/>
          <p:nvPr/>
        </p:nvSpPr>
        <p:spPr>
          <a:xfrm>
            <a:off x="4935933" y="6674930"/>
            <a:ext cx="730271" cy="1015663"/>
          </a:xfrm>
          <a:prstGeom prst="rect">
            <a:avLst/>
          </a:prstGeom>
          <a:noFill/>
        </p:spPr>
        <p:txBody>
          <a:bodyPr wrap="square">
            <a:spAutoFit/>
          </a:bodyPr>
          <a:lstStyle/>
          <a:p>
            <a:r>
              <a:rPr lang="en-US" sz="6000" b="0" dirty="0" err="1">
                <a:solidFill>
                  <a:srgbClr val="000000"/>
                </a:solidFill>
                <a:effectLst/>
                <a:latin typeface="Courier New" panose="02070309020205020404" pitchFamily="49" charset="0"/>
              </a:rPr>
              <a:t>i</a:t>
            </a:r>
            <a:endParaRPr lang="en-US" sz="6000" b="0" dirty="0">
              <a:solidFill>
                <a:srgbClr val="000000"/>
              </a:solidFill>
              <a:effectLst/>
              <a:latin typeface="Courier New" panose="02070309020205020404" pitchFamily="49" charset="0"/>
            </a:endParaRPr>
          </a:p>
        </p:txBody>
      </p:sp>
      <p:sp>
        <p:nvSpPr>
          <p:cNvPr id="30" name="TextBox 29">
            <a:extLst>
              <a:ext uri="{FF2B5EF4-FFF2-40B4-BE49-F238E27FC236}">
                <a16:creationId xmlns:a16="http://schemas.microsoft.com/office/drawing/2014/main" id="{74CA041F-1767-8182-9A0B-6C1F02ED2202}"/>
              </a:ext>
            </a:extLst>
          </p:cNvPr>
          <p:cNvSpPr txBox="1"/>
          <p:nvPr/>
        </p:nvSpPr>
        <p:spPr>
          <a:xfrm>
            <a:off x="6272753" y="6661374"/>
            <a:ext cx="730271" cy="1015663"/>
          </a:xfrm>
          <a:prstGeom prst="rect">
            <a:avLst/>
          </a:prstGeom>
          <a:noFill/>
        </p:spPr>
        <p:txBody>
          <a:bodyPr wrap="square">
            <a:spAutoFit/>
          </a:bodyPr>
          <a:lstStyle/>
          <a:p>
            <a:r>
              <a:rPr lang="en-US" sz="6000" b="0" dirty="0">
                <a:solidFill>
                  <a:srgbClr val="000000"/>
                </a:solidFill>
                <a:effectLst/>
                <a:latin typeface="Courier New" panose="02070309020205020404" pitchFamily="49" charset="0"/>
              </a:rPr>
              <a:t>j</a:t>
            </a:r>
          </a:p>
        </p:txBody>
      </p:sp>
    </p:spTree>
    <p:extLst>
      <p:ext uri="{BB962C8B-B14F-4D97-AF65-F5344CB8AC3E}">
        <p14:creationId xmlns:p14="http://schemas.microsoft.com/office/powerpoint/2010/main" val="18880579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grpId="1" nodeType="clickEffect">
                                  <p:stCondLst>
                                    <p:cond delay="0"/>
                                  </p:stCondLst>
                                  <p:childTnLst>
                                    <p:animEffect transition="out" filter="fade">
                                      <p:cBhvr>
                                        <p:cTn id="19" dur="500"/>
                                        <p:tgtEl>
                                          <p:spTgt spid="9"/>
                                        </p:tgtEl>
                                      </p:cBhvr>
                                    </p:animEffect>
                                    <p:set>
                                      <p:cBhvr>
                                        <p:cTn id="20" dur="1" fill="hold">
                                          <p:stCondLst>
                                            <p:cond delay="499"/>
                                          </p:stCondLst>
                                        </p:cTn>
                                        <p:tgtEl>
                                          <p:spTgt spid="9"/>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42" presetClass="path" presetSubtype="0" accel="50000" decel="50000" fill="hold" grpId="1" nodeType="withEffect">
                                  <p:stCondLst>
                                    <p:cond delay="0"/>
                                  </p:stCondLst>
                                  <p:childTnLst>
                                    <p:animMotion origin="layout" path="M -2.50228E-6 -2.22222E-6 L 0.00013 0.25753 " pathEditMode="relative" rAng="0" ptsTypes="AA">
                                      <p:cBhvr>
                                        <p:cTn id="25" dur="1000" fill="hold"/>
                                        <p:tgtEl>
                                          <p:spTgt spid="11"/>
                                        </p:tgtEl>
                                        <p:attrNameLst>
                                          <p:attrName>ppt_x</p:attrName>
                                          <p:attrName>ppt_y</p:attrName>
                                        </p:attrNameLst>
                                      </p:cBhvr>
                                      <p:rCtr x="7" y="12870"/>
                                    </p:animMotion>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grpId="1" nodeType="clickEffect">
                                  <p:stCondLst>
                                    <p:cond delay="0"/>
                                  </p:stCondLst>
                                  <p:childTnLst>
                                    <p:animEffect transition="out" filter="fade">
                                      <p:cBhvr>
                                        <p:cTn id="29" dur="500"/>
                                        <p:tgtEl>
                                          <p:spTgt spid="10"/>
                                        </p:tgtEl>
                                      </p:cBhvr>
                                    </p:animEffect>
                                    <p:set>
                                      <p:cBhvr>
                                        <p:cTn id="30" dur="1" fill="hold">
                                          <p:stCondLst>
                                            <p:cond delay="499"/>
                                          </p:stCondLst>
                                        </p:cTn>
                                        <p:tgtEl>
                                          <p:spTgt spid="10"/>
                                        </p:tgtEl>
                                        <p:attrNameLst>
                                          <p:attrName>style.visibility</p:attrName>
                                        </p:attrNameLst>
                                      </p:cBhvr>
                                      <p:to>
                                        <p:strVal val="hidden"/>
                                      </p:to>
                                    </p:set>
                                  </p:childTnLst>
                                </p:cTn>
                              </p:par>
                              <p:par>
                                <p:cTn id="31" presetID="10"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42" presetClass="path" presetSubtype="0" accel="50000" decel="50000" fill="hold" grpId="2" nodeType="withEffect">
                                  <p:stCondLst>
                                    <p:cond delay="0"/>
                                  </p:stCondLst>
                                  <p:childTnLst>
                                    <p:animMotion origin="layout" path="M 0.00013 0.25753 L 0.00013 0.12766 " pathEditMode="relative" rAng="0" ptsTypes="AA">
                                      <p:cBhvr>
                                        <p:cTn id="35" dur="1000" fill="hold"/>
                                        <p:tgtEl>
                                          <p:spTgt spid="11"/>
                                        </p:tgtEl>
                                        <p:attrNameLst>
                                          <p:attrName>ppt_x</p:attrName>
                                          <p:attrName>ppt_y</p:attrName>
                                        </p:attrNameLst>
                                      </p:cBhvr>
                                      <p:rCtr x="0" y="-6493"/>
                                    </p:animMotion>
                                  </p:childTnLst>
                                </p:cTn>
                              </p:par>
                            </p:childTnLst>
                          </p:cTn>
                        </p:par>
                      </p:childTnLst>
                    </p:cTn>
                  </p:par>
                  <p:par>
                    <p:cTn id="36" fill="hold">
                      <p:stCondLst>
                        <p:cond delay="indefinite"/>
                      </p:stCondLst>
                      <p:childTnLst>
                        <p:par>
                          <p:cTn id="37" fill="hold">
                            <p:stCondLst>
                              <p:cond delay="0"/>
                            </p:stCondLst>
                            <p:childTnLst>
                              <p:par>
                                <p:cTn id="38" presetID="10" presetClass="exit" presetSubtype="0" fill="hold" grpId="2" nodeType="clickEffect">
                                  <p:stCondLst>
                                    <p:cond delay="0"/>
                                  </p:stCondLst>
                                  <p:childTnLst>
                                    <p:animEffect transition="out" filter="fade">
                                      <p:cBhvr>
                                        <p:cTn id="39" dur="500"/>
                                        <p:tgtEl>
                                          <p:spTgt spid="16"/>
                                        </p:tgtEl>
                                      </p:cBhvr>
                                    </p:animEffect>
                                    <p:set>
                                      <p:cBhvr>
                                        <p:cTn id="40" dur="1" fill="hold">
                                          <p:stCondLst>
                                            <p:cond delay="499"/>
                                          </p:stCondLst>
                                        </p:cTn>
                                        <p:tgtEl>
                                          <p:spTgt spid="16"/>
                                        </p:tgtEl>
                                        <p:attrNameLst>
                                          <p:attrName>style.visibility</p:attrName>
                                        </p:attrNameLst>
                                      </p:cBhvr>
                                      <p:to>
                                        <p:strVal val="hidden"/>
                                      </p:to>
                                    </p:set>
                                  </p:childTnLst>
                                </p:cTn>
                              </p:par>
                              <p:par>
                                <p:cTn id="41" presetID="10" presetClass="exit" presetSubtype="0" fill="hold" grpId="3" nodeType="withEffect">
                                  <p:stCondLst>
                                    <p:cond delay="0"/>
                                  </p:stCondLst>
                                  <p:childTnLst>
                                    <p:animEffect transition="out" filter="fade">
                                      <p:cBhvr>
                                        <p:cTn id="42" dur="500"/>
                                        <p:tgtEl>
                                          <p:spTgt spid="11"/>
                                        </p:tgtEl>
                                      </p:cBhvr>
                                    </p:animEffect>
                                    <p:set>
                                      <p:cBhvr>
                                        <p:cTn id="43" dur="1" fill="hold">
                                          <p:stCondLst>
                                            <p:cond delay="49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500"/>
                                        <p:tgtEl>
                                          <p:spTgt spid="26"/>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xit" presetSubtype="0" fill="hold" grpId="1" nodeType="clickEffect">
                                  <p:stCondLst>
                                    <p:cond delay="0"/>
                                  </p:stCondLst>
                                  <p:childTnLst>
                                    <p:animEffect transition="out" filter="fade">
                                      <p:cBhvr>
                                        <p:cTn id="64" dur="500"/>
                                        <p:tgtEl>
                                          <p:spTgt spid="20"/>
                                        </p:tgtEl>
                                      </p:cBhvr>
                                    </p:animEffect>
                                    <p:set>
                                      <p:cBhvr>
                                        <p:cTn id="65" dur="1" fill="hold">
                                          <p:stCondLst>
                                            <p:cond delay="499"/>
                                          </p:stCondLst>
                                        </p:cTn>
                                        <p:tgtEl>
                                          <p:spTgt spid="20"/>
                                        </p:tgtEl>
                                        <p:attrNameLst>
                                          <p:attrName>style.visibility</p:attrName>
                                        </p:attrNameLst>
                                      </p:cBhvr>
                                      <p:to>
                                        <p:strVal val="hidden"/>
                                      </p:to>
                                    </p:set>
                                  </p:childTnLst>
                                </p:cTn>
                              </p:par>
                              <p:par>
                                <p:cTn id="66" presetID="10" presetClass="exit" presetSubtype="0" fill="hold" grpId="1" nodeType="withEffect">
                                  <p:stCondLst>
                                    <p:cond delay="0"/>
                                  </p:stCondLst>
                                  <p:childTnLst>
                                    <p:animEffect transition="out" filter="fade">
                                      <p:cBhvr>
                                        <p:cTn id="67" dur="500"/>
                                        <p:tgtEl>
                                          <p:spTgt spid="22"/>
                                        </p:tgtEl>
                                      </p:cBhvr>
                                    </p:animEffect>
                                    <p:set>
                                      <p:cBhvr>
                                        <p:cTn id="68" dur="1" fill="hold">
                                          <p:stCondLst>
                                            <p:cond delay="499"/>
                                          </p:stCondLst>
                                        </p:cTn>
                                        <p:tgtEl>
                                          <p:spTgt spid="22"/>
                                        </p:tgtEl>
                                        <p:attrNameLst>
                                          <p:attrName>style.visibility</p:attrName>
                                        </p:attrNameLst>
                                      </p:cBhvr>
                                      <p:to>
                                        <p:strVal val="hidden"/>
                                      </p:to>
                                    </p:se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par>
                                <p:cTn id="75" presetID="42" presetClass="path" presetSubtype="0" accel="50000" decel="50000" fill="hold" grpId="1" nodeType="withEffect">
                                  <p:stCondLst>
                                    <p:cond delay="0"/>
                                  </p:stCondLst>
                                  <p:childTnLst>
                                    <p:animMotion origin="layout" path="M -3.97084E-7 -2.22222E-6 L -0.10825 0.25243 " pathEditMode="relative" rAng="0" ptsTypes="AA">
                                      <p:cBhvr>
                                        <p:cTn id="76" dur="1000" fill="hold"/>
                                        <p:tgtEl>
                                          <p:spTgt spid="26"/>
                                        </p:tgtEl>
                                        <p:attrNameLst>
                                          <p:attrName>ppt_x</p:attrName>
                                          <p:attrName>ppt_y</p:attrName>
                                        </p:attrNameLst>
                                      </p:cBhvr>
                                      <p:rCtr x="-5416" y="12616"/>
                                    </p:animMotion>
                                  </p:childTnLst>
                                </p:cTn>
                              </p:par>
                            </p:childTnLst>
                          </p:cTn>
                        </p:par>
                      </p:childTnLst>
                    </p:cTn>
                  </p:par>
                  <p:par>
                    <p:cTn id="77" fill="hold">
                      <p:stCondLst>
                        <p:cond delay="indefinite"/>
                      </p:stCondLst>
                      <p:childTnLst>
                        <p:par>
                          <p:cTn id="78" fill="hold">
                            <p:stCondLst>
                              <p:cond delay="0"/>
                            </p:stCondLst>
                            <p:childTnLst>
                              <p:par>
                                <p:cTn id="79" presetID="10" presetClass="exit" presetSubtype="0" fill="hold" grpId="1" nodeType="clickEffect">
                                  <p:stCondLst>
                                    <p:cond delay="0"/>
                                  </p:stCondLst>
                                  <p:childTnLst>
                                    <p:animEffect transition="out" filter="fade">
                                      <p:cBhvr>
                                        <p:cTn id="80" dur="500"/>
                                        <p:tgtEl>
                                          <p:spTgt spid="23"/>
                                        </p:tgtEl>
                                      </p:cBhvr>
                                    </p:animEffect>
                                    <p:set>
                                      <p:cBhvr>
                                        <p:cTn id="81" dur="1" fill="hold">
                                          <p:stCondLst>
                                            <p:cond delay="499"/>
                                          </p:stCondLst>
                                        </p:cTn>
                                        <p:tgtEl>
                                          <p:spTgt spid="23"/>
                                        </p:tgtEl>
                                        <p:attrNameLst>
                                          <p:attrName>style.visibility</p:attrName>
                                        </p:attrNameLst>
                                      </p:cBhvr>
                                      <p:to>
                                        <p:strVal val="hidden"/>
                                      </p:to>
                                    </p:set>
                                  </p:childTnLst>
                                </p:cTn>
                              </p:par>
                              <p:par>
                                <p:cTn id="82" presetID="10" presetClass="exit" presetSubtype="0" fill="hold" grpId="1" nodeType="withEffect">
                                  <p:stCondLst>
                                    <p:cond delay="0"/>
                                  </p:stCondLst>
                                  <p:childTnLst>
                                    <p:animEffect transition="out" filter="fade">
                                      <p:cBhvr>
                                        <p:cTn id="83" dur="500"/>
                                        <p:tgtEl>
                                          <p:spTgt spid="24"/>
                                        </p:tgtEl>
                                      </p:cBhvr>
                                    </p:animEffect>
                                    <p:set>
                                      <p:cBhvr>
                                        <p:cTn id="84" dur="1" fill="hold">
                                          <p:stCondLst>
                                            <p:cond delay="499"/>
                                          </p:stCondLst>
                                        </p:cTn>
                                        <p:tgtEl>
                                          <p:spTgt spid="24"/>
                                        </p:tgtEl>
                                        <p:attrNameLst>
                                          <p:attrName>style.visibility</p:attrName>
                                        </p:attrNameLst>
                                      </p:cBhvr>
                                      <p:to>
                                        <p:strVal val="hidden"/>
                                      </p:to>
                                    </p:set>
                                  </p:childTnLst>
                                </p:cTn>
                              </p:par>
                              <p:par>
                                <p:cTn id="85" presetID="10"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500"/>
                                        <p:tgtEl>
                                          <p:spTgt spid="28"/>
                                        </p:tgtEl>
                                      </p:cBhvr>
                                    </p:animEffect>
                                  </p:childTnLst>
                                </p:cTn>
                              </p:par>
                              <p:par>
                                <p:cTn id="91" presetID="42" presetClass="path" presetSubtype="0" accel="50000" decel="50000" fill="hold" grpId="2" nodeType="withEffect">
                                  <p:stCondLst>
                                    <p:cond delay="0"/>
                                  </p:stCondLst>
                                  <p:childTnLst>
                                    <p:animMotion origin="layout" path="M -0.10825 0.25243 L 0.11079 0.12419 " pathEditMode="relative" rAng="0" ptsTypes="AA">
                                      <p:cBhvr>
                                        <p:cTn id="92" dur="1000" fill="hold"/>
                                        <p:tgtEl>
                                          <p:spTgt spid="26"/>
                                        </p:tgtEl>
                                        <p:attrNameLst>
                                          <p:attrName>ppt_x</p:attrName>
                                          <p:attrName>ppt_y</p:attrName>
                                        </p:attrNameLst>
                                      </p:cBhvr>
                                      <p:rCtr x="10949" y="-6412"/>
                                    </p:animMotion>
                                  </p:childTnLst>
                                </p:cTn>
                              </p:par>
                            </p:childTnLst>
                          </p:cTn>
                        </p:par>
                      </p:childTnLst>
                    </p:cTn>
                  </p:par>
                  <p:par>
                    <p:cTn id="93" fill="hold">
                      <p:stCondLst>
                        <p:cond delay="indefinite"/>
                      </p:stCondLst>
                      <p:childTnLst>
                        <p:par>
                          <p:cTn id="94" fill="hold">
                            <p:stCondLst>
                              <p:cond delay="0"/>
                            </p:stCondLst>
                            <p:childTnLst>
                              <p:par>
                                <p:cTn id="95" presetID="10" presetClass="exit" presetSubtype="0" fill="hold" grpId="1" nodeType="clickEffect">
                                  <p:stCondLst>
                                    <p:cond delay="0"/>
                                  </p:stCondLst>
                                  <p:childTnLst>
                                    <p:animEffect transition="out" filter="fade">
                                      <p:cBhvr>
                                        <p:cTn id="96" dur="500"/>
                                        <p:tgtEl>
                                          <p:spTgt spid="27"/>
                                        </p:tgtEl>
                                      </p:cBhvr>
                                    </p:animEffect>
                                    <p:set>
                                      <p:cBhvr>
                                        <p:cTn id="97" dur="1" fill="hold">
                                          <p:stCondLst>
                                            <p:cond delay="499"/>
                                          </p:stCondLst>
                                        </p:cTn>
                                        <p:tgtEl>
                                          <p:spTgt spid="27"/>
                                        </p:tgtEl>
                                        <p:attrNameLst>
                                          <p:attrName>style.visibility</p:attrName>
                                        </p:attrNameLst>
                                      </p:cBhvr>
                                      <p:to>
                                        <p:strVal val="hidden"/>
                                      </p:to>
                                    </p:set>
                                  </p:childTnLst>
                                </p:cTn>
                              </p:par>
                              <p:par>
                                <p:cTn id="98" presetID="10" presetClass="exit" presetSubtype="0" fill="hold" grpId="1" nodeType="withEffect">
                                  <p:stCondLst>
                                    <p:cond delay="0"/>
                                  </p:stCondLst>
                                  <p:childTnLst>
                                    <p:animEffect transition="out" filter="fade">
                                      <p:cBhvr>
                                        <p:cTn id="99" dur="500"/>
                                        <p:tgtEl>
                                          <p:spTgt spid="28"/>
                                        </p:tgtEl>
                                      </p:cBhvr>
                                    </p:animEffect>
                                    <p:set>
                                      <p:cBhvr>
                                        <p:cTn id="100" dur="1" fill="hold">
                                          <p:stCondLst>
                                            <p:cond delay="499"/>
                                          </p:stCondLst>
                                        </p:cTn>
                                        <p:tgtEl>
                                          <p:spTgt spid="28"/>
                                        </p:tgtEl>
                                        <p:attrNameLst>
                                          <p:attrName>style.visibility</p:attrName>
                                        </p:attrNameLst>
                                      </p:cBhvr>
                                      <p:to>
                                        <p:strVal val="hidden"/>
                                      </p:to>
                                    </p:set>
                                  </p:childTnLst>
                                </p:cTn>
                              </p:par>
                              <p:par>
                                <p:cTn id="101" presetID="10" presetClass="exit" presetSubtype="0" fill="hold" grpId="3" nodeType="withEffect">
                                  <p:stCondLst>
                                    <p:cond delay="0"/>
                                  </p:stCondLst>
                                  <p:childTnLst>
                                    <p:animEffect transition="out" filter="fade">
                                      <p:cBhvr>
                                        <p:cTn id="102" dur="500"/>
                                        <p:tgtEl>
                                          <p:spTgt spid="26"/>
                                        </p:tgtEl>
                                      </p:cBhvr>
                                    </p:animEffect>
                                    <p:set>
                                      <p:cBhvr>
                                        <p:cTn id="103" dur="1" fill="hold">
                                          <p:stCondLst>
                                            <p:cond delay="499"/>
                                          </p:stCondLst>
                                        </p:cTn>
                                        <p:tgtEl>
                                          <p:spTgt spid="26"/>
                                        </p:tgtEl>
                                        <p:attrNameLst>
                                          <p:attrName>style.visibility</p:attrName>
                                        </p:attrNameLst>
                                      </p:cBhvr>
                                      <p:to>
                                        <p:strVal val="hidden"/>
                                      </p:to>
                                    </p:set>
                                  </p:childTnLst>
                                </p:cTn>
                              </p:par>
                              <p:par>
                                <p:cTn id="104" presetID="10" presetClass="entr" presetSubtype="0" fill="hold" grpId="0" nodeType="withEffect">
                                  <p:stCondLst>
                                    <p:cond delay="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p:tgtEl>
                                          <p:spTgt spid="2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9" grpId="0"/>
      <p:bldP spid="9" grpId="1"/>
      <p:bldP spid="10" grpId="0"/>
      <p:bldP spid="10" grpId="1"/>
      <p:bldP spid="11" grpId="0" animBg="1"/>
      <p:bldP spid="11" grpId="1" animBg="1"/>
      <p:bldP spid="11" grpId="2" animBg="1"/>
      <p:bldP spid="11" grpId="3" animBg="1"/>
      <p:bldP spid="16" grpId="1"/>
      <p:bldP spid="16" grpId="2"/>
      <p:bldP spid="17" grpId="0"/>
      <p:bldP spid="20" grpId="0"/>
      <p:bldP spid="20" grpId="1"/>
      <p:bldP spid="22" grpId="0"/>
      <p:bldP spid="22" grpId="1"/>
      <p:bldP spid="23" grpId="0"/>
      <p:bldP spid="23" grpId="1"/>
      <p:bldP spid="24" grpId="0"/>
      <p:bldP spid="24" grpId="1"/>
      <p:bldP spid="25" grpId="0"/>
      <p:bldP spid="26" grpId="0" animBg="1"/>
      <p:bldP spid="26" grpId="1" animBg="1"/>
      <p:bldP spid="26" grpId="2" animBg="1"/>
      <p:bldP spid="26" grpId="3" animBg="1"/>
      <p:bldP spid="27" grpId="0"/>
      <p:bldP spid="27" grpId="1"/>
      <p:bldP spid="28" grpId="0"/>
      <p:bldP spid="28" grpId="1"/>
      <p:bldP spid="29" grpId="0"/>
      <p:bldP spid="30"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23C24-9F6D-BB63-7D34-92161963B32C}"/>
              </a:ext>
            </a:extLst>
          </p:cNvPr>
          <p:cNvSpPr>
            <a:spLocks noGrp="1"/>
          </p:cNvSpPr>
          <p:nvPr>
            <p:ph type="title"/>
          </p:nvPr>
        </p:nvSpPr>
        <p:spPr/>
        <p:txBody>
          <a:bodyPr/>
          <a:lstStyle/>
          <a:p>
            <a:r>
              <a:rPr lang="en-US" dirty="0"/>
              <a:t>Functions</a:t>
            </a:r>
          </a:p>
        </p:txBody>
      </p:sp>
      <p:sp>
        <p:nvSpPr>
          <p:cNvPr id="3" name="Text Placeholder 2">
            <a:extLst>
              <a:ext uri="{FF2B5EF4-FFF2-40B4-BE49-F238E27FC236}">
                <a16:creationId xmlns:a16="http://schemas.microsoft.com/office/drawing/2014/main" id="{ADC24BEB-B9C7-1E25-C38C-6CBF4B7C4E4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09670473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a:spLocks noGrp="1"/>
          </p:cNvSpPr>
          <p:nvPr>
            <p:ph type="title"/>
          </p:nvPr>
        </p:nvSpPr>
        <p:spPr>
          <a:xfrm>
            <a:off x="1768836" y="1543984"/>
            <a:ext cx="20505870" cy="1427200"/>
          </a:xfrm>
          <a:prstGeom prst="rect">
            <a:avLst/>
          </a:prstGeom>
        </p:spPr>
        <p:txBody>
          <a:bodyPr spcFirstLastPara="1" vert="horz" wrap="square" lIns="243800" tIns="243800" rIns="243800" bIns="243800" rtlCol="0" anchor="t" anchorCtr="0">
            <a:normAutofit fontScale="90000"/>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Lecture Outline</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4" name="Google Shape;404;p55"/>
          <p:cNvSpPr txBox="1">
            <a:spLocks noGrp="1"/>
          </p:cNvSpPr>
          <p:nvPr>
            <p:ph type="body" idx="1"/>
          </p:nvPr>
        </p:nvSpPr>
        <p:spPr>
          <a:xfrm>
            <a:off x="1940651" y="3100270"/>
            <a:ext cx="8310253" cy="2713415"/>
          </a:xfrm>
          <a:prstGeom prst="rect">
            <a:avLst/>
          </a:prstGeom>
        </p:spPr>
        <p:txBody>
          <a:bodyPr spcFirstLastPara="1" vert="horz" wrap="square" lIns="243800" tIns="243800" rIns="243800" bIns="243800" rtlCol="0" anchor="t" anchorCtr="0">
            <a:normAutofit/>
          </a:bodyPr>
          <a:lstStyle/>
          <a:p>
            <a:pPr marL="455568" indent="0">
              <a:lnSpc>
                <a:spcPct val="200000"/>
              </a:lnSpc>
              <a:buSzPct val="1000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3" name="Google Shape;403;p55"/>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44</a:t>
            </a:fld>
            <a:endParaRPr>
              <a:solidFill>
                <a:schemeClr val="accent1"/>
              </a:solidFill>
              <a:latin typeface="Lato"/>
              <a:ea typeface="Lato"/>
              <a:cs typeface="Lato"/>
              <a:sym typeface="Lato"/>
            </a:endParaRPr>
          </a:p>
        </p:txBody>
      </p:sp>
      <p:sp>
        <p:nvSpPr>
          <p:cNvPr id="2" name="Google Shape;404;p55">
            <a:extLst>
              <a:ext uri="{FF2B5EF4-FFF2-40B4-BE49-F238E27FC236}">
                <a16:creationId xmlns:a16="http://schemas.microsoft.com/office/drawing/2014/main" id="{C23724DE-D0F4-1B60-8BA5-494F5A90BC74}"/>
              </a:ext>
            </a:extLst>
          </p:cNvPr>
          <p:cNvSpPr txBox="1">
            <a:spLocks/>
          </p:cNvSpPr>
          <p:nvPr/>
        </p:nvSpPr>
        <p:spPr>
          <a:xfrm>
            <a:off x="1943152" y="4916575"/>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Built-ins</a:t>
            </a:r>
          </a:p>
        </p:txBody>
      </p:sp>
      <p:sp>
        <p:nvSpPr>
          <p:cNvPr id="4" name="Google Shape;404;p55">
            <a:extLst>
              <a:ext uri="{FF2B5EF4-FFF2-40B4-BE49-F238E27FC236}">
                <a16:creationId xmlns:a16="http://schemas.microsoft.com/office/drawing/2014/main" id="{180CAAB9-6628-C8B5-C756-4862FDC21B3A}"/>
              </a:ext>
            </a:extLst>
          </p:cNvPr>
          <p:cNvSpPr txBox="1">
            <a:spLocks/>
          </p:cNvSpPr>
          <p:nvPr/>
        </p:nvSpPr>
        <p:spPr>
          <a:xfrm>
            <a:off x="1943152" y="6695511"/>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7" name="Google Shape;404;p55">
            <a:extLst>
              <a:ext uri="{FF2B5EF4-FFF2-40B4-BE49-F238E27FC236}">
                <a16:creationId xmlns:a16="http://schemas.microsoft.com/office/drawing/2014/main" id="{26A6C10D-8715-980E-D1AE-8AF2A435CA4D}"/>
              </a:ext>
            </a:extLst>
          </p:cNvPr>
          <p:cNvSpPr txBox="1">
            <a:spLocks/>
          </p:cNvSpPr>
          <p:nvPr/>
        </p:nvSpPr>
        <p:spPr>
          <a:xfrm>
            <a:off x="1940651" y="8474447"/>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12" name="Google Shape;412;p56"/>
          <p:cNvSpPr txBox="1">
            <a:spLocks noGrp="1"/>
          </p:cNvSpPr>
          <p:nvPr>
            <p:ph type="title"/>
          </p:nvPr>
        </p:nvSpPr>
        <p:spPr>
          <a:xfrm>
            <a:off x="298453" y="249400"/>
            <a:ext cx="20503200" cy="1468069"/>
          </a:xfrm>
          <a:prstGeom prst="rect">
            <a:avLst/>
          </a:prstGeom>
        </p:spPr>
        <p:txBody>
          <a:bodyPr spcFirstLastPara="1" vert="horz" wrap="square" lIns="243800" tIns="243800" rIns="243800" bIns="243800" rtlCol="0" anchor="t" anchorCtr="0">
            <a:noAutofit/>
          </a:body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b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b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Rectangle 5">
            <a:extLst>
              <a:ext uri="{FF2B5EF4-FFF2-40B4-BE49-F238E27FC236}">
                <a16:creationId xmlns:a16="http://schemas.microsoft.com/office/drawing/2014/main" id="{9624BAF5-4208-3B10-0793-9F8CB6C88CCD}"/>
              </a:ext>
            </a:extLst>
          </p:cNvPr>
          <p:cNvSpPr/>
          <p:nvPr/>
        </p:nvSpPr>
        <p:spPr>
          <a:xfrm>
            <a:off x="3995224" y="6123965"/>
            <a:ext cx="2166425" cy="1468069"/>
          </a:xfrm>
          <a:prstGeom prst="rect">
            <a:avLst/>
          </a:prstGeom>
          <a:solidFill>
            <a:srgbClr val="006B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Input</a:t>
            </a:r>
          </a:p>
        </p:txBody>
      </p:sp>
      <p:sp>
        <p:nvSpPr>
          <p:cNvPr id="8" name="Rectangle 7">
            <a:extLst>
              <a:ext uri="{FF2B5EF4-FFF2-40B4-BE49-F238E27FC236}">
                <a16:creationId xmlns:a16="http://schemas.microsoft.com/office/drawing/2014/main" id="{E6D556A8-B121-E8E5-51D1-5FFFA266C9D5}"/>
              </a:ext>
            </a:extLst>
          </p:cNvPr>
          <p:cNvSpPr/>
          <p:nvPr/>
        </p:nvSpPr>
        <p:spPr>
          <a:xfrm>
            <a:off x="11110373" y="6123965"/>
            <a:ext cx="2166425" cy="1468069"/>
          </a:xfrm>
          <a:prstGeom prst="rect">
            <a:avLst/>
          </a:prstGeom>
          <a:solidFill>
            <a:srgbClr val="006B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Output</a:t>
            </a:r>
          </a:p>
        </p:txBody>
      </p:sp>
      <p:sp>
        <p:nvSpPr>
          <p:cNvPr id="5" name="Rounded Rectangle 4">
            <a:extLst>
              <a:ext uri="{FF2B5EF4-FFF2-40B4-BE49-F238E27FC236}">
                <a16:creationId xmlns:a16="http://schemas.microsoft.com/office/drawing/2014/main" id="{A988900C-76DA-2CCD-2296-AD3A5CFE7ABF}"/>
              </a:ext>
            </a:extLst>
          </p:cNvPr>
          <p:cNvSpPr/>
          <p:nvPr/>
        </p:nvSpPr>
        <p:spPr>
          <a:xfrm>
            <a:off x="9380048" y="4871948"/>
            <a:ext cx="5627077" cy="3972104"/>
          </a:xfrm>
          <a:prstGeom prst="roundRect">
            <a:avLst/>
          </a:prstGeom>
          <a:solidFill>
            <a:srgbClr val="004C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dirty="0">
                <a:solidFill>
                  <a:schemeClr val="bg1"/>
                </a:solidFill>
              </a:rPr>
              <a:t>Function</a:t>
            </a:r>
            <a:endParaRPr lang="en-US" dirty="0">
              <a:solidFill>
                <a:schemeClr val="bg1"/>
              </a:solidFill>
            </a:endParaRP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grpId="0" nodeType="clickEffect">
                                  <p:stCondLst>
                                    <p:cond delay="0"/>
                                  </p:stCondLst>
                                  <p:childTnLst>
                                    <p:animMotion origin="layout" path="M -1.11444E-6 0 L 0.29176 0 " pathEditMode="relative" rAng="0" ptsTypes="AA">
                                      <p:cBhvr>
                                        <p:cTn id="16" dur="1000" fill="hold"/>
                                        <p:tgtEl>
                                          <p:spTgt spid="6"/>
                                        </p:tgtEl>
                                        <p:attrNameLst>
                                          <p:attrName>ppt_x</p:attrName>
                                          <p:attrName>ppt_y</p:attrName>
                                        </p:attrNameLst>
                                      </p:cBhvr>
                                      <p:rCtr x="14588" y="0"/>
                                    </p:animMotion>
                                  </p:childTnLst>
                                </p:cTn>
                              </p:par>
                            </p:childTnLst>
                          </p:cTn>
                        </p:par>
                      </p:childTnLst>
                    </p:cTn>
                  </p:par>
                  <p:par>
                    <p:cTn id="17" fill="hold">
                      <p:stCondLst>
                        <p:cond delay="indefinite"/>
                      </p:stCondLst>
                      <p:childTnLst>
                        <p:par>
                          <p:cTn id="18" fill="hold">
                            <p:stCondLst>
                              <p:cond delay="0"/>
                            </p:stCondLst>
                            <p:childTnLst>
                              <p:par>
                                <p:cTn id="19" presetID="32" presetClass="emph" presetSubtype="0" fill="hold" grpId="1" nodeType="clickEffect">
                                  <p:stCondLst>
                                    <p:cond delay="0"/>
                                  </p:stCondLst>
                                  <p:childTnLst>
                                    <p:animRot by="120000">
                                      <p:cBhvr>
                                        <p:cTn id="20" dur="100" fill="hold">
                                          <p:stCondLst>
                                            <p:cond delay="0"/>
                                          </p:stCondLst>
                                        </p:cTn>
                                        <p:tgtEl>
                                          <p:spTgt spid="5"/>
                                        </p:tgtEl>
                                        <p:attrNameLst>
                                          <p:attrName>r</p:attrName>
                                        </p:attrNameLst>
                                      </p:cBhvr>
                                    </p:animRot>
                                    <p:animRot by="-240000">
                                      <p:cBhvr>
                                        <p:cTn id="21" dur="200" fill="hold">
                                          <p:stCondLst>
                                            <p:cond delay="200"/>
                                          </p:stCondLst>
                                        </p:cTn>
                                        <p:tgtEl>
                                          <p:spTgt spid="5"/>
                                        </p:tgtEl>
                                        <p:attrNameLst>
                                          <p:attrName>r</p:attrName>
                                        </p:attrNameLst>
                                      </p:cBhvr>
                                    </p:animRot>
                                    <p:animRot by="240000">
                                      <p:cBhvr>
                                        <p:cTn id="22" dur="200" fill="hold">
                                          <p:stCondLst>
                                            <p:cond delay="400"/>
                                          </p:stCondLst>
                                        </p:cTn>
                                        <p:tgtEl>
                                          <p:spTgt spid="5"/>
                                        </p:tgtEl>
                                        <p:attrNameLst>
                                          <p:attrName>r</p:attrName>
                                        </p:attrNameLst>
                                      </p:cBhvr>
                                    </p:animRot>
                                    <p:animRot by="-240000">
                                      <p:cBhvr>
                                        <p:cTn id="23" dur="200" fill="hold">
                                          <p:stCondLst>
                                            <p:cond delay="600"/>
                                          </p:stCondLst>
                                        </p:cTn>
                                        <p:tgtEl>
                                          <p:spTgt spid="5"/>
                                        </p:tgtEl>
                                        <p:attrNameLst>
                                          <p:attrName>r</p:attrName>
                                        </p:attrNameLst>
                                      </p:cBhvr>
                                    </p:animRot>
                                    <p:animRot by="120000">
                                      <p:cBhvr>
                                        <p:cTn id="24" dur="200" fill="hold">
                                          <p:stCondLst>
                                            <p:cond delay="800"/>
                                          </p:stCondLst>
                                        </p:cTn>
                                        <p:tgtEl>
                                          <p:spTgt spid="5"/>
                                        </p:tgtEl>
                                        <p:attrNameLst>
                                          <p:attrName>r</p:attrName>
                                        </p:attrNameLst>
                                      </p:cBhvr>
                                    </p:animRot>
                                  </p:childTnLst>
                                </p:cTn>
                              </p:par>
                              <p:par>
                                <p:cTn id="25" presetID="1" presetClass="exit" presetSubtype="0" fill="hold" grpId="2" nodeType="with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42" presetClass="path" presetSubtype="0" accel="50000" decel="50000" fill="hold" grpId="0" nodeType="clickEffect">
                                  <p:stCondLst>
                                    <p:cond delay="0"/>
                                  </p:stCondLst>
                                  <p:childTnLst>
                                    <p:animMotion origin="layout" path="M 5.55112E-17 0 L 0.29072 0 " pathEditMode="relative" rAng="0" ptsTypes="AA">
                                      <p:cBhvr>
                                        <p:cTn id="30" dur="1000" fill="hold"/>
                                        <p:tgtEl>
                                          <p:spTgt spid="8"/>
                                        </p:tgtEl>
                                        <p:attrNameLst>
                                          <p:attrName>ppt_x</p:attrName>
                                          <p:attrName>ppt_y</p:attrName>
                                        </p:attrNameLst>
                                      </p:cBhvr>
                                      <p:rCtr x="1453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8" grpId="0" animBg="1"/>
      <p:bldP spid="8" grpId="1" animBg="1"/>
      <p:bldP spid="5" grpId="0" animBg="1"/>
      <p:bldP spid="5" grpId="1"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12" name="Google Shape;412;p56"/>
          <p:cNvSpPr txBox="1">
            <a:spLocks noGrp="1"/>
          </p:cNvSpPr>
          <p:nvPr>
            <p:ph type="title"/>
          </p:nvPr>
        </p:nvSpPr>
        <p:spPr>
          <a:xfrm>
            <a:off x="298453" y="249400"/>
            <a:ext cx="20503200" cy="1468069"/>
          </a:xfrm>
          <a:prstGeom prst="rect">
            <a:avLst/>
          </a:prstGeom>
        </p:spPr>
        <p:txBody>
          <a:bodyPr spcFirstLastPara="1" vert="horz" wrap="square" lIns="243800" tIns="243800" rIns="243800" bIns="243800" rtlCol="0" anchor="t" anchorCtr="0">
            <a:noAutofit/>
          </a:body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b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br>
            <a:b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b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Rectangle 5">
            <a:extLst>
              <a:ext uri="{FF2B5EF4-FFF2-40B4-BE49-F238E27FC236}">
                <a16:creationId xmlns:a16="http://schemas.microsoft.com/office/drawing/2014/main" id="{9624BAF5-4208-3B10-0793-9F8CB6C88CCD}"/>
              </a:ext>
            </a:extLst>
          </p:cNvPr>
          <p:cNvSpPr/>
          <p:nvPr/>
        </p:nvSpPr>
        <p:spPr>
          <a:xfrm>
            <a:off x="3995224" y="6123965"/>
            <a:ext cx="2166425" cy="1468069"/>
          </a:xfrm>
          <a:prstGeom prst="rect">
            <a:avLst/>
          </a:prstGeom>
          <a:solidFill>
            <a:srgbClr val="006B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rPr>
              <a:t>"Hello world!"</a:t>
            </a:r>
          </a:p>
        </p:txBody>
      </p:sp>
      <p:sp>
        <p:nvSpPr>
          <p:cNvPr id="2" name="Google Shape;412;p56">
            <a:extLst>
              <a:ext uri="{FF2B5EF4-FFF2-40B4-BE49-F238E27FC236}">
                <a16:creationId xmlns:a16="http://schemas.microsoft.com/office/drawing/2014/main" id="{9CE3DCA1-A203-CC46-7220-D4CE548CB352}"/>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print()</a:t>
            </a:r>
          </a:p>
        </p:txBody>
      </p:sp>
      <p:pic>
        <p:nvPicPr>
          <p:cNvPr id="3" name="Picture 2">
            <a:extLst>
              <a:ext uri="{FF2B5EF4-FFF2-40B4-BE49-F238E27FC236}">
                <a16:creationId xmlns:a16="http://schemas.microsoft.com/office/drawing/2014/main" id="{3ECF2FBE-3EC5-CB09-250B-BF4384345C66}"/>
              </a:ext>
            </a:extLst>
          </p:cNvPr>
          <p:cNvPicPr>
            <a:picLocks noChangeAspect="1"/>
          </p:cNvPicPr>
          <p:nvPr/>
        </p:nvPicPr>
        <p:blipFill>
          <a:blip r:embed="rId3"/>
          <a:stretch>
            <a:fillRect/>
          </a:stretch>
        </p:blipFill>
        <p:spPr>
          <a:xfrm>
            <a:off x="11241087" y="6527800"/>
            <a:ext cx="1905000" cy="660400"/>
          </a:xfrm>
          <a:prstGeom prst="rect">
            <a:avLst/>
          </a:prstGeom>
          <a:ln w="12700">
            <a:solidFill>
              <a:schemeClr val="tx1"/>
            </a:solidFill>
          </a:ln>
        </p:spPr>
      </p:pic>
      <p:sp>
        <p:nvSpPr>
          <p:cNvPr id="5" name="Rounded Rectangle 4">
            <a:extLst>
              <a:ext uri="{FF2B5EF4-FFF2-40B4-BE49-F238E27FC236}">
                <a16:creationId xmlns:a16="http://schemas.microsoft.com/office/drawing/2014/main" id="{A988900C-76DA-2CCD-2296-AD3A5CFE7ABF}"/>
              </a:ext>
            </a:extLst>
          </p:cNvPr>
          <p:cNvSpPr/>
          <p:nvPr/>
        </p:nvSpPr>
        <p:spPr>
          <a:xfrm>
            <a:off x="9380048" y="4871948"/>
            <a:ext cx="5627077" cy="3972104"/>
          </a:xfrm>
          <a:prstGeom prst="roundRect">
            <a:avLst/>
          </a:prstGeom>
          <a:solidFill>
            <a:srgbClr val="004C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dirty="0">
                <a:solidFill>
                  <a:schemeClr val="bg1"/>
                </a:solidFill>
              </a:rPr>
              <a:t>Print</a:t>
            </a:r>
            <a:endParaRPr lang="en-US" dirty="0">
              <a:solidFill>
                <a:schemeClr val="bg1"/>
              </a:solidFill>
            </a:endParaRPr>
          </a:p>
        </p:txBody>
      </p:sp>
    </p:spTree>
    <p:extLst>
      <p:ext uri="{BB962C8B-B14F-4D97-AF65-F5344CB8AC3E}">
        <p14:creationId xmlns:p14="http://schemas.microsoft.com/office/powerpoint/2010/main" val="32669213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grpId="0" nodeType="clickEffect">
                                  <p:stCondLst>
                                    <p:cond delay="0"/>
                                  </p:stCondLst>
                                  <p:childTnLst>
                                    <p:animMotion origin="layout" path="M -1.11444E-6 0 L 0.29176 0 " pathEditMode="relative" rAng="0" ptsTypes="AA">
                                      <p:cBhvr>
                                        <p:cTn id="16" dur="1000" fill="hold"/>
                                        <p:tgtEl>
                                          <p:spTgt spid="6"/>
                                        </p:tgtEl>
                                        <p:attrNameLst>
                                          <p:attrName>ppt_x</p:attrName>
                                          <p:attrName>ppt_y</p:attrName>
                                        </p:attrNameLst>
                                      </p:cBhvr>
                                      <p:rCtr x="14588" y="0"/>
                                    </p:animMotion>
                                  </p:childTnLst>
                                </p:cTn>
                              </p:par>
                            </p:childTnLst>
                          </p:cTn>
                        </p:par>
                      </p:childTnLst>
                    </p:cTn>
                  </p:par>
                  <p:par>
                    <p:cTn id="17" fill="hold">
                      <p:stCondLst>
                        <p:cond delay="indefinite"/>
                      </p:stCondLst>
                      <p:childTnLst>
                        <p:par>
                          <p:cTn id="18" fill="hold">
                            <p:stCondLst>
                              <p:cond delay="0"/>
                            </p:stCondLst>
                            <p:childTnLst>
                              <p:par>
                                <p:cTn id="19" presetID="32" presetClass="emph" presetSubtype="0" fill="hold" grpId="1" nodeType="clickEffect">
                                  <p:stCondLst>
                                    <p:cond delay="0"/>
                                  </p:stCondLst>
                                  <p:childTnLst>
                                    <p:animRot by="120000">
                                      <p:cBhvr>
                                        <p:cTn id="20" dur="100" fill="hold">
                                          <p:stCondLst>
                                            <p:cond delay="0"/>
                                          </p:stCondLst>
                                        </p:cTn>
                                        <p:tgtEl>
                                          <p:spTgt spid="5"/>
                                        </p:tgtEl>
                                        <p:attrNameLst>
                                          <p:attrName>r</p:attrName>
                                        </p:attrNameLst>
                                      </p:cBhvr>
                                    </p:animRot>
                                    <p:animRot by="-240000">
                                      <p:cBhvr>
                                        <p:cTn id="21" dur="200" fill="hold">
                                          <p:stCondLst>
                                            <p:cond delay="200"/>
                                          </p:stCondLst>
                                        </p:cTn>
                                        <p:tgtEl>
                                          <p:spTgt spid="5"/>
                                        </p:tgtEl>
                                        <p:attrNameLst>
                                          <p:attrName>r</p:attrName>
                                        </p:attrNameLst>
                                      </p:cBhvr>
                                    </p:animRot>
                                    <p:animRot by="240000">
                                      <p:cBhvr>
                                        <p:cTn id="22" dur="200" fill="hold">
                                          <p:stCondLst>
                                            <p:cond delay="400"/>
                                          </p:stCondLst>
                                        </p:cTn>
                                        <p:tgtEl>
                                          <p:spTgt spid="5"/>
                                        </p:tgtEl>
                                        <p:attrNameLst>
                                          <p:attrName>r</p:attrName>
                                        </p:attrNameLst>
                                      </p:cBhvr>
                                    </p:animRot>
                                    <p:animRot by="-240000">
                                      <p:cBhvr>
                                        <p:cTn id="23" dur="200" fill="hold">
                                          <p:stCondLst>
                                            <p:cond delay="600"/>
                                          </p:stCondLst>
                                        </p:cTn>
                                        <p:tgtEl>
                                          <p:spTgt spid="5"/>
                                        </p:tgtEl>
                                        <p:attrNameLst>
                                          <p:attrName>r</p:attrName>
                                        </p:attrNameLst>
                                      </p:cBhvr>
                                    </p:animRot>
                                    <p:animRot by="120000">
                                      <p:cBhvr>
                                        <p:cTn id="24" dur="200" fill="hold">
                                          <p:stCondLst>
                                            <p:cond delay="800"/>
                                          </p:stCondLst>
                                        </p:cTn>
                                        <p:tgtEl>
                                          <p:spTgt spid="5"/>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42" presetClass="path" presetSubtype="0" accel="50000" decel="50000" fill="hold" nodeType="clickEffect">
                                  <p:stCondLst>
                                    <p:cond delay="0"/>
                                  </p:stCondLst>
                                  <p:childTnLst>
                                    <p:animMotion origin="layout" path="M 5.55112E-17 0 L 0.25452 0 " pathEditMode="relative" rAng="0" ptsTypes="AA">
                                      <p:cBhvr>
                                        <p:cTn id="28" dur="1000" fill="hold"/>
                                        <p:tgtEl>
                                          <p:spTgt spid="3"/>
                                        </p:tgtEl>
                                        <p:attrNameLst>
                                          <p:attrName>ppt_x</p:attrName>
                                          <p:attrName>ppt_y</p:attrName>
                                        </p:attrNameLst>
                                      </p:cBhvr>
                                      <p:rCtr x="12726"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5" grpId="0" animBg="1"/>
      <p:bldP spid="5" grpId="1"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a:spLocks noGrp="1"/>
          </p:cNvSpPr>
          <p:nvPr>
            <p:ph type="title"/>
          </p:nvPr>
        </p:nvSpPr>
        <p:spPr>
          <a:xfrm>
            <a:off x="1768836" y="1543984"/>
            <a:ext cx="20505870" cy="1427200"/>
          </a:xfrm>
          <a:prstGeom prst="rect">
            <a:avLst/>
          </a:prstGeom>
        </p:spPr>
        <p:txBody>
          <a:bodyPr spcFirstLastPara="1" vert="horz" wrap="square" lIns="243800" tIns="243800" rIns="243800" bIns="243800" rtlCol="0" anchor="t" anchorCtr="0">
            <a:normAutofit fontScale="90000"/>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Lecture Outline</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4" name="Google Shape;404;p55"/>
          <p:cNvSpPr txBox="1">
            <a:spLocks noGrp="1"/>
          </p:cNvSpPr>
          <p:nvPr>
            <p:ph type="body" idx="1"/>
          </p:nvPr>
        </p:nvSpPr>
        <p:spPr>
          <a:xfrm>
            <a:off x="1940651" y="3100270"/>
            <a:ext cx="8310253" cy="2713415"/>
          </a:xfrm>
          <a:prstGeom prst="rect">
            <a:avLst/>
          </a:prstGeom>
        </p:spPr>
        <p:txBody>
          <a:bodyPr spcFirstLastPara="1" vert="horz" wrap="square" lIns="243800" tIns="243800" rIns="243800" bIns="243800" rtlCol="0" anchor="t" anchorCtr="0">
            <a:normAutofit/>
          </a:bodyPr>
          <a:lstStyle/>
          <a:p>
            <a:pPr marL="455568" indent="0">
              <a:lnSpc>
                <a:spcPct val="200000"/>
              </a:lnSpc>
              <a:buSzPct val="1000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3" name="Google Shape;403;p55"/>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47</a:t>
            </a:fld>
            <a:endParaRPr>
              <a:solidFill>
                <a:schemeClr val="accent1"/>
              </a:solidFill>
              <a:latin typeface="Lato"/>
              <a:ea typeface="Lato"/>
              <a:cs typeface="Lato"/>
              <a:sym typeface="Lato"/>
            </a:endParaRPr>
          </a:p>
        </p:txBody>
      </p:sp>
      <p:sp>
        <p:nvSpPr>
          <p:cNvPr id="2" name="Google Shape;404;p55">
            <a:extLst>
              <a:ext uri="{FF2B5EF4-FFF2-40B4-BE49-F238E27FC236}">
                <a16:creationId xmlns:a16="http://schemas.microsoft.com/office/drawing/2014/main" id="{C23724DE-D0F4-1B60-8BA5-494F5A90BC74}"/>
              </a:ext>
            </a:extLst>
          </p:cNvPr>
          <p:cNvSpPr txBox="1">
            <a:spLocks/>
          </p:cNvSpPr>
          <p:nvPr/>
        </p:nvSpPr>
        <p:spPr>
          <a:xfrm>
            <a:off x="1943152" y="4916575"/>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Built-ins</a:t>
            </a:r>
          </a:p>
        </p:txBody>
      </p:sp>
      <p:sp>
        <p:nvSpPr>
          <p:cNvPr id="4" name="Google Shape;404;p55">
            <a:extLst>
              <a:ext uri="{FF2B5EF4-FFF2-40B4-BE49-F238E27FC236}">
                <a16:creationId xmlns:a16="http://schemas.microsoft.com/office/drawing/2014/main" id="{180CAAB9-6628-C8B5-C756-4862FDC21B3A}"/>
              </a:ext>
            </a:extLst>
          </p:cNvPr>
          <p:cNvSpPr txBox="1">
            <a:spLocks/>
          </p:cNvSpPr>
          <p:nvPr/>
        </p:nvSpPr>
        <p:spPr>
          <a:xfrm>
            <a:off x="1943152" y="6695511"/>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7" name="Google Shape;404;p55">
            <a:extLst>
              <a:ext uri="{FF2B5EF4-FFF2-40B4-BE49-F238E27FC236}">
                <a16:creationId xmlns:a16="http://schemas.microsoft.com/office/drawing/2014/main" id="{26A6C10D-8715-980E-D1AE-8AF2A435CA4D}"/>
              </a:ext>
            </a:extLst>
          </p:cNvPr>
          <p:cNvSpPr txBox="1">
            <a:spLocks/>
          </p:cNvSpPr>
          <p:nvPr/>
        </p:nvSpPr>
        <p:spPr>
          <a:xfrm>
            <a:off x="1940651" y="8474447"/>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p:txBody>
      </p:sp>
    </p:spTree>
    <p:extLst>
      <p:ext uri="{BB962C8B-B14F-4D97-AF65-F5344CB8AC3E}">
        <p14:creationId xmlns:p14="http://schemas.microsoft.com/office/powerpoint/2010/main" val="370983776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412" name="Google Shape;412;p56"/>
          <p:cNvSpPr txBox="1">
            <a:spLocks noGrp="1"/>
          </p:cNvSpPr>
          <p:nvPr>
            <p:ph type="title"/>
          </p:nvPr>
        </p:nvSpPr>
        <p:spPr>
          <a:xfrm>
            <a:off x="298453" y="249400"/>
            <a:ext cx="20503200" cy="1468069"/>
          </a:xfrm>
          <a:prstGeom prst="rect">
            <a:avLst/>
          </a:prstGeom>
        </p:spPr>
        <p:txBody>
          <a:bodyPr spcFirstLastPara="1" vert="horz" wrap="square" lIns="243800" tIns="243800" rIns="243800" bIns="243800" rtlCol="0" anchor="t" anchorCtr="0">
            <a:noAutofit/>
          </a:body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Built-ins</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Google Shape;489;p62">
            <a:extLst>
              <a:ext uri="{FF2B5EF4-FFF2-40B4-BE49-F238E27FC236}">
                <a16:creationId xmlns:a16="http://schemas.microsoft.com/office/drawing/2014/main" id="{E8502A30-478F-53DC-F03D-C8DBA190AB08}"/>
              </a:ext>
            </a:extLst>
          </p:cNvPr>
          <p:cNvSpPr txBox="1">
            <a:spLocks noGrp="1"/>
          </p:cNvSpPr>
          <p:nvPr>
            <p:ph type="body" idx="1"/>
          </p:nvPr>
        </p:nvSpPr>
        <p:spPr>
          <a:xfrm>
            <a:off x="4645072" y="3238101"/>
            <a:ext cx="15097030" cy="1427200"/>
          </a:xfrm>
          <a:prstGeom prst="rect">
            <a:avLst/>
          </a:prstGeom>
        </p:spPr>
        <p:txBody>
          <a:bodyPr spcFirstLastPara="1" vert="horz" wrap="square" lIns="243800" tIns="243800" rIns="243800" bIns="243800" rtlCol="0" anchor="t" anchorCtr="0">
            <a:noAutofit/>
          </a:bodyPr>
          <a:lstStyle/>
          <a:p>
            <a:pPr marL="389519" indent="0">
              <a:lnSpc>
                <a:spcPct val="135714"/>
              </a:lnSpc>
              <a:buNone/>
            </a:pPr>
            <a:r>
              <a:rPr lang="en-US" sz="3200" u="sng" dirty="0">
                <a:solidFill>
                  <a:schemeClr val="hlink"/>
                </a:solidFill>
                <a:latin typeface="Courier New"/>
                <a:ea typeface="Courier New"/>
                <a:cs typeface="Courier New"/>
                <a:sym typeface="Courier New"/>
                <a:hlinkClick r:id="rId3"/>
              </a:rPr>
              <a:t>https://docs.python.org/3/library/functions.html</a:t>
            </a:r>
            <a:endParaRPr lang="en" sz="3200" u="sng" dirty="0">
              <a:solidFill>
                <a:schemeClr val="hlink"/>
              </a:solidFill>
              <a:highlight>
                <a:srgbClr val="FFFFFE"/>
              </a:highlight>
              <a:latin typeface="Courier New"/>
              <a:ea typeface="Courier New"/>
              <a:cs typeface="Courier New"/>
              <a:sym typeface="Courier New"/>
              <a:hlinkClick r:id="rId3"/>
            </a:endParaRPr>
          </a:p>
        </p:txBody>
      </p:sp>
      <p:sp>
        <p:nvSpPr>
          <p:cNvPr id="5" name="Oval 4">
            <a:extLst>
              <a:ext uri="{FF2B5EF4-FFF2-40B4-BE49-F238E27FC236}">
                <a16:creationId xmlns:a16="http://schemas.microsoft.com/office/drawing/2014/main" id="{8260F778-B6B4-F550-50B1-225623C08243}"/>
              </a:ext>
            </a:extLst>
          </p:cNvPr>
          <p:cNvSpPr/>
          <p:nvPr/>
        </p:nvSpPr>
        <p:spPr>
          <a:xfrm>
            <a:off x="2773180" y="4665301"/>
            <a:ext cx="914400" cy="914400"/>
          </a:xfrm>
          <a:prstGeom prst="ellipse">
            <a:avLst/>
          </a:prstGeom>
          <a:noFill/>
          <a:ln w="38100">
            <a:solidFill>
              <a:srgbClr val="006B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rgbClr val="006B64"/>
                </a:solidFill>
              </a:rPr>
              <a:t>1</a:t>
            </a:r>
            <a:endParaRPr lang="en-US" dirty="0">
              <a:solidFill>
                <a:srgbClr val="006B64"/>
              </a:solidFill>
            </a:endParaRPr>
          </a:p>
        </p:txBody>
      </p:sp>
      <p:sp>
        <p:nvSpPr>
          <p:cNvPr id="7" name="Oval 6">
            <a:extLst>
              <a:ext uri="{FF2B5EF4-FFF2-40B4-BE49-F238E27FC236}">
                <a16:creationId xmlns:a16="http://schemas.microsoft.com/office/drawing/2014/main" id="{11021557-052F-4FFA-C486-356D973E65A3}"/>
              </a:ext>
            </a:extLst>
          </p:cNvPr>
          <p:cNvSpPr/>
          <p:nvPr/>
        </p:nvSpPr>
        <p:spPr>
          <a:xfrm>
            <a:off x="2773180" y="7853497"/>
            <a:ext cx="914400" cy="914400"/>
          </a:xfrm>
          <a:prstGeom prst="ellipse">
            <a:avLst/>
          </a:prstGeom>
          <a:noFill/>
          <a:ln w="38100">
            <a:solidFill>
              <a:srgbClr val="006B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rgbClr val="006B64"/>
                </a:solidFill>
              </a:rPr>
              <a:t>2</a:t>
            </a:r>
            <a:endParaRPr lang="en-US" dirty="0">
              <a:solidFill>
                <a:srgbClr val="006B64"/>
              </a:solidFill>
            </a:endParaRPr>
          </a:p>
        </p:txBody>
      </p:sp>
      <p:pic>
        <p:nvPicPr>
          <p:cNvPr id="8" name="Picture 7">
            <a:extLst>
              <a:ext uri="{FF2B5EF4-FFF2-40B4-BE49-F238E27FC236}">
                <a16:creationId xmlns:a16="http://schemas.microsoft.com/office/drawing/2014/main" id="{EE0B059E-6BC0-26A4-D80A-5864F6EDE493}"/>
              </a:ext>
            </a:extLst>
          </p:cNvPr>
          <p:cNvPicPr>
            <a:picLocks noChangeAspect="1"/>
          </p:cNvPicPr>
          <p:nvPr/>
        </p:nvPicPr>
        <p:blipFill>
          <a:blip r:embed="rId4"/>
          <a:stretch>
            <a:fillRect/>
          </a:stretch>
        </p:blipFill>
        <p:spPr>
          <a:xfrm>
            <a:off x="2484422" y="5790054"/>
            <a:ext cx="13188930" cy="1748643"/>
          </a:xfrm>
          <a:prstGeom prst="rect">
            <a:avLst/>
          </a:prstGeom>
        </p:spPr>
      </p:pic>
      <p:pic>
        <p:nvPicPr>
          <p:cNvPr id="9" name="Picture 8">
            <a:extLst>
              <a:ext uri="{FF2B5EF4-FFF2-40B4-BE49-F238E27FC236}">
                <a16:creationId xmlns:a16="http://schemas.microsoft.com/office/drawing/2014/main" id="{851D4569-69A6-A511-B757-66D9DDB7C3C9}"/>
              </a:ext>
            </a:extLst>
          </p:cNvPr>
          <p:cNvPicPr>
            <a:picLocks noChangeAspect="1"/>
          </p:cNvPicPr>
          <p:nvPr/>
        </p:nvPicPr>
        <p:blipFill>
          <a:blip r:embed="rId5"/>
          <a:stretch>
            <a:fillRect/>
          </a:stretch>
        </p:blipFill>
        <p:spPr>
          <a:xfrm>
            <a:off x="2484422" y="8978250"/>
            <a:ext cx="11845920" cy="2876865"/>
          </a:xfrm>
          <a:prstGeom prst="rect">
            <a:avLst/>
          </a:prstGeom>
        </p:spPr>
      </p:pic>
    </p:spTree>
    <p:extLst>
      <p:ext uri="{BB962C8B-B14F-4D97-AF65-F5344CB8AC3E}">
        <p14:creationId xmlns:p14="http://schemas.microsoft.com/office/powerpoint/2010/main" val="361679078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7"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a:spLocks noGrp="1"/>
          </p:cNvSpPr>
          <p:nvPr>
            <p:ph type="title"/>
          </p:nvPr>
        </p:nvSpPr>
        <p:spPr>
          <a:xfrm>
            <a:off x="1768836" y="1543984"/>
            <a:ext cx="20505870" cy="1427200"/>
          </a:xfrm>
          <a:prstGeom prst="rect">
            <a:avLst/>
          </a:prstGeom>
        </p:spPr>
        <p:txBody>
          <a:bodyPr spcFirstLastPara="1" vert="horz" wrap="square" lIns="243800" tIns="243800" rIns="243800" bIns="243800" rtlCol="0" anchor="t" anchorCtr="0">
            <a:normAutofit fontScale="90000"/>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Lecture Outline</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4" name="Google Shape;404;p55"/>
          <p:cNvSpPr txBox="1">
            <a:spLocks noGrp="1"/>
          </p:cNvSpPr>
          <p:nvPr>
            <p:ph type="body" idx="1"/>
          </p:nvPr>
        </p:nvSpPr>
        <p:spPr>
          <a:xfrm>
            <a:off x="1940651" y="3100270"/>
            <a:ext cx="8310253" cy="2713415"/>
          </a:xfrm>
          <a:prstGeom prst="rect">
            <a:avLst/>
          </a:prstGeom>
        </p:spPr>
        <p:txBody>
          <a:bodyPr spcFirstLastPara="1" vert="horz" wrap="square" lIns="243800" tIns="243800" rIns="243800" bIns="243800" rtlCol="0" anchor="t" anchorCtr="0">
            <a:normAutofit/>
          </a:bodyPr>
          <a:lstStyle/>
          <a:p>
            <a:pPr marL="455568" indent="0">
              <a:lnSpc>
                <a:spcPct val="200000"/>
              </a:lnSpc>
              <a:buSzPct val="1000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3" name="Google Shape;403;p55"/>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49</a:t>
            </a:fld>
            <a:endParaRPr>
              <a:solidFill>
                <a:schemeClr val="accent1"/>
              </a:solidFill>
              <a:latin typeface="Lato"/>
              <a:ea typeface="Lato"/>
              <a:cs typeface="Lato"/>
              <a:sym typeface="Lato"/>
            </a:endParaRPr>
          </a:p>
        </p:txBody>
      </p:sp>
      <p:sp>
        <p:nvSpPr>
          <p:cNvPr id="2" name="Google Shape;404;p55">
            <a:extLst>
              <a:ext uri="{FF2B5EF4-FFF2-40B4-BE49-F238E27FC236}">
                <a16:creationId xmlns:a16="http://schemas.microsoft.com/office/drawing/2014/main" id="{C23724DE-D0F4-1B60-8BA5-494F5A90BC74}"/>
              </a:ext>
            </a:extLst>
          </p:cNvPr>
          <p:cNvSpPr txBox="1">
            <a:spLocks/>
          </p:cNvSpPr>
          <p:nvPr/>
        </p:nvSpPr>
        <p:spPr>
          <a:xfrm>
            <a:off x="1943152" y="4916575"/>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Built-ins</a:t>
            </a:r>
          </a:p>
        </p:txBody>
      </p:sp>
      <p:sp>
        <p:nvSpPr>
          <p:cNvPr id="4" name="Google Shape;404;p55">
            <a:extLst>
              <a:ext uri="{FF2B5EF4-FFF2-40B4-BE49-F238E27FC236}">
                <a16:creationId xmlns:a16="http://schemas.microsoft.com/office/drawing/2014/main" id="{180CAAB9-6628-C8B5-C756-4862FDC21B3A}"/>
              </a:ext>
            </a:extLst>
          </p:cNvPr>
          <p:cNvSpPr txBox="1">
            <a:spLocks/>
          </p:cNvSpPr>
          <p:nvPr/>
        </p:nvSpPr>
        <p:spPr>
          <a:xfrm>
            <a:off x="1943152" y="6695511"/>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7" name="Google Shape;404;p55">
            <a:extLst>
              <a:ext uri="{FF2B5EF4-FFF2-40B4-BE49-F238E27FC236}">
                <a16:creationId xmlns:a16="http://schemas.microsoft.com/office/drawing/2014/main" id="{26A6C10D-8715-980E-D1AE-8AF2A435CA4D}"/>
              </a:ext>
            </a:extLst>
          </p:cNvPr>
          <p:cNvSpPr txBox="1">
            <a:spLocks/>
          </p:cNvSpPr>
          <p:nvPr/>
        </p:nvSpPr>
        <p:spPr>
          <a:xfrm>
            <a:off x="1940651" y="8474447"/>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p:txBody>
      </p:sp>
    </p:spTree>
    <p:extLst>
      <p:ext uri="{BB962C8B-B14F-4D97-AF65-F5344CB8AC3E}">
        <p14:creationId xmlns:p14="http://schemas.microsoft.com/office/powerpoint/2010/main" val="23326017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50</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12" name="Rectangle 11">
            <a:extLst>
              <a:ext uri="{FF2B5EF4-FFF2-40B4-BE49-F238E27FC236}">
                <a16:creationId xmlns:a16="http://schemas.microsoft.com/office/drawing/2014/main" id="{53E4886A-A5C9-2903-18AA-A0D85BBC7710}"/>
              </a:ext>
            </a:extLst>
          </p:cNvPr>
          <p:cNvSpPr/>
          <p:nvPr/>
        </p:nvSpPr>
        <p:spPr>
          <a:xfrm>
            <a:off x="2448007" y="5805632"/>
            <a:ext cx="3272589" cy="2104736"/>
          </a:xfrm>
          <a:prstGeom prst="rect">
            <a:avLst/>
          </a:prstGeom>
          <a:solidFill>
            <a:srgbClr val="006B6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dirty="0"/>
              <a:t>Module</a:t>
            </a:r>
          </a:p>
        </p:txBody>
      </p:sp>
      <p:grpSp>
        <p:nvGrpSpPr>
          <p:cNvPr id="13" name="Group 12">
            <a:extLst>
              <a:ext uri="{FF2B5EF4-FFF2-40B4-BE49-F238E27FC236}">
                <a16:creationId xmlns:a16="http://schemas.microsoft.com/office/drawing/2014/main" id="{FD2283AA-827E-CF42-8864-2B7BBBD350AB}"/>
              </a:ext>
            </a:extLst>
          </p:cNvPr>
          <p:cNvGrpSpPr/>
          <p:nvPr/>
        </p:nvGrpSpPr>
        <p:grpSpPr>
          <a:xfrm>
            <a:off x="10212384" y="4379496"/>
            <a:ext cx="2240274" cy="4957008"/>
            <a:chOff x="1742152" y="4379496"/>
            <a:chExt cx="2240274" cy="4957008"/>
          </a:xfrm>
        </p:grpSpPr>
        <p:pic>
          <p:nvPicPr>
            <p:cNvPr id="9" name="Graphic 8" descr="Protecting hand outline">
              <a:extLst>
                <a:ext uri="{FF2B5EF4-FFF2-40B4-BE49-F238E27FC236}">
                  <a16:creationId xmlns:a16="http://schemas.microsoft.com/office/drawing/2014/main" id="{79EBF426-B21B-135A-A469-55145FFE8D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42152" y="4379496"/>
              <a:ext cx="2240273" cy="2240273"/>
            </a:xfrm>
            <a:prstGeom prst="rect">
              <a:avLst/>
            </a:prstGeom>
          </p:spPr>
        </p:pic>
        <p:pic>
          <p:nvPicPr>
            <p:cNvPr id="11" name="Graphic 10" descr="Open hand outline">
              <a:extLst>
                <a:ext uri="{FF2B5EF4-FFF2-40B4-BE49-F238E27FC236}">
                  <a16:creationId xmlns:a16="http://schemas.microsoft.com/office/drawing/2014/main" id="{9B78059F-3A0D-72EA-8708-55967CC95B7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1742153" y="7096231"/>
              <a:ext cx="2240273" cy="2240273"/>
            </a:xfrm>
            <a:prstGeom prst="rect">
              <a:avLst/>
            </a:prstGeom>
          </p:spPr>
        </p:pic>
      </p:grpSp>
      <p:sp>
        <p:nvSpPr>
          <p:cNvPr id="7" name="Rounded Rectangle 6">
            <a:extLst>
              <a:ext uri="{FF2B5EF4-FFF2-40B4-BE49-F238E27FC236}">
                <a16:creationId xmlns:a16="http://schemas.microsoft.com/office/drawing/2014/main" id="{883B6F9B-355E-38DC-4A16-7D0027D5D0C1}"/>
              </a:ext>
            </a:extLst>
          </p:cNvPr>
          <p:cNvSpPr/>
          <p:nvPr/>
        </p:nvSpPr>
        <p:spPr>
          <a:xfrm>
            <a:off x="9380048" y="4871948"/>
            <a:ext cx="5627077" cy="3972104"/>
          </a:xfrm>
          <a:prstGeom prst="roundRect">
            <a:avLst/>
          </a:prstGeom>
          <a:solidFill>
            <a:srgbClr val="004C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dirty="0">
                <a:solidFill>
                  <a:schemeClr val="bg1"/>
                </a:solidFill>
              </a:rPr>
              <a:t>Python</a:t>
            </a:r>
            <a:endParaRPr lang="en-US" dirty="0">
              <a:solidFill>
                <a:schemeClr val="bg1"/>
              </a:solidFill>
            </a:endParaRPr>
          </a:p>
        </p:txBody>
      </p:sp>
      <p:grpSp>
        <p:nvGrpSpPr>
          <p:cNvPr id="18" name="Group 17">
            <a:extLst>
              <a:ext uri="{FF2B5EF4-FFF2-40B4-BE49-F238E27FC236}">
                <a16:creationId xmlns:a16="http://schemas.microsoft.com/office/drawing/2014/main" id="{DE04D36A-7B45-4295-AABA-03EC711278D1}"/>
              </a:ext>
            </a:extLst>
          </p:cNvPr>
          <p:cNvGrpSpPr/>
          <p:nvPr/>
        </p:nvGrpSpPr>
        <p:grpSpPr>
          <a:xfrm>
            <a:off x="14762615" y="3126216"/>
            <a:ext cx="1419462" cy="950280"/>
            <a:chOff x="14429927" y="3429216"/>
            <a:chExt cx="1419462" cy="950280"/>
          </a:xfrm>
        </p:grpSpPr>
        <p:sp>
          <p:nvSpPr>
            <p:cNvPr id="14" name="Oval Callout 13">
              <a:extLst>
                <a:ext uri="{FF2B5EF4-FFF2-40B4-BE49-F238E27FC236}">
                  <a16:creationId xmlns:a16="http://schemas.microsoft.com/office/drawing/2014/main" id="{69A635FC-FBBD-A284-E4E8-B7BE1ECA231C}"/>
                </a:ext>
              </a:extLst>
            </p:cNvPr>
            <p:cNvSpPr/>
            <p:nvPr/>
          </p:nvSpPr>
          <p:spPr>
            <a:xfrm>
              <a:off x="14429927" y="3429216"/>
              <a:ext cx="1419462" cy="950280"/>
            </a:xfrm>
            <a:prstGeom prst="wedgeEllipseCallou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33580FD-FEA4-E905-7F9B-E5B4DD668BAE}"/>
                </a:ext>
              </a:extLst>
            </p:cNvPr>
            <p:cNvSpPr txBox="1"/>
            <p:nvPr/>
          </p:nvSpPr>
          <p:spPr>
            <a:xfrm>
              <a:off x="14822905" y="3689684"/>
              <a:ext cx="633507" cy="369332"/>
            </a:xfrm>
            <a:prstGeom prst="rect">
              <a:avLst/>
            </a:prstGeom>
            <a:noFill/>
          </p:spPr>
          <p:txBody>
            <a:bodyPr wrap="square" rtlCol="0">
              <a:spAutoFit/>
            </a:bodyPr>
            <a:lstStyle/>
            <a:p>
              <a:r>
                <a:rPr lang="en-US" dirty="0"/>
                <a:t>Burp</a:t>
              </a:r>
            </a:p>
          </p:txBody>
        </p:sp>
      </p:gr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3.03997E-6 0 L -0.34494 0 " pathEditMode="relative" rAng="0" ptsTypes="AA">
                                      <p:cBhvr>
                                        <p:cTn id="16" dur="1000" fill="hold"/>
                                        <p:tgtEl>
                                          <p:spTgt spid="13"/>
                                        </p:tgtEl>
                                        <p:attrNameLst>
                                          <p:attrName>ppt_x</p:attrName>
                                          <p:attrName>ppt_y</p:attrName>
                                        </p:attrNameLst>
                                      </p:cBhvr>
                                      <p:rCtr x="-17250" y="0"/>
                                    </p:animMotion>
                                  </p:childTnLst>
                                </p:cTn>
                              </p:par>
                            </p:childTnLst>
                          </p:cTn>
                        </p:par>
                        <p:par>
                          <p:cTn id="17" fill="hold">
                            <p:stCondLst>
                              <p:cond delay="1000"/>
                            </p:stCondLst>
                            <p:childTnLst>
                              <p:par>
                                <p:cTn id="18" presetID="42" presetClass="path" presetSubtype="0" accel="50000" decel="50000" fill="hold" grpId="0" nodeType="afterEffect">
                                  <p:stCondLst>
                                    <p:cond delay="0"/>
                                  </p:stCondLst>
                                  <p:childTnLst>
                                    <p:animMotion origin="layout" path="M -1.21208E-6 0 L 0.33251 0 " pathEditMode="relative" rAng="0" ptsTypes="AA">
                                      <p:cBhvr>
                                        <p:cTn id="19" dur="1000" fill="hold"/>
                                        <p:tgtEl>
                                          <p:spTgt spid="12"/>
                                        </p:tgtEl>
                                        <p:attrNameLst>
                                          <p:attrName>ppt_x</p:attrName>
                                          <p:attrName>ppt_y</p:attrName>
                                        </p:attrNameLst>
                                      </p:cBhvr>
                                      <p:rCtr x="16625" y="0"/>
                                    </p:animMotion>
                                  </p:childTnLst>
                                </p:cTn>
                              </p:par>
                              <p:par>
                                <p:cTn id="20" presetID="42" presetClass="path" presetSubtype="0" accel="50000" decel="50000" fill="hold" nodeType="withEffect">
                                  <p:stCondLst>
                                    <p:cond delay="0"/>
                                  </p:stCondLst>
                                  <p:childTnLst>
                                    <p:animMotion origin="layout" path="M -0.34494 0 L -1.7003E-6 0 " pathEditMode="relative" rAng="0" ptsTypes="AA">
                                      <p:cBhvr>
                                        <p:cTn id="21" dur="1000" fill="hold"/>
                                        <p:tgtEl>
                                          <p:spTgt spid="13"/>
                                        </p:tgtEl>
                                        <p:attrNameLst>
                                          <p:attrName>ppt_x</p:attrName>
                                          <p:attrName>ppt_y</p:attrName>
                                        </p:attrNameLst>
                                      </p:cBhvr>
                                      <p:rCtr x="17198" y="0"/>
                                    </p:animMotion>
                                  </p:childTnLst>
                                </p:cTn>
                              </p:par>
                            </p:childTnLst>
                          </p:cTn>
                        </p:par>
                      </p:childTnLst>
                    </p:cTn>
                  </p:par>
                  <p:par>
                    <p:cTn id="22" fill="hold">
                      <p:stCondLst>
                        <p:cond delay="indefinite"/>
                      </p:stCondLst>
                      <p:childTnLst>
                        <p:par>
                          <p:cTn id="23" fill="hold">
                            <p:stCondLst>
                              <p:cond delay="0"/>
                            </p:stCondLst>
                            <p:childTnLst>
                              <p:par>
                                <p:cTn id="24" presetID="32" presetClass="emph" presetSubtype="0" fill="hold" grpId="2" nodeType="clickEffect">
                                  <p:stCondLst>
                                    <p:cond delay="0"/>
                                  </p:stCondLst>
                                  <p:childTnLst>
                                    <p:animRot by="120000">
                                      <p:cBhvr>
                                        <p:cTn id="25" dur="50" fill="hold">
                                          <p:stCondLst>
                                            <p:cond delay="0"/>
                                          </p:stCondLst>
                                        </p:cTn>
                                        <p:tgtEl>
                                          <p:spTgt spid="7"/>
                                        </p:tgtEl>
                                        <p:attrNameLst>
                                          <p:attrName>r</p:attrName>
                                        </p:attrNameLst>
                                      </p:cBhvr>
                                    </p:animRot>
                                    <p:animRot by="-240000">
                                      <p:cBhvr>
                                        <p:cTn id="26" dur="100" fill="hold">
                                          <p:stCondLst>
                                            <p:cond delay="100"/>
                                          </p:stCondLst>
                                        </p:cTn>
                                        <p:tgtEl>
                                          <p:spTgt spid="7"/>
                                        </p:tgtEl>
                                        <p:attrNameLst>
                                          <p:attrName>r</p:attrName>
                                        </p:attrNameLst>
                                      </p:cBhvr>
                                    </p:animRot>
                                    <p:animRot by="240000">
                                      <p:cBhvr>
                                        <p:cTn id="27" dur="100" fill="hold">
                                          <p:stCondLst>
                                            <p:cond delay="200"/>
                                          </p:stCondLst>
                                        </p:cTn>
                                        <p:tgtEl>
                                          <p:spTgt spid="7"/>
                                        </p:tgtEl>
                                        <p:attrNameLst>
                                          <p:attrName>r</p:attrName>
                                        </p:attrNameLst>
                                      </p:cBhvr>
                                    </p:animRot>
                                    <p:animRot by="-240000">
                                      <p:cBhvr>
                                        <p:cTn id="28" dur="100" fill="hold">
                                          <p:stCondLst>
                                            <p:cond delay="300"/>
                                          </p:stCondLst>
                                        </p:cTn>
                                        <p:tgtEl>
                                          <p:spTgt spid="7"/>
                                        </p:tgtEl>
                                        <p:attrNameLst>
                                          <p:attrName>r</p:attrName>
                                        </p:attrNameLst>
                                      </p:cBhvr>
                                    </p:animRot>
                                    <p:animRot by="120000">
                                      <p:cBhvr>
                                        <p:cTn id="29" dur="100" fill="hold">
                                          <p:stCondLst>
                                            <p:cond delay="400"/>
                                          </p:stCondLst>
                                        </p:cTn>
                                        <p:tgtEl>
                                          <p:spTgt spid="7"/>
                                        </p:tgtEl>
                                        <p:attrNameLst>
                                          <p:attrName>r</p:attrName>
                                        </p:attrNameLst>
                                      </p:cBhvr>
                                    </p:animRot>
                                  </p:childTnLst>
                                </p:cTn>
                              </p:par>
                            </p:childTnLst>
                          </p:cTn>
                        </p:par>
                        <p:par>
                          <p:cTn id="30" fill="hold">
                            <p:stCondLst>
                              <p:cond delay="500"/>
                            </p:stCondLst>
                            <p:childTnLst>
                              <p:par>
                                <p:cTn id="31" presetID="6" presetClass="emph" presetSubtype="0" fill="hold" grpId="1" nodeType="afterEffect">
                                  <p:stCondLst>
                                    <p:cond delay="0"/>
                                  </p:stCondLst>
                                  <p:childTnLst>
                                    <p:animScale>
                                      <p:cBhvr>
                                        <p:cTn id="32" dur="500" fill="hold"/>
                                        <p:tgtEl>
                                          <p:spTgt spid="7"/>
                                        </p:tgtEl>
                                      </p:cBhvr>
                                      <p:by x="120000" y="120000"/>
                                    </p:animScale>
                                  </p:childTnLst>
                                </p:cTn>
                              </p:par>
                            </p:childTnLst>
                          </p:cTn>
                        </p:par>
                        <p:par>
                          <p:cTn id="33" fill="hold">
                            <p:stCondLst>
                              <p:cond delay="1000"/>
                            </p:stCondLst>
                            <p:childTnLst>
                              <p:par>
                                <p:cTn id="34" presetID="1" presetClass="entr" presetSubtype="0" fill="hold" nodeType="afterEffect">
                                  <p:stCondLst>
                                    <p:cond delay="250"/>
                                  </p:stCondLst>
                                  <p:childTnLst>
                                    <p:set>
                                      <p:cBhvr>
                                        <p:cTn id="35" dur="1" fill="hold">
                                          <p:stCondLst>
                                            <p:cond delay="0"/>
                                          </p:stCondLst>
                                        </p:cTn>
                                        <p:tgtEl>
                                          <p:spTgt spid="18"/>
                                        </p:tgtEl>
                                        <p:attrNameLst>
                                          <p:attrName>style.visibility</p:attrName>
                                        </p:attrNameLst>
                                      </p:cBhvr>
                                      <p:to>
                                        <p:strVal val="visible"/>
                                      </p:to>
                                    </p:set>
                                  </p:childTnLst>
                                </p:cTn>
                              </p:par>
                            </p:childTnLst>
                          </p:cTn>
                        </p:par>
                        <p:par>
                          <p:cTn id="36" fill="hold">
                            <p:stCondLst>
                              <p:cond delay="1250"/>
                            </p:stCondLst>
                            <p:childTnLst>
                              <p:par>
                                <p:cTn id="37" presetID="1" presetClass="exit" presetSubtype="0" fill="hold" nodeType="afterEffect">
                                  <p:stCondLst>
                                    <p:cond delay="250"/>
                                  </p:stCondLst>
                                  <p:childTnLst>
                                    <p:set>
                                      <p:cBhvr>
                                        <p:cTn id="38"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7" grpId="0" animBg="1"/>
      <p:bldP spid="7" grpId="1" animBg="1"/>
      <p:bldP spid="7" grpId="2"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51</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4" name="TextBox 3">
            <a:extLst>
              <a:ext uri="{FF2B5EF4-FFF2-40B4-BE49-F238E27FC236}">
                <a16:creationId xmlns:a16="http://schemas.microsoft.com/office/drawing/2014/main" id="{6605DA32-0168-6DBA-7ED0-AF71A2ED15C0}"/>
              </a:ext>
            </a:extLst>
          </p:cNvPr>
          <p:cNvSpPr txBox="1"/>
          <p:nvPr/>
        </p:nvSpPr>
        <p:spPr>
          <a:xfrm>
            <a:off x="2598821" y="2995409"/>
            <a:ext cx="15288126" cy="2862322"/>
          </a:xfrm>
          <a:prstGeom prst="rect">
            <a:avLst/>
          </a:prstGeom>
          <a:noFill/>
        </p:spPr>
        <p:txBody>
          <a:bodyPr wrap="square">
            <a:spAutoFit/>
          </a:bodyPr>
          <a:lstStyle/>
          <a:p>
            <a:r>
              <a:rPr lang="en-US" sz="6000" b="0" dirty="0">
                <a:solidFill>
                  <a:srgbClr val="AF00DB"/>
                </a:solidFill>
                <a:effectLst/>
                <a:latin typeface="Courier New" panose="02070309020205020404" pitchFamily="49" charset="0"/>
              </a:rPr>
              <a:t>import</a:t>
            </a:r>
            <a:r>
              <a:rPr lang="en-US" sz="6000" b="0" dirty="0">
                <a:solidFill>
                  <a:srgbClr val="000000"/>
                </a:solidFill>
                <a:effectLst/>
                <a:latin typeface="Courier New" panose="02070309020205020404" pitchFamily="49" charset="0"/>
              </a:rPr>
              <a:t> </a:t>
            </a:r>
            <a:r>
              <a:rPr lang="en-US" sz="6000" b="0" dirty="0" err="1">
                <a:solidFill>
                  <a:srgbClr val="000000"/>
                </a:solidFill>
                <a:effectLst/>
                <a:latin typeface="Courier New" panose="02070309020205020404" pitchFamily="49" charset="0"/>
              </a:rPr>
              <a:t>sklearn</a:t>
            </a:r>
            <a:endParaRPr lang="en-US" sz="6000" b="0" dirty="0">
              <a:solidFill>
                <a:srgbClr val="000000"/>
              </a:solidFill>
              <a:effectLst/>
              <a:latin typeface="Courier New" panose="02070309020205020404" pitchFamily="49" charset="0"/>
            </a:endParaRPr>
          </a:p>
          <a:p>
            <a:r>
              <a:rPr lang="en-US" sz="6000" b="0" dirty="0">
                <a:solidFill>
                  <a:srgbClr val="AF00DB"/>
                </a:solidFill>
                <a:effectLst/>
                <a:latin typeface="Courier New" panose="02070309020205020404" pitchFamily="49" charset="0"/>
              </a:rPr>
              <a:t>from</a:t>
            </a:r>
            <a:r>
              <a:rPr lang="en-US" sz="6000" b="0" dirty="0">
                <a:solidFill>
                  <a:srgbClr val="000000"/>
                </a:solidFill>
                <a:effectLst/>
                <a:latin typeface="Courier New" panose="02070309020205020404" pitchFamily="49" charset="0"/>
              </a:rPr>
              <a:t> </a:t>
            </a:r>
            <a:r>
              <a:rPr lang="en-US" sz="6000" b="0" dirty="0" err="1">
                <a:solidFill>
                  <a:srgbClr val="000000"/>
                </a:solidFill>
                <a:effectLst/>
                <a:latin typeface="Courier New" panose="02070309020205020404" pitchFamily="49" charset="0"/>
              </a:rPr>
              <a:t>sklearn</a:t>
            </a:r>
            <a:r>
              <a:rPr lang="en-US" sz="6000" b="0" dirty="0">
                <a:solidFill>
                  <a:srgbClr val="000000"/>
                </a:solidFill>
                <a:effectLst/>
                <a:latin typeface="Courier New" panose="02070309020205020404" pitchFamily="49" charset="0"/>
              </a:rPr>
              <a:t> </a:t>
            </a:r>
            <a:r>
              <a:rPr lang="en-US" sz="6000" b="0" dirty="0">
                <a:solidFill>
                  <a:srgbClr val="AF00DB"/>
                </a:solidFill>
                <a:effectLst/>
                <a:latin typeface="Courier New" panose="02070309020205020404" pitchFamily="49" charset="0"/>
              </a:rPr>
              <a:t>import</a:t>
            </a:r>
            <a:r>
              <a:rPr lang="en-US" sz="6000" b="0" dirty="0">
                <a:solidFill>
                  <a:srgbClr val="000000"/>
                </a:solidFill>
                <a:effectLst/>
                <a:latin typeface="Courier New" panose="02070309020205020404" pitchFamily="49" charset="0"/>
              </a:rPr>
              <a:t> </a:t>
            </a:r>
            <a:r>
              <a:rPr lang="en-US" sz="6000" b="0" dirty="0" err="1">
                <a:solidFill>
                  <a:srgbClr val="000000"/>
                </a:solidFill>
                <a:effectLst/>
                <a:latin typeface="Courier New" panose="02070309020205020404" pitchFamily="49" charset="0"/>
              </a:rPr>
              <a:t>linear_model</a:t>
            </a:r>
            <a:endParaRPr lang="en-US" sz="6000" b="0" dirty="0">
              <a:solidFill>
                <a:srgbClr val="000000"/>
              </a:solidFill>
              <a:effectLst/>
              <a:latin typeface="Courier New" panose="02070309020205020404" pitchFamily="49" charset="0"/>
            </a:endParaRPr>
          </a:p>
          <a:p>
            <a:r>
              <a:rPr lang="en-US" sz="6000" b="0" dirty="0">
                <a:solidFill>
                  <a:srgbClr val="AF00DB"/>
                </a:solidFill>
                <a:effectLst/>
                <a:latin typeface="Courier New" panose="02070309020205020404" pitchFamily="49" charset="0"/>
              </a:rPr>
              <a:t>import</a:t>
            </a:r>
            <a:r>
              <a:rPr lang="en-US" sz="6000" b="0" dirty="0">
                <a:solidFill>
                  <a:srgbClr val="000000"/>
                </a:solidFill>
                <a:effectLst/>
                <a:latin typeface="Courier New" panose="02070309020205020404" pitchFamily="49" charset="0"/>
              </a:rPr>
              <a:t> </a:t>
            </a:r>
            <a:r>
              <a:rPr lang="en-US" sz="6000" b="0" dirty="0" err="1">
                <a:solidFill>
                  <a:srgbClr val="000000"/>
                </a:solidFill>
                <a:effectLst/>
                <a:latin typeface="Courier New" panose="02070309020205020404" pitchFamily="49" charset="0"/>
              </a:rPr>
              <a:t>sklearn</a:t>
            </a:r>
            <a:r>
              <a:rPr lang="en-US" sz="6000" b="0" dirty="0">
                <a:solidFill>
                  <a:srgbClr val="000000"/>
                </a:solidFill>
                <a:effectLst/>
                <a:latin typeface="Courier New" panose="02070309020205020404" pitchFamily="49" charset="0"/>
              </a:rPr>
              <a:t> </a:t>
            </a:r>
            <a:r>
              <a:rPr lang="en-US" sz="6000" b="0" dirty="0">
                <a:solidFill>
                  <a:srgbClr val="AF00DB"/>
                </a:solidFill>
                <a:effectLst/>
                <a:latin typeface="Courier New" panose="02070309020205020404" pitchFamily="49" charset="0"/>
              </a:rPr>
              <a:t>as</a:t>
            </a:r>
            <a:r>
              <a:rPr lang="en-US" sz="6000" b="0" dirty="0">
                <a:solidFill>
                  <a:srgbClr val="000000"/>
                </a:solidFill>
                <a:effectLst/>
                <a:latin typeface="Courier New" panose="02070309020205020404" pitchFamily="49" charset="0"/>
              </a:rPr>
              <a:t> </a:t>
            </a:r>
            <a:r>
              <a:rPr lang="en-US" sz="6000" b="0" dirty="0" err="1">
                <a:solidFill>
                  <a:srgbClr val="000000"/>
                </a:solidFill>
                <a:effectLst/>
                <a:latin typeface="Courier New" panose="02070309020205020404" pitchFamily="49" charset="0"/>
              </a:rPr>
              <a:t>skl</a:t>
            </a:r>
            <a:endParaRPr lang="en-US" sz="6000" b="0" dirty="0">
              <a:solidFill>
                <a:srgbClr val="000000"/>
              </a:solidFill>
              <a:effectLst/>
              <a:latin typeface="Courier New" panose="02070309020205020404" pitchFamily="49" charset="0"/>
            </a:endParaRPr>
          </a:p>
        </p:txBody>
      </p:sp>
    </p:spTree>
    <p:extLst>
      <p:ext uri="{BB962C8B-B14F-4D97-AF65-F5344CB8AC3E}">
        <p14:creationId xmlns:p14="http://schemas.microsoft.com/office/powerpoint/2010/main" val="239259800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402" name="Google Shape;402;p55"/>
          <p:cNvSpPr txBox="1">
            <a:spLocks noGrp="1"/>
          </p:cNvSpPr>
          <p:nvPr>
            <p:ph type="title"/>
          </p:nvPr>
        </p:nvSpPr>
        <p:spPr>
          <a:xfrm>
            <a:off x="1768836" y="1543984"/>
            <a:ext cx="20505870" cy="1427200"/>
          </a:xfrm>
          <a:prstGeom prst="rect">
            <a:avLst/>
          </a:prstGeom>
        </p:spPr>
        <p:txBody>
          <a:bodyPr spcFirstLastPara="1" vert="horz" wrap="square" lIns="243800" tIns="243800" rIns="243800" bIns="243800" rtlCol="0" anchor="t" anchorCtr="0">
            <a:normAutofit fontScale="90000"/>
          </a:bodyPr>
          <a:lstStyle/>
          <a:p>
            <a:r>
              <a:rPr lang="en" b="1" dirty="0">
                <a:latin typeface="Helvetica Neue" panose="02000503000000020004" pitchFamily="2" charset="0"/>
                <a:ea typeface="Helvetica Neue" panose="02000503000000020004" pitchFamily="2" charset="0"/>
                <a:cs typeface="Helvetica Neue" panose="02000503000000020004" pitchFamily="2" charset="0"/>
              </a:rPr>
              <a:t>Lecture Outline</a:t>
            </a:r>
            <a:endParaRPr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4" name="Google Shape;404;p55"/>
          <p:cNvSpPr txBox="1">
            <a:spLocks noGrp="1"/>
          </p:cNvSpPr>
          <p:nvPr>
            <p:ph type="body" idx="1"/>
          </p:nvPr>
        </p:nvSpPr>
        <p:spPr>
          <a:xfrm>
            <a:off x="1940651" y="3100270"/>
            <a:ext cx="8310253" cy="2713415"/>
          </a:xfrm>
          <a:prstGeom prst="rect">
            <a:avLst/>
          </a:prstGeom>
        </p:spPr>
        <p:txBody>
          <a:bodyPr spcFirstLastPara="1" vert="horz" wrap="square" lIns="243800" tIns="243800" rIns="243800" bIns="243800" rtlCol="0" anchor="t" anchorCtr="0">
            <a:normAutofit/>
          </a:bodyPr>
          <a:lstStyle/>
          <a:p>
            <a:pPr marL="455568" indent="0">
              <a:lnSpc>
                <a:spcPct val="200000"/>
              </a:lnSpc>
              <a:buSzPct val="100000"/>
              <a:buNone/>
            </a:pPr>
            <a:r>
              <a:rPr lang="en"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What is a function?</a:t>
            </a:r>
            <a:endParaRPr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03" name="Google Shape;403;p55"/>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52</a:t>
            </a:fld>
            <a:endParaRPr>
              <a:solidFill>
                <a:schemeClr val="accent1"/>
              </a:solidFill>
              <a:latin typeface="Lato"/>
              <a:ea typeface="Lato"/>
              <a:cs typeface="Lato"/>
              <a:sym typeface="Lato"/>
            </a:endParaRPr>
          </a:p>
        </p:txBody>
      </p:sp>
      <p:sp>
        <p:nvSpPr>
          <p:cNvPr id="2" name="Google Shape;404;p55">
            <a:extLst>
              <a:ext uri="{FF2B5EF4-FFF2-40B4-BE49-F238E27FC236}">
                <a16:creationId xmlns:a16="http://schemas.microsoft.com/office/drawing/2014/main" id="{C23724DE-D0F4-1B60-8BA5-494F5A90BC74}"/>
              </a:ext>
            </a:extLst>
          </p:cNvPr>
          <p:cNvSpPr txBox="1">
            <a:spLocks/>
          </p:cNvSpPr>
          <p:nvPr/>
        </p:nvSpPr>
        <p:spPr>
          <a:xfrm>
            <a:off x="1943152" y="4916575"/>
            <a:ext cx="7440691"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Built-ins</a:t>
            </a:r>
          </a:p>
        </p:txBody>
      </p:sp>
      <p:sp>
        <p:nvSpPr>
          <p:cNvPr id="4" name="Google Shape;404;p55">
            <a:extLst>
              <a:ext uri="{FF2B5EF4-FFF2-40B4-BE49-F238E27FC236}">
                <a16:creationId xmlns:a16="http://schemas.microsoft.com/office/drawing/2014/main" id="{180CAAB9-6628-C8B5-C756-4862FDC21B3A}"/>
              </a:ext>
            </a:extLst>
          </p:cNvPr>
          <p:cNvSpPr txBox="1">
            <a:spLocks/>
          </p:cNvSpPr>
          <p:nvPr/>
        </p:nvSpPr>
        <p:spPr>
          <a:xfrm>
            <a:off x="1943152" y="6695511"/>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Importing</a:t>
            </a:r>
          </a:p>
        </p:txBody>
      </p:sp>
      <p:sp>
        <p:nvSpPr>
          <p:cNvPr id="7" name="Google Shape;404;p55">
            <a:extLst>
              <a:ext uri="{FF2B5EF4-FFF2-40B4-BE49-F238E27FC236}">
                <a16:creationId xmlns:a16="http://schemas.microsoft.com/office/drawing/2014/main" id="{26A6C10D-8715-980E-D1AE-8AF2A435CA4D}"/>
              </a:ext>
            </a:extLst>
          </p:cNvPr>
          <p:cNvSpPr txBox="1">
            <a:spLocks/>
          </p:cNvSpPr>
          <p:nvPr/>
        </p:nvSpPr>
        <p:spPr>
          <a:xfrm>
            <a:off x="1940651" y="8474447"/>
            <a:ext cx="8307752" cy="2413610"/>
          </a:xfrm>
          <a:prstGeom prst="rect">
            <a:avLst/>
          </a:prstGeom>
        </p:spPr>
        <p:txBody>
          <a:bodyPr spcFirstLastPara="1" vert="horz" wrap="square" lIns="243800" tIns="243800" rIns="243800" bIns="243800" rtlCol="0" anchor="t" anchorCtr="0">
            <a:normAutofit/>
          </a:bodyPr>
          <a:lstStyle>
            <a:lvl1pPr marL="1219367" lvl="0" indent="-829848" algn="l" defTabSz="1828800" rtl="0" eaLnBrk="1" latinLnBrk="0" hangingPunct="1">
              <a:lnSpc>
                <a:spcPct val="90000"/>
              </a:lnSpc>
              <a:spcBef>
                <a:spcPts val="0"/>
              </a:spcBef>
              <a:spcAft>
                <a:spcPts val="0"/>
              </a:spcAft>
              <a:buSzPts val="1300"/>
              <a:buFont typeface="Arial" panose="020B0604020202020204" pitchFamily="34" charset="0"/>
              <a:buChar char="●"/>
              <a:defRPr sz="5600" kern="1200">
                <a:solidFill>
                  <a:schemeClr val="tx1"/>
                </a:solidFill>
                <a:latin typeface="+mn-lt"/>
                <a:ea typeface="+mn-ea"/>
                <a:cs typeface="+mn-cs"/>
              </a:defRPr>
            </a:lvl1pPr>
            <a:lvl2pPr marL="2438734" lvl="1" indent="-795975" algn="l" defTabSz="1828800" rtl="0" eaLnBrk="1" latinLnBrk="0" hangingPunct="1">
              <a:lnSpc>
                <a:spcPct val="90000"/>
              </a:lnSpc>
              <a:spcBef>
                <a:spcPts val="0"/>
              </a:spcBef>
              <a:spcAft>
                <a:spcPts val="0"/>
              </a:spcAft>
              <a:buSzPts val="1100"/>
              <a:buFont typeface="Arial" panose="020B0604020202020204" pitchFamily="34" charset="0"/>
              <a:buChar char="○"/>
              <a:defRPr sz="4800" kern="1200">
                <a:solidFill>
                  <a:schemeClr val="tx1"/>
                </a:solidFill>
                <a:latin typeface="+mn-lt"/>
                <a:ea typeface="+mn-ea"/>
                <a:cs typeface="+mn-cs"/>
              </a:defRPr>
            </a:lvl2pPr>
            <a:lvl3pPr marL="3658102" lvl="2" indent="-795975" algn="l" defTabSz="1828800" rtl="0" eaLnBrk="1" latinLnBrk="0" hangingPunct="1">
              <a:lnSpc>
                <a:spcPct val="90000"/>
              </a:lnSpc>
              <a:spcBef>
                <a:spcPts val="0"/>
              </a:spcBef>
              <a:spcAft>
                <a:spcPts val="0"/>
              </a:spcAft>
              <a:buSzPts val="1100"/>
              <a:buFont typeface="Arial" panose="020B0604020202020204" pitchFamily="34" charset="0"/>
              <a:buChar char="■"/>
              <a:defRPr sz="4000" kern="1200">
                <a:solidFill>
                  <a:schemeClr val="tx1"/>
                </a:solidFill>
                <a:latin typeface="+mn-lt"/>
                <a:ea typeface="+mn-ea"/>
                <a:cs typeface="+mn-cs"/>
              </a:defRPr>
            </a:lvl3pPr>
            <a:lvl4pPr marL="4877472" lvl="3"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4pPr>
            <a:lvl5pPr marL="6096839" lvl="4"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5pPr>
            <a:lvl6pPr marL="7316206" lvl="5"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6pPr>
            <a:lvl7pPr marL="8535573" lvl="6"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7pPr>
            <a:lvl8pPr marL="9754941" lvl="7"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8pPr>
            <a:lvl9pPr marL="10974311" lvl="8" indent="-795975" algn="l" defTabSz="1828800" rtl="0" eaLnBrk="1" latinLnBrk="0" hangingPunct="1">
              <a:lnSpc>
                <a:spcPct val="90000"/>
              </a:lnSpc>
              <a:spcBef>
                <a:spcPts val="0"/>
              </a:spcBef>
              <a:spcAft>
                <a:spcPts val="0"/>
              </a:spcAft>
              <a:buSzPts val="1100"/>
              <a:buFont typeface="Arial" panose="020B0604020202020204" pitchFamily="34" charset="0"/>
              <a:buChar char="■"/>
              <a:defRPr sz="3600" kern="1200">
                <a:solidFill>
                  <a:schemeClr val="tx1"/>
                </a:solidFill>
                <a:latin typeface="+mn-lt"/>
                <a:ea typeface="+mn-ea"/>
                <a:cs typeface="+mn-cs"/>
              </a:defRPr>
            </a:lvl9pPr>
          </a:lstStyle>
          <a:p>
            <a:pPr marL="455568" indent="0">
              <a:lnSpc>
                <a:spcPct val="200000"/>
              </a:lnSpc>
              <a:buSzPct val="100000"/>
              <a:buFont typeface="Arial" panose="020B0604020202020204" pitchFamily="34" charset="0"/>
              <a:buNone/>
            </a:pPr>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p:txBody>
      </p:sp>
    </p:spTree>
    <p:extLst>
      <p:ext uri="{BB962C8B-B14F-4D97-AF65-F5344CB8AC3E}">
        <p14:creationId xmlns:p14="http://schemas.microsoft.com/office/powerpoint/2010/main" val="77518778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53</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p:txBody>
      </p:sp>
      <p:sp>
        <p:nvSpPr>
          <p:cNvPr id="5" name="TextBox 4">
            <a:extLst>
              <a:ext uri="{FF2B5EF4-FFF2-40B4-BE49-F238E27FC236}">
                <a16:creationId xmlns:a16="http://schemas.microsoft.com/office/drawing/2014/main" id="{D40623D0-8EC6-97B2-61C8-8CA56B16AE95}"/>
              </a:ext>
            </a:extLst>
          </p:cNvPr>
          <p:cNvSpPr txBox="1"/>
          <p:nvPr/>
        </p:nvSpPr>
        <p:spPr>
          <a:xfrm>
            <a:off x="2662990" y="2861194"/>
            <a:ext cx="12192000" cy="1446550"/>
          </a:xfrm>
          <a:prstGeom prst="rect">
            <a:avLst/>
          </a:prstGeom>
          <a:noFill/>
        </p:spPr>
        <p:txBody>
          <a:bodyPr wrap="square">
            <a:spAutoFit/>
          </a:bodyPr>
          <a:lstStyle/>
          <a:p>
            <a:r>
              <a:rPr lang="en-US" sz="4400" b="0" dirty="0">
                <a:solidFill>
                  <a:srgbClr val="0000FF"/>
                </a:solidFill>
                <a:effectLst/>
                <a:latin typeface="Courier New" panose="02070309020205020404" pitchFamily="49" charset="0"/>
              </a:rPr>
              <a:t>def</a:t>
            </a:r>
            <a:r>
              <a:rPr lang="en-US" sz="4400" b="0" dirty="0">
                <a:solidFill>
                  <a:srgbClr val="000000"/>
                </a:solidFill>
                <a:effectLst/>
                <a:latin typeface="Courier New" panose="02070309020205020404" pitchFamily="49" charset="0"/>
              </a:rPr>
              <a:t> </a:t>
            </a:r>
            <a:r>
              <a:rPr lang="en-US" sz="4400" b="0" dirty="0" err="1">
                <a:solidFill>
                  <a:srgbClr val="795E26"/>
                </a:solidFill>
                <a:effectLst/>
                <a:latin typeface="Courier New" panose="02070309020205020404" pitchFamily="49" charset="0"/>
              </a:rPr>
              <a:t>function_name</a:t>
            </a:r>
            <a:r>
              <a:rPr lang="en-US" sz="4400" b="0" dirty="0">
                <a:solidFill>
                  <a:srgbClr val="000000"/>
                </a:solidFill>
                <a:effectLst/>
                <a:latin typeface="Courier New" panose="02070309020205020404" pitchFamily="49" charset="0"/>
              </a:rPr>
              <a:t>(</a:t>
            </a:r>
            <a:r>
              <a:rPr lang="en-US" sz="4400" b="0" dirty="0">
                <a:solidFill>
                  <a:srgbClr val="001080"/>
                </a:solidFill>
                <a:effectLst/>
                <a:latin typeface="Courier New" panose="02070309020205020404" pitchFamily="49" charset="0"/>
              </a:rPr>
              <a:t>arg1</a:t>
            </a:r>
            <a:r>
              <a:rPr lang="en-US" sz="4400" b="0" dirty="0">
                <a:solidFill>
                  <a:srgbClr val="000000"/>
                </a:solidFill>
                <a:effectLst/>
                <a:latin typeface="Courier New" panose="02070309020205020404" pitchFamily="49" charset="0"/>
              </a:rPr>
              <a:t>, </a:t>
            </a:r>
            <a:r>
              <a:rPr lang="en-US" sz="4400" b="0" dirty="0">
                <a:solidFill>
                  <a:srgbClr val="001080"/>
                </a:solidFill>
                <a:effectLst/>
                <a:latin typeface="Courier New" panose="02070309020205020404" pitchFamily="49" charset="0"/>
              </a:rPr>
              <a:t>arg2</a:t>
            </a:r>
            <a:r>
              <a:rPr lang="en-US" sz="4400" b="0" dirty="0">
                <a:solidFill>
                  <a:srgbClr val="000000"/>
                </a:solidFill>
                <a:effectLst/>
                <a:latin typeface="Courier New" panose="02070309020205020404" pitchFamily="49" charset="0"/>
              </a:rPr>
              <a:t>, ...):</a:t>
            </a:r>
          </a:p>
          <a:p>
            <a:r>
              <a:rPr lang="en-US" sz="4400" b="0" dirty="0">
                <a:solidFill>
                  <a:srgbClr val="008000"/>
                </a:solidFill>
                <a:effectLst/>
                <a:latin typeface="Courier New" panose="02070309020205020404" pitchFamily="49" charset="0"/>
              </a:rPr>
              <a:t>	# do stuff here</a:t>
            </a:r>
            <a:endParaRPr lang="en-US" sz="4400" b="0" dirty="0">
              <a:solidFill>
                <a:srgbClr val="000000"/>
              </a:solidFill>
              <a:effectLst/>
              <a:latin typeface="Courier New" panose="02070309020205020404" pitchFamily="49" charset="0"/>
            </a:endParaRPr>
          </a:p>
        </p:txBody>
      </p:sp>
      <p:grpSp>
        <p:nvGrpSpPr>
          <p:cNvPr id="19" name="Group 18">
            <a:extLst>
              <a:ext uri="{FF2B5EF4-FFF2-40B4-BE49-F238E27FC236}">
                <a16:creationId xmlns:a16="http://schemas.microsoft.com/office/drawing/2014/main" id="{B764EA9A-B8F2-AA38-2B2F-BF7E4369B062}"/>
              </a:ext>
            </a:extLst>
          </p:cNvPr>
          <p:cNvGrpSpPr/>
          <p:nvPr/>
        </p:nvGrpSpPr>
        <p:grpSpPr>
          <a:xfrm>
            <a:off x="8843261" y="977765"/>
            <a:ext cx="4398042" cy="1847161"/>
            <a:chOff x="8843261" y="977765"/>
            <a:chExt cx="4398042" cy="1847161"/>
          </a:xfrm>
        </p:grpSpPr>
        <p:grpSp>
          <p:nvGrpSpPr>
            <p:cNvPr id="6" name="Group 5">
              <a:extLst>
                <a:ext uri="{FF2B5EF4-FFF2-40B4-BE49-F238E27FC236}">
                  <a16:creationId xmlns:a16="http://schemas.microsoft.com/office/drawing/2014/main" id="{3A1CF262-9658-CCBD-2F11-F790E6091955}"/>
                </a:ext>
              </a:extLst>
            </p:cNvPr>
            <p:cNvGrpSpPr/>
            <p:nvPr/>
          </p:nvGrpSpPr>
          <p:grpSpPr>
            <a:xfrm>
              <a:off x="8843261" y="977765"/>
              <a:ext cx="4398042" cy="1772715"/>
              <a:chOff x="10536455" y="2538734"/>
              <a:chExt cx="4398042" cy="1772715"/>
            </a:xfrm>
          </p:grpSpPr>
          <p:sp>
            <p:nvSpPr>
              <p:cNvPr id="8" name="that’s a lot of features!">
                <a:extLst>
                  <a:ext uri="{FF2B5EF4-FFF2-40B4-BE49-F238E27FC236}">
                    <a16:creationId xmlns:a16="http://schemas.microsoft.com/office/drawing/2014/main" id="{329ACF4B-E7A3-FAA5-BC40-0ABEFE2F8BFA}"/>
                  </a:ext>
                </a:extLst>
              </p:cNvPr>
              <p:cNvSpPr txBox="1"/>
              <p:nvPr/>
            </p:nvSpPr>
            <p:spPr>
              <a:xfrm>
                <a:off x="10536455" y="2538734"/>
                <a:ext cx="4398042" cy="7181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Arguments passed</a:t>
                </a:r>
                <a:endParaRPr dirty="0">
                  <a:solidFill>
                    <a:srgbClr val="EF7001"/>
                  </a:solidFill>
                </a:endParaRPr>
              </a:p>
            </p:txBody>
          </p:sp>
          <p:pic>
            <p:nvPicPr>
              <p:cNvPr id="10" name="Line Line" descr="Line Line">
                <a:extLst>
                  <a:ext uri="{FF2B5EF4-FFF2-40B4-BE49-F238E27FC236}">
                    <a16:creationId xmlns:a16="http://schemas.microsoft.com/office/drawing/2014/main" id="{89F73F07-A516-5860-9835-DB9247ED270B}"/>
                  </a:ext>
                </a:extLst>
              </p:cNvPr>
              <p:cNvPicPr>
                <a:picLocks/>
              </p:cNvPicPr>
              <p:nvPr/>
            </p:nvPicPr>
            <p:blipFill>
              <a:blip r:embed="rId3"/>
              <a:stretch>
                <a:fillRect/>
              </a:stretch>
            </p:blipFill>
            <p:spPr>
              <a:xfrm rot="6998290">
                <a:off x="10953217" y="3566822"/>
                <a:ext cx="997180" cy="492074"/>
              </a:xfrm>
              <a:prstGeom prst="rect">
                <a:avLst/>
              </a:prstGeom>
            </p:spPr>
          </p:pic>
        </p:grpSp>
        <p:pic>
          <p:nvPicPr>
            <p:cNvPr id="15" name="Line Line" descr="Line Line">
              <a:extLst>
                <a:ext uri="{FF2B5EF4-FFF2-40B4-BE49-F238E27FC236}">
                  <a16:creationId xmlns:a16="http://schemas.microsoft.com/office/drawing/2014/main" id="{880B9CA2-AF55-8BCB-240A-B902A8E04268}"/>
                </a:ext>
              </a:extLst>
            </p:cNvPr>
            <p:cNvPicPr>
              <a:picLocks/>
            </p:cNvPicPr>
            <p:nvPr/>
          </p:nvPicPr>
          <p:blipFill>
            <a:blip r:embed="rId3"/>
            <a:stretch>
              <a:fillRect/>
            </a:stretch>
          </p:blipFill>
          <p:spPr>
            <a:xfrm rot="3686099">
              <a:off x="11130684" y="2080299"/>
              <a:ext cx="997180" cy="492074"/>
            </a:xfrm>
            <a:prstGeom prst="rect">
              <a:avLst/>
            </a:prstGeom>
          </p:spPr>
        </p:pic>
      </p:grpSp>
    </p:spTree>
    <p:extLst>
      <p:ext uri="{BB962C8B-B14F-4D97-AF65-F5344CB8AC3E}">
        <p14:creationId xmlns:p14="http://schemas.microsoft.com/office/powerpoint/2010/main" val="330712701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54</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Box 4">
            <a:extLst>
              <a:ext uri="{FF2B5EF4-FFF2-40B4-BE49-F238E27FC236}">
                <a16:creationId xmlns:a16="http://schemas.microsoft.com/office/drawing/2014/main" id="{D40623D0-8EC6-97B2-61C8-8CA56B16AE95}"/>
              </a:ext>
            </a:extLst>
          </p:cNvPr>
          <p:cNvSpPr txBox="1"/>
          <p:nvPr/>
        </p:nvSpPr>
        <p:spPr>
          <a:xfrm>
            <a:off x="2662990" y="2861194"/>
            <a:ext cx="12192000" cy="2800767"/>
          </a:xfrm>
          <a:prstGeom prst="rect">
            <a:avLst/>
          </a:prstGeom>
          <a:noFill/>
        </p:spPr>
        <p:txBody>
          <a:bodyPr wrap="square">
            <a:spAutoFit/>
          </a:bodyPr>
          <a:lstStyle/>
          <a:p>
            <a:r>
              <a:rPr lang="en-US" sz="4400" b="0" dirty="0">
                <a:solidFill>
                  <a:srgbClr val="0000FF"/>
                </a:solidFill>
                <a:effectLst/>
                <a:latin typeface="Courier New" panose="02070309020205020404" pitchFamily="49" charset="0"/>
              </a:rPr>
              <a:t>def</a:t>
            </a:r>
            <a:r>
              <a:rPr lang="en-US" sz="4400" b="0" dirty="0">
                <a:solidFill>
                  <a:srgbClr val="000000"/>
                </a:solidFill>
                <a:effectLst/>
                <a:latin typeface="Courier New" panose="02070309020205020404" pitchFamily="49" charset="0"/>
              </a:rPr>
              <a:t> </a:t>
            </a:r>
            <a:r>
              <a:rPr lang="en-US" sz="4400" b="0" dirty="0" err="1">
                <a:solidFill>
                  <a:srgbClr val="795E26"/>
                </a:solidFill>
                <a:effectLst/>
                <a:latin typeface="Courier New" panose="02070309020205020404" pitchFamily="49" charset="0"/>
              </a:rPr>
              <a:t>function_name</a:t>
            </a:r>
            <a:r>
              <a:rPr lang="en-US" sz="4400" b="0" dirty="0">
                <a:solidFill>
                  <a:srgbClr val="000000"/>
                </a:solidFill>
                <a:effectLst/>
                <a:latin typeface="Courier New" panose="02070309020205020404" pitchFamily="49" charset="0"/>
              </a:rPr>
              <a:t>(</a:t>
            </a:r>
            <a:r>
              <a:rPr lang="en-US" sz="4400" b="0" dirty="0">
                <a:solidFill>
                  <a:srgbClr val="001080"/>
                </a:solidFill>
                <a:effectLst/>
                <a:latin typeface="Courier New" panose="02070309020205020404" pitchFamily="49" charset="0"/>
              </a:rPr>
              <a:t>arg1</a:t>
            </a:r>
            <a:r>
              <a:rPr lang="en-US" sz="4400" b="0" dirty="0">
                <a:solidFill>
                  <a:srgbClr val="000000"/>
                </a:solidFill>
                <a:effectLst/>
                <a:latin typeface="Courier New" panose="02070309020205020404" pitchFamily="49" charset="0"/>
              </a:rPr>
              <a:t>, </a:t>
            </a:r>
            <a:r>
              <a:rPr lang="en-US" sz="4400" b="0" dirty="0">
                <a:solidFill>
                  <a:srgbClr val="001080"/>
                </a:solidFill>
                <a:effectLst/>
                <a:latin typeface="Courier New" panose="02070309020205020404" pitchFamily="49" charset="0"/>
              </a:rPr>
              <a:t>arg2</a:t>
            </a:r>
            <a:r>
              <a:rPr lang="en-US" sz="4400" b="0" dirty="0">
                <a:solidFill>
                  <a:srgbClr val="000000"/>
                </a:solidFill>
                <a:effectLst/>
                <a:latin typeface="Courier New" panose="02070309020205020404" pitchFamily="49" charset="0"/>
              </a:rPr>
              <a:t>, ...):</a:t>
            </a:r>
          </a:p>
          <a:p>
            <a:r>
              <a:rPr lang="en-US" sz="4400" b="0" dirty="0">
                <a:solidFill>
                  <a:srgbClr val="008000"/>
                </a:solidFill>
                <a:effectLst/>
                <a:latin typeface="Courier New" panose="02070309020205020404" pitchFamily="49" charset="0"/>
              </a:rPr>
              <a:t>	# do stuff here</a:t>
            </a:r>
          </a:p>
          <a:p>
            <a:r>
              <a:rPr lang="en-US" sz="4400" dirty="0">
                <a:solidFill>
                  <a:srgbClr val="008000"/>
                </a:solidFill>
                <a:latin typeface="Courier New" panose="02070309020205020404" pitchFamily="49" charset="0"/>
              </a:rPr>
              <a:t>	</a:t>
            </a:r>
            <a:r>
              <a:rPr lang="en-US" sz="4400" dirty="0">
                <a:solidFill>
                  <a:srgbClr val="AF00DB"/>
                </a:solidFill>
                <a:latin typeface="Courier New" panose="02070309020205020404" pitchFamily="49" charset="0"/>
              </a:rPr>
              <a:t>return</a:t>
            </a:r>
            <a:r>
              <a:rPr lang="en-US" sz="4400" dirty="0">
                <a:solidFill>
                  <a:srgbClr val="000000"/>
                </a:solidFill>
                <a:latin typeface="Courier New" panose="02070309020205020404" pitchFamily="49" charset="0"/>
              </a:rPr>
              <a:t> data</a:t>
            </a:r>
          </a:p>
          <a:p>
            <a:endParaRPr lang="en-US" sz="4400" b="0" dirty="0">
              <a:solidFill>
                <a:srgbClr val="000000"/>
              </a:solidFill>
              <a:effectLst/>
              <a:latin typeface="Courier New" panose="02070309020205020404" pitchFamily="49" charset="0"/>
            </a:endParaRPr>
          </a:p>
        </p:txBody>
      </p:sp>
      <p:grpSp>
        <p:nvGrpSpPr>
          <p:cNvPr id="6" name="Group 5">
            <a:extLst>
              <a:ext uri="{FF2B5EF4-FFF2-40B4-BE49-F238E27FC236}">
                <a16:creationId xmlns:a16="http://schemas.microsoft.com/office/drawing/2014/main" id="{3A1CF262-9658-CCBD-2F11-F790E6091955}"/>
              </a:ext>
            </a:extLst>
          </p:cNvPr>
          <p:cNvGrpSpPr/>
          <p:nvPr/>
        </p:nvGrpSpPr>
        <p:grpSpPr>
          <a:xfrm>
            <a:off x="8843261" y="977765"/>
            <a:ext cx="4398042" cy="1772715"/>
            <a:chOff x="10536455" y="2538734"/>
            <a:chExt cx="4398042" cy="1772715"/>
          </a:xfrm>
        </p:grpSpPr>
        <p:sp>
          <p:nvSpPr>
            <p:cNvPr id="8" name="that’s a lot of features!">
              <a:extLst>
                <a:ext uri="{FF2B5EF4-FFF2-40B4-BE49-F238E27FC236}">
                  <a16:creationId xmlns:a16="http://schemas.microsoft.com/office/drawing/2014/main" id="{329ACF4B-E7A3-FAA5-BC40-0ABEFE2F8BFA}"/>
                </a:ext>
              </a:extLst>
            </p:cNvPr>
            <p:cNvSpPr txBox="1"/>
            <p:nvPr/>
          </p:nvSpPr>
          <p:spPr>
            <a:xfrm>
              <a:off x="10536455" y="2538734"/>
              <a:ext cx="4398042"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Arguments passed</a:t>
              </a:r>
              <a:endParaRPr dirty="0">
                <a:solidFill>
                  <a:srgbClr val="EF7001"/>
                </a:solidFill>
              </a:endParaRPr>
            </a:p>
          </p:txBody>
        </p:sp>
        <p:pic>
          <p:nvPicPr>
            <p:cNvPr id="10" name="Line Line" descr="Line Line">
              <a:extLst>
                <a:ext uri="{FF2B5EF4-FFF2-40B4-BE49-F238E27FC236}">
                  <a16:creationId xmlns:a16="http://schemas.microsoft.com/office/drawing/2014/main" id="{89F73F07-A516-5860-9835-DB9247ED270B}"/>
                </a:ext>
              </a:extLst>
            </p:cNvPr>
            <p:cNvPicPr>
              <a:picLocks/>
            </p:cNvPicPr>
            <p:nvPr/>
          </p:nvPicPr>
          <p:blipFill>
            <a:blip r:embed="rId3"/>
            <a:stretch>
              <a:fillRect/>
            </a:stretch>
          </p:blipFill>
          <p:spPr>
            <a:xfrm rot="6998290">
              <a:off x="10953217" y="3566822"/>
              <a:ext cx="997180" cy="492074"/>
            </a:xfrm>
            <a:prstGeom prst="rect">
              <a:avLst/>
            </a:prstGeom>
          </p:spPr>
        </p:pic>
      </p:grpSp>
      <p:pic>
        <p:nvPicPr>
          <p:cNvPr id="15" name="Line Line" descr="Line Line">
            <a:extLst>
              <a:ext uri="{FF2B5EF4-FFF2-40B4-BE49-F238E27FC236}">
                <a16:creationId xmlns:a16="http://schemas.microsoft.com/office/drawing/2014/main" id="{880B9CA2-AF55-8BCB-240A-B902A8E04268}"/>
              </a:ext>
            </a:extLst>
          </p:cNvPr>
          <p:cNvPicPr>
            <a:picLocks/>
          </p:cNvPicPr>
          <p:nvPr/>
        </p:nvPicPr>
        <p:blipFill>
          <a:blip r:embed="rId3"/>
          <a:stretch>
            <a:fillRect/>
          </a:stretch>
        </p:blipFill>
        <p:spPr>
          <a:xfrm rot="3686099">
            <a:off x="11130684" y="2080299"/>
            <a:ext cx="997180" cy="492074"/>
          </a:xfrm>
          <a:prstGeom prst="rect">
            <a:avLst/>
          </a:prstGeom>
        </p:spPr>
      </p:pic>
      <p:sp>
        <p:nvSpPr>
          <p:cNvPr id="3" name="Google Shape;412;p56">
            <a:extLst>
              <a:ext uri="{FF2B5EF4-FFF2-40B4-BE49-F238E27FC236}">
                <a16:creationId xmlns:a16="http://schemas.microsoft.com/office/drawing/2014/main" id="{370DE068-D627-73F7-E8EC-46C9AFAD1686}"/>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return</a:t>
            </a:r>
          </a:p>
        </p:txBody>
      </p:sp>
    </p:spTree>
    <p:extLst>
      <p:ext uri="{BB962C8B-B14F-4D97-AF65-F5344CB8AC3E}">
        <p14:creationId xmlns:p14="http://schemas.microsoft.com/office/powerpoint/2010/main" val="8783346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55</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Box 4">
            <a:extLst>
              <a:ext uri="{FF2B5EF4-FFF2-40B4-BE49-F238E27FC236}">
                <a16:creationId xmlns:a16="http://schemas.microsoft.com/office/drawing/2014/main" id="{D40623D0-8EC6-97B2-61C8-8CA56B16AE95}"/>
              </a:ext>
            </a:extLst>
          </p:cNvPr>
          <p:cNvSpPr txBox="1"/>
          <p:nvPr/>
        </p:nvSpPr>
        <p:spPr>
          <a:xfrm>
            <a:off x="2791327" y="2989531"/>
            <a:ext cx="12192000" cy="3477875"/>
          </a:xfrm>
          <a:prstGeom prst="rect">
            <a:avLst/>
          </a:prstGeom>
          <a:noFill/>
        </p:spPr>
        <p:txBody>
          <a:bodyPr wrap="square">
            <a:spAutoFit/>
          </a:bodyPr>
          <a:lstStyle/>
          <a:p>
            <a:r>
              <a:rPr lang="en-US" sz="4400" b="0" dirty="0">
                <a:solidFill>
                  <a:srgbClr val="0000FF"/>
                </a:solidFill>
                <a:effectLst/>
                <a:latin typeface="Courier New" panose="02070309020205020404" pitchFamily="49" charset="0"/>
              </a:rPr>
              <a:t>def</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factorial</a:t>
            </a:r>
            <a:r>
              <a:rPr lang="en-US" sz="4400" b="0" dirty="0">
                <a:solidFill>
                  <a:srgbClr val="000000"/>
                </a:solidFill>
                <a:effectLst/>
                <a:latin typeface="Courier New" panose="02070309020205020404" pitchFamily="49" charset="0"/>
              </a:rPr>
              <a:t>(</a:t>
            </a:r>
            <a:r>
              <a:rPr lang="en-US" sz="4400" b="0" dirty="0">
                <a:solidFill>
                  <a:srgbClr val="001080"/>
                </a:solidFill>
                <a:effectLst/>
                <a:latin typeface="Courier New" panose="02070309020205020404" pitchFamily="49" charset="0"/>
              </a:rPr>
              <a:t>n</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total = </a:t>
            </a:r>
            <a:r>
              <a:rPr lang="en-US" sz="4400" b="0" dirty="0">
                <a:solidFill>
                  <a:srgbClr val="098156"/>
                </a:solidFill>
                <a:effectLst/>
                <a:latin typeface="Courier New" panose="02070309020205020404" pitchFamily="49" charset="0"/>
              </a:rPr>
              <a:t>1</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for</a:t>
            </a:r>
            <a:r>
              <a:rPr lang="en-US" sz="4400" b="0" dirty="0">
                <a:solidFill>
                  <a:srgbClr val="000000"/>
                </a:solidFill>
                <a:effectLst/>
                <a:latin typeface="Courier New" panose="02070309020205020404" pitchFamily="49" charset="0"/>
              </a:rPr>
              <a:t> </a:t>
            </a:r>
            <a:r>
              <a:rPr lang="en-US" sz="4400" b="0" dirty="0" err="1">
                <a:solidFill>
                  <a:srgbClr val="000000"/>
                </a:solidFill>
                <a:effectLst/>
                <a:latin typeface="Courier New" panose="02070309020205020404" pitchFamily="49" charset="0"/>
              </a:rPr>
              <a:t>i</a:t>
            </a:r>
            <a:r>
              <a:rPr lang="en-US" sz="4400" b="0" dirty="0">
                <a:solidFill>
                  <a:srgbClr val="000000"/>
                </a:solidFill>
                <a:effectLst/>
                <a:latin typeface="Courier New" panose="02070309020205020404" pitchFamily="49" charset="0"/>
              </a:rPr>
              <a:t> </a:t>
            </a:r>
            <a:r>
              <a:rPr lang="en-US" sz="4400" b="0" dirty="0">
                <a:solidFill>
                  <a:srgbClr val="0000FF"/>
                </a:solidFill>
                <a:effectLst/>
                <a:latin typeface="Courier New" panose="02070309020205020404" pitchFamily="49" charset="0"/>
              </a:rPr>
              <a:t>in</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range</a:t>
            </a:r>
            <a:r>
              <a:rPr lang="en-US" sz="4400" b="0" dirty="0">
                <a:solidFill>
                  <a:srgbClr val="000000"/>
                </a:solidFill>
                <a:effectLst/>
                <a:latin typeface="Courier New" panose="02070309020205020404" pitchFamily="49" charset="0"/>
              </a:rPr>
              <a:t>(</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 n+</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	total *= </a:t>
            </a:r>
            <a:r>
              <a:rPr lang="en-US" sz="4400" b="0" dirty="0" err="1">
                <a:solidFill>
                  <a:srgbClr val="000000"/>
                </a:solidFill>
                <a:effectLst/>
                <a:latin typeface="Courier New" panose="02070309020205020404" pitchFamily="49" charset="0"/>
              </a:rPr>
              <a:t>i</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return</a:t>
            </a:r>
            <a:r>
              <a:rPr lang="en-US" sz="4400" b="0" dirty="0">
                <a:solidFill>
                  <a:srgbClr val="000000"/>
                </a:solidFill>
                <a:effectLst/>
                <a:latin typeface="Courier New" panose="02070309020205020404" pitchFamily="49" charset="0"/>
              </a:rPr>
              <a:t> total</a:t>
            </a:r>
            <a:endParaRPr lang="en-US" sz="4400" dirty="0">
              <a:solidFill>
                <a:srgbClr val="000000"/>
              </a:solidFill>
              <a:latin typeface="Courier New" panose="02070309020205020404" pitchFamily="49" charset="0"/>
            </a:endParaRPr>
          </a:p>
        </p:txBody>
      </p:sp>
      <p:sp>
        <p:nvSpPr>
          <p:cNvPr id="3" name="Google Shape;412;p56">
            <a:extLst>
              <a:ext uri="{FF2B5EF4-FFF2-40B4-BE49-F238E27FC236}">
                <a16:creationId xmlns:a16="http://schemas.microsoft.com/office/drawing/2014/main" id="{370DE068-D627-73F7-E8EC-46C9AFAD1686}"/>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return</a:t>
            </a:r>
          </a:p>
        </p:txBody>
      </p:sp>
      <p:sp>
        <p:nvSpPr>
          <p:cNvPr id="4" name="TextBox 3">
            <a:extLst>
              <a:ext uri="{FF2B5EF4-FFF2-40B4-BE49-F238E27FC236}">
                <a16:creationId xmlns:a16="http://schemas.microsoft.com/office/drawing/2014/main" id="{EA9AACEA-904C-838F-31B9-328169F839E4}"/>
              </a:ext>
            </a:extLst>
          </p:cNvPr>
          <p:cNvSpPr txBox="1"/>
          <p:nvPr/>
        </p:nvSpPr>
        <p:spPr>
          <a:xfrm>
            <a:off x="2791327" y="7248595"/>
            <a:ext cx="12192000" cy="1446550"/>
          </a:xfrm>
          <a:prstGeom prst="rect">
            <a:avLst/>
          </a:prstGeom>
          <a:noFill/>
        </p:spPr>
        <p:txBody>
          <a:bodyPr wrap="square">
            <a:spAutoFit/>
          </a:bodyPr>
          <a:lstStyle/>
          <a:p>
            <a:r>
              <a:rPr lang="en-US" sz="4400" b="0" dirty="0">
                <a:solidFill>
                  <a:srgbClr val="008000"/>
                </a:solidFill>
                <a:effectLst/>
                <a:latin typeface="Courier New" panose="02070309020205020404" pitchFamily="49" charset="0"/>
              </a:rPr>
              <a:t># some code later</a:t>
            </a:r>
            <a:endParaRPr lang="en-US" sz="4400" b="0" dirty="0">
              <a:solidFill>
                <a:srgbClr val="000000"/>
              </a:solidFill>
              <a:effectLst/>
              <a:latin typeface="Courier New" panose="02070309020205020404" pitchFamily="49" charset="0"/>
            </a:endParaRPr>
          </a:p>
          <a:p>
            <a:r>
              <a:rPr lang="en-US" sz="4400" b="0" dirty="0">
                <a:solidFill>
                  <a:srgbClr val="000000"/>
                </a:solidFill>
                <a:effectLst/>
                <a:latin typeface="Courier New" panose="02070309020205020404" pitchFamily="49" charset="0"/>
              </a:rPr>
              <a:t>factorial(</a:t>
            </a:r>
            <a:r>
              <a:rPr lang="en-US" sz="4400" b="0" dirty="0">
                <a:solidFill>
                  <a:srgbClr val="098156"/>
                </a:solidFill>
                <a:effectLst/>
                <a:latin typeface="Courier New" panose="02070309020205020404" pitchFamily="49" charset="0"/>
              </a:rPr>
              <a:t>5</a:t>
            </a:r>
            <a:r>
              <a:rPr lang="en-US" sz="4400" b="0" dirty="0">
                <a:solidFill>
                  <a:srgbClr val="000000"/>
                </a:solidFill>
                <a:effectLst/>
                <a:latin typeface="Courier New" panose="02070309020205020404" pitchFamily="49" charset="0"/>
              </a:rPr>
              <a:t>)</a:t>
            </a:r>
          </a:p>
        </p:txBody>
      </p:sp>
      <p:sp>
        <p:nvSpPr>
          <p:cNvPr id="11" name="TextBox 10">
            <a:extLst>
              <a:ext uri="{FF2B5EF4-FFF2-40B4-BE49-F238E27FC236}">
                <a16:creationId xmlns:a16="http://schemas.microsoft.com/office/drawing/2014/main" id="{E0265EC1-6CD7-1BE9-6649-9B7B06F4E764}"/>
              </a:ext>
            </a:extLst>
          </p:cNvPr>
          <p:cNvSpPr txBox="1"/>
          <p:nvPr/>
        </p:nvSpPr>
        <p:spPr>
          <a:xfrm>
            <a:off x="6142457" y="7919354"/>
            <a:ext cx="681788" cy="769441"/>
          </a:xfrm>
          <a:prstGeom prst="rect">
            <a:avLst/>
          </a:prstGeom>
          <a:noFill/>
        </p:spPr>
        <p:txBody>
          <a:bodyPr wrap="square">
            <a:spAutoFit/>
          </a:bodyPr>
          <a:lstStyle/>
          <a:p>
            <a:r>
              <a:rPr lang="en-US" sz="4400" b="0" dirty="0">
                <a:solidFill>
                  <a:srgbClr val="098156"/>
                </a:solidFill>
                <a:effectLst/>
                <a:latin typeface="Courier New" panose="02070309020205020404" pitchFamily="49" charset="0"/>
              </a:rPr>
              <a:t>5</a:t>
            </a:r>
            <a:endParaRPr lang="en-US" sz="4400" b="0" dirty="0">
              <a:solidFill>
                <a:srgbClr val="000000"/>
              </a:solidFill>
              <a:effectLst/>
              <a:latin typeface="Courier New" panose="02070309020205020404" pitchFamily="49" charset="0"/>
            </a:endParaRPr>
          </a:p>
        </p:txBody>
      </p:sp>
      <p:sp>
        <p:nvSpPr>
          <p:cNvPr id="14" name="TextBox 13">
            <a:extLst>
              <a:ext uri="{FF2B5EF4-FFF2-40B4-BE49-F238E27FC236}">
                <a16:creationId xmlns:a16="http://schemas.microsoft.com/office/drawing/2014/main" id="{2AF5E0B9-6F25-21EE-D619-0CB93B267769}"/>
              </a:ext>
            </a:extLst>
          </p:cNvPr>
          <p:cNvSpPr txBox="1"/>
          <p:nvPr/>
        </p:nvSpPr>
        <p:spPr>
          <a:xfrm>
            <a:off x="7363326" y="2288160"/>
            <a:ext cx="1411706" cy="769441"/>
          </a:xfrm>
          <a:prstGeom prst="rect">
            <a:avLst/>
          </a:prstGeom>
          <a:noFill/>
        </p:spPr>
        <p:txBody>
          <a:bodyPr wrap="square">
            <a:spAutoFit/>
          </a:bodyPr>
          <a:lstStyle/>
          <a:p>
            <a:r>
              <a:rPr lang="en-US" sz="4400" b="1" dirty="0">
                <a:solidFill>
                  <a:srgbClr val="004C7F"/>
                </a:solidFill>
                <a:effectLst/>
                <a:latin typeface="Helvetica Neue" panose="02000503000000020004" pitchFamily="2" charset="0"/>
                <a:ea typeface="Helvetica Neue" panose="02000503000000020004" pitchFamily="2" charset="0"/>
                <a:cs typeface="Helvetica Neue" panose="02000503000000020004" pitchFamily="2" charset="0"/>
              </a:rPr>
              <a:t>n=</a:t>
            </a:r>
            <a:endPar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6" name="TextBox 15">
            <a:extLst>
              <a:ext uri="{FF2B5EF4-FFF2-40B4-BE49-F238E27FC236}">
                <a16:creationId xmlns:a16="http://schemas.microsoft.com/office/drawing/2014/main" id="{DF9636B7-948E-2315-AF58-3C6BCB763063}"/>
              </a:ext>
            </a:extLst>
          </p:cNvPr>
          <p:cNvSpPr txBox="1"/>
          <p:nvPr/>
        </p:nvSpPr>
        <p:spPr>
          <a:xfrm>
            <a:off x="7090611" y="6147141"/>
            <a:ext cx="2342149" cy="769441"/>
          </a:xfrm>
          <a:prstGeom prst="rect">
            <a:avLst/>
          </a:prstGeom>
          <a:noFill/>
        </p:spPr>
        <p:txBody>
          <a:bodyPr wrap="square">
            <a:spAutoFit/>
          </a:bodyPr>
          <a:lstStyle/>
          <a:p>
            <a:r>
              <a:rPr lang="en-US" sz="4400" b="1" dirty="0">
                <a:solidFill>
                  <a:srgbClr val="004C7F"/>
                </a:solidFill>
                <a:effectLst/>
                <a:latin typeface="Helvetica Neue" panose="02000503000000020004" pitchFamily="2" charset="0"/>
                <a:ea typeface="Helvetica Neue" panose="02000503000000020004" pitchFamily="2" charset="0"/>
                <a:cs typeface="Helvetica Neue" panose="02000503000000020004" pitchFamily="2" charset="0"/>
              </a:rPr>
              <a:t>(=</a:t>
            </a:r>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120)</a:t>
            </a:r>
          </a:p>
        </p:txBody>
      </p:sp>
      <p:sp>
        <p:nvSpPr>
          <p:cNvPr id="17" name="TextBox 16">
            <a:extLst>
              <a:ext uri="{FF2B5EF4-FFF2-40B4-BE49-F238E27FC236}">
                <a16:creationId xmlns:a16="http://schemas.microsoft.com/office/drawing/2014/main" id="{325A1C2A-F433-C3E6-E32F-6507AED37A5F}"/>
              </a:ext>
            </a:extLst>
          </p:cNvPr>
          <p:cNvSpPr txBox="1"/>
          <p:nvPr/>
        </p:nvSpPr>
        <p:spPr>
          <a:xfrm>
            <a:off x="7590601" y="6147140"/>
            <a:ext cx="1286955" cy="769441"/>
          </a:xfrm>
          <a:prstGeom prst="rect">
            <a:avLst/>
          </a:prstGeom>
          <a:noFill/>
        </p:spPr>
        <p:txBody>
          <a:bodyPr wrap="square">
            <a:spAutoFit/>
          </a:bodyPr>
          <a:lstStyle/>
          <a:p>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120</a:t>
            </a:r>
          </a:p>
        </p:txBody>
      </p:sp>
      <p:cxnSp>
        <p:nvCxnSpPr>
          <p:cNvPr id="19" name="Straight Arrow Connector 18">
            <a:extLst>
              <a:ext uri="{FF2B5EF4-FFF2-40B4-BE49-F238E27FC236}">
                <a16:creationId xmlns:a16="http://schemas.microsoft.com/office/drawing/2014/main" id="{2D366A7F-3C27-01B5-6F01-30E5A96225DB}"/>
              </a:ext>
            </a:extLst>
          </p:cNvPr>
          <p:cNvCxnSpPr/>
          <p:nvPr/>
        </p:nvCxnSpPr>
        <p:spPr>
          <a:xfrm>
            <a:off x="6950789" y="8293768"/>
            <a:ext cx="1419604" cy="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408796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grpId="1" nodeType="clickEffect">
                                  <p:stCondLst>
                                    <p:cond delay="0"/>
                                  </p:stCondLst>
                                  <p:childTnLst>
                                    <p:animMotion origin="layout" path="M -8.00677E-7 1.85185E-7 L 0.07883 -0.40428 " pathEditMode="relative" rAng="0" ptsTypes="AA">
                                      <p:cBhvr>
                                        <p:cTn id="16" dur="1000" fill="hold"/>
                                        <p:tgtEl>
                                          <p:spTgt spid="11"/>
                                        </p:tgtEl>
                                        <p:attrNameLst>
                                          <p:attrName>ppt_x</p:attrName>
                                          <p:attrName>ppt_y</p:attrName>
                                        </p:attrNameLst>
                                      </p:cBhvr>
                                      <p:rCtr x="3938" y="-20220"/>
                                    </p:animMotion>
                                  </p:childTnLst>
                                </p:cTn>
                              </p:par>
                            </p:childTnLst>
                          </p:cTn>
                        </p:par>
                        <p:par>
                          <p:cTn id="17" fill="hold">
                            <p:stCondLst>
                              <p:cond delay="1000"/>
                            </p:stCondLst>
                            <p:childTnLst>
                              <p:par>
                                <p:cTn id="18" presetID="1" presetClass="entr" presetSubtype="0" fill="hold" grpId="0" nodeType="afterEffect">
                                  <p:stCondLst>
                                    <p:cond delay="0"/>
                                  </p:stCondLst>
                                  <p:childTnLst>
                                    <p:set>
                                      <p:cBhvr>
                                        <p:cTn id="19" dur="1" fill="hold">
                                          <p:stCondLst>
                                            <p:cond delay="0"/>
                                          </p:stCondLst>
                                        </p:cTn>
                                        <p:tgtEl>
                                          <p:spTgt spid="14"/>
                                        </p:tgtEl>
                                        <p:attrNameLst>
                                          <p:attrName>style.visibility</p:attrName>
                                        </p:attrNameLst>
                                      </p:cBhvr>
                                      <p:to>
                                        <p:strVal val="visible"/>
                                      </p:to>
                                    </p:set>
                                  </p:childTnLst>
                                </p:cTn>
                              </p:par>
                            </p:childTnLst>
                          </p:cTn>
                        </p:par>
                        <p:par>
                          <p:cTn id="20" fill="hold">
                            <p:stCondLst>
                              <p:cond delay="1000"/>
                            </p:stCondLst>
                            <p:childTnLst>
                              <p:par>
                                <p:cTn id="21" presetID="1" presetClass="entr" presetSubtype="0" fill="hold" grpId="0" nodeType="afterEffect">
                                  <p:stCondLst>
                                    <p:cond delay="1000"/>
                                  </p:stCondLst>
                                  <p:childTnLst>
                                    <p:set>
                                      <p:cBhvr>
                                        <p:cTn id="22" dur="1" fill="hold">
                                          <p:stCondLst>
                                            <p:cond delay="0"/>
                                          </p:stCondLst>
                                        </p:cTn>
                                        <p:tgtEl>
                                          <p:spTgt spid="16"/>
                                        </p:tgtEl>
                                        <p:attrNameLst>
                                          <p:attrName>style.visibility</p:attrName>
                                        </p:attrNameLst>
                                      </p:cBhvr>
                                      <p:to>
                                        <p:strVal val="visible"/>
                                      </p:to>
                                    </p:set>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2000"/>
                            </p:stCondLst>
                            <p:childTnLst>
                              <p:par>
                                <p:cTn id="27" presetID="42" presetClass="path" presetSubtype="0" accel="50000" decel="50000" fill="hold" grpId="1" nodeType="afterEffect">
                                  <p:stCondLst>
                                    <p:cond delay="1000"/>
                                  </p:stCondLst>
                                  <p:childTnLst>
                                    <p:animMotion origin="layout" path="M 3.74821E-6 2.59259E-6 L 0.02792 0.12847 " pathEditMode="relative" rAng="0" ptsTypes="AA">
                                      <p:cBhvr>
                                        <p:cTn id="28" dur="1000" fill="hold"/>
                                        <p:tgtEl>
                                          <p:spTgt spid="17"/>
                                        </p:tgtEl>
                                        <p:attrNameLst>
                                          <p:attrName>ppt_x</p:attrName>
                                          <p:attrName>ppt_y</p:attrName>
                                        </p:attrNameLst>
                                      </p:cBhvr>
                                      <p:rCtr x="1393" y="6424"/>
                                    </p:animMotion>
                                  </p:childTnLst>
                                </p:cTn>
                              </p:par>
                            </p:childTnLst>
                          </p:cTn>
                        </p:par>
                        <p:par>
                          <p:cTn id="29" fill="hold">
                            <p:stCondLst>
                              <p:cond delay="4000"/>
                            </p:stCondLst>
                            <p:childTnLst>
                              <p:par>
                                <p:cTn id="30" presetID="1" presetClass="entr" presetSubtype="0" fill="hold" nodeType="afterEffect">
                                  <p:stCondLst>
                                    <p:cond delay="0"/>
                                  </p:stCondLst>
                                  <p:childTnLst>
                                    <p:set>
                                      <p:cBhvr>
                                        <p:cTn id="31"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11" grpId="0"/>
      <p:bldP spid="11" grpId="1"/>
      <p:bldP spid="14" grpId="0"/>
      <p:bldP spid="16" grpId="0"/>
      <p:bldP spid="17" grpId="0"/>
      <p:bldP spid="17"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 name="TextBox 4">
            <a:extLst>
              <a:ext uri="{FF2B5EF4-FFF2-40B4-BE49-F238E27FC236}">
                <a16:creationId xmlns:a16="http://schemas.microsoft.com/office/drawing/2014/main" id="{D40623D0-8EC6-97B2-61C8-8CA56B16AE95}"/>
              </a:ext>
            </a:extLst>
          </p:cNvPr>
          <p:cNvSpPr txBox="1"/>
          <p:nvPr/>
        </p:nvSpPr>
        <p:spPr>
          <a:xfrm>
            <a:off x="2791327" y="2989531"/>
            <a:ext cx="12192000" cy="3477875"/>
          </a:xfrm>
          <a:prstGeom prst="rect">
            <a:avLst/>
          </a:prstGeom>
          <a:noFill/>
        </p:spPr>
        <p:txBody>
          <a:bodyPr wrap="square">
            <a:spAutoFit/>
          </a:bodyPr>
          <a:lstStyle/>
          <a:p>
            <a:r>
              <a:rPr lang="en-US" sz="4400" b="0" dirty="0">
                <a:solidFill>
                  <a:srgbClr val="0000FF"/>
                </a:solidFill>
                <a:effectLst/>
                <a:latin typeface="Courier New" panose="02070309020205020404" pitchFamily="49" charset="0"/>
              </a:rPr>
              <a:t>def</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factorial</a:t>
            </a:r>
            <a:r>
              <a:rPr lang="en-US" sz="4400" b="0" dirty="0">
                <a:solidFill>
                  <a:srgbClr val="000000"/>
                </a:solidFill>
                <a:effectLst/>
                <a:latin typeface="Courier New" panose="02070309020205020404" pitchFamily="49" charset="0"/>
              </a:rPr>
              <a:t>(</a:t>
            </a:r>
            <a:r>
              <a:rPr lang="en-US" sz="4400" b="0" dirty="0">
                <a:solidFill>
                  <a:srgbClr val="001080"/>
                </a:solidFill>
                <a:effectLst/>
                <a:latin typeface="Courier New" panose="02070309020205020404" pitchFamily="49" charset="0"/>
              </a:rPr>
              <a:t>n</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total = </a:t>
            </a:r>
            <a:r>
              <a:rPr lang="en-US" sz="4400" b="0" dirty="0">
                <a:solidFill>
                  <a:srgbClr val="098156"/>
                </a:solidFill>
                <a:effectLst/>
                <a:latin typeface="Courier New" panose="02070309020205020404" pitchFamily="49" charset="0"/>
              </a:rPr>
              <a:t>1</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for</a:t>
            </a:r>
            <a:r>
              <a:rPr lang="en-US" sz="4400" b="0" dirty="0">
                <a:solidFill>
                  <a:srgbClr val="000000"/>
                </a:solidFill>
                <a:effectLst/>
                <a:latin typeface="Courier New" panose="02070309020205020404" pitchFamily="49" charset="0"/>
              </a:rPr>
              <a:t> </a:t>
            </a:r>
            <a:r>
              <a:rPr lang="en-US" sz="4400" b="0" dirty="0" err="1">
                <a:solidFill>
                  <a:srgbClr val="000000"/>
                </a:solidFill>
                <a:effectLst/>
                <a:latin typeface="Courier New" panose="02070309020205020404" pitchFamily="49" charset="0"/>
              </a:rPr>
              <a:t>i</a:t>
            </a:r>
            <a:r>
              <a:rPr lang="en-US" sz="4400" b="0" dirty="0">
                <a:solidFill>
                  <a:srgbClr val="000000"/>
                </a:solidFill>
                <a:effectLst/>
                <a:latin typeface="Courier New" panose="02070309020205020404" pitchFamily="49" charset="0"/>
              </a:rPr>
              <a:t> </a:t>
            </a:r>
            <a:r>
              <a:rPr lang="en-US" sz="4400" b="0" dirty="0">
                <a:solidFill>
                  <a:srgbClr val="0000FF"/>
                </a:solidFill>
                <a:effectLst/>
                <a:latin typeface="Courier New" panose="02070309020205020404" pitchFamily="49" charset="0"/>
              </a:rPr>
              <a:t>in</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range</a:t>
            </a:r>
            <a:r>
              <a:rPr lang="en-US" sz="4400" b="0" dirty="0">
                <a:solidFill>
                  <a:srgbClr val="000000"/>
                </a:solidFill>
                <a:effectLst/>
                <a:latin typeface="Courier New" panose="02070309020205020404" pitchFamily="49" charset="0"/>
              </a:rPr>
              <a:t>(</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 n+</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	total *= </a:t>
            </a:r>
            <a:r>
              <a:rPr lang="en-US" sz="4400" b="0" dirty="0" err="1">
                <a:solidFill>
                  <a:srgbClr val="000000"/>
                </a:solidFill>
                <a:effectLst/>
                <a:latin typeface="Courier New" panose="02070309020205020404" pitchFamily="49" charset="0"/>
              </a:rPr>
              <a:t>i</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return</a:t>
            </a:r>
            <a:r>
              <a:rPr lang="en-US" sz="4400" b="0" dirty="0">
                <a:solidFill>
                  <a:srgbClr val="000000"/>
                </a:solidFill>
                <a:effectLst/>
                <a:latin typeface="Courier New" panose="02070309020205020404" pitchFamily="49" charset="0"/>
              </a:rPr>
              <a:t> total</a:t>
            </a:r>
            <a:endParaRPr lang="en-US" sz="4400" dirty="0">
              <a:solidFill>
                <a:srgbClr val="000000"/>
              </a:solidFill>
              <a:latin typeface="Courier New" panose="02070309020205020404" pitchFamily="49" charset="0"/>
            </a:endParaRPr>
          </a:p>
        </p:txBody>
      </p:sp>
      <p:sp>
        <p:nvSpPr>
          <p:cNvPr id="16" name="TextBox 15">
            <a:extLst>
              <a:ext uri="{FF2B5EF4-FFF2-40B4-BE49-F238E27FC236}">
                <a16:creationId xmlns:a16="http://schemas.microsoft.com/office/drawing/2014/main" id="{DF9636B7-948E-2315-AF58-3C6BCB763063}"/>
              </a:ext>
            </a:extLst>
          </p:cNvPr>
          <p:cNvSpPr txBox="1"/>
          <p:nvPr/>
        </p:nvSpPr>
        <p:spPr>
          <a:xfrm>
            <a:off x="7090611" y="6147141"/>
            <a:ext cx="2342149" cy="769441"/>
          </a:xfrm>
          <a:prstGeom prst="rect">
            <a:avLst/>
          </a:prstGeom>
          <a:noFill/>
        </p:spPr>
        <p:txBody>
          <a:bodyPr wrap="square">
            <a:spAutoFit/>
          </a:bodyPr>
          <a:lstStyle/>
          <a:p>
            <a:r>
              <a:rPr lang="en-US" sz="4400" b="1" dirty="0">
                <a:solidFill>
                  <a:srgbClr val="004C7F"/>
                </a:solidFill>
                <a:effectLst/>
                <a:latin typeface="Helvetica Neue" panose="02000503000000020004" pitchFamily="2" charset="0"/>
                <a:ea typeface="Helvetica Neue" panose="02000503000000020004" pitchFamily="2" charset="0"/>
                <a:cs typeface="Helvetica Neue" panose="02000503000000020004" pitchFamily="2" charset="0"/>
              </a:rPr>
              <a:t>(=</a:t>
            </a:r>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120)</a:t>
            </a:r>
          </a:p>
        </p:txBody>
      </p:sp>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56</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Google Shape;412;p56">
            <a:extLst>
              <a:ext uri="{FF2B5EF4-FFF2-40B4-BE49-F238E27FC236}">
                <a16:creationId xmlns:a16="http://schemas.microsoft.com/office/drawing/2014/main" id="{370DE068-D627-73F7-E8EC-46C9AFAD1686}"/>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return</a:t>
            </a:r>
          </a:p>
        </p:txBody>
      </p:sp>
      <p:sp>
        <p:nvSpPr>
          <p:cNvPr id="4" name="TextBox 3">
            <a:extLst>
              <a:ext uri="{FF2B5EF4-FFF2-40B4-BE49-F238E27FC236}">
                <a16:creationId xmlns:a16="http://schemas.microsoft.com/office/drawing/2014/main" id="{EA9AACEA-904C-838F-31B9-328169F839E4}"/>
              </a:ext>
            </a:extLst>
          </p:cNvPr>
          <p:cNvSpPr txBox="1"/>
          <p:nvPr/>
        </p:nvSpPr>
        <p:spPr>
          <a:xfrm>
            <a:off x="2791327" y="7248595"/>
            <a:ext cx="12192000" cy="1446550"/>
          </a:xfrm>
          <a:prstGeom prst="rect">
            <a:avLst/>
          </a:prstGeom>
          <a:noFill/>
        </p:spPr>
        <p:txBody>
          <a:bodyPr wrap="square">
            <a:spAutoFit/>
          </a:bodyPr>
          <a:lstStyle/>
          <a:p>
            <a:r>
              <a:rPr lang="en-US" sz="4400" b="0" dirty="0">
                <a:solidFill>
                  <a:srgbClr val="008000"/>
                </a:solidFill>
                <a:effectLst/>
                <a:latin typeface="Courier New" panose="02070309020205020404" pitchFamily="49" charset="0"/>
              </a:rPr>
              <a:t># some code later</a:t>
            </a:r>
            <a:endParaRPr lang="en-US" sz="4400" b="0" dirty="0">
              <a:solidFill>
                <a:srgbClr val="000000"/>
              </a:solidFill>
              <a:effectLst/>
              <a:latin typeface="Courier New" panose="02070309020205020404" pitchFamily="49" charset="0"/>
            </a:endParaRPr>
          </a:p>
          <a:p>
            <a:r>
              <a:rPr lang="en-US" sz="4400" b="0" dirty="0">
                <a:solidFill>
                  <a:srgbClr val="000000"/>
                </a:solidFill>
                <a:effectLst/>
                <a:latin typeface="Courier New" panose="02070309020205020404" pitchFamily="49" charset="0"/>
              </a:rPr>
              <a:t>factorial(</a:t>
            </a:r>
            <a:r>
              <a:rPr lang="en-US" sz="4400" dirty="0">
                <a:solidFill>
                  <a:srgbClr val="001080"/>
                </a:solidFill>
                <a:latin typeface="Courier New" panose="02070309020205020404" pitchFamily="49" charset="0"/>
              </a:rPr>
              <a:t>n</a:t>
            </a:r>
            <a:r>
              <a:rPr lang="en-US" sz="4400" dirty="0">
                <a:latin typeface="Courier New" panose="02070309020205020404" pitchFamily="49" charset="0"/>
              </a:rPr>
              <a:t>=</a:t>
            </a:r>
            <a:r>
              <a:rPr lang="en-US" sz="4400" dirty="0">
                <a:solidFill>
                  <a:srgbClr val="098156"/>
                </a:solidFill>
                <a:latin typeface="Courier New" panose="02070309020205020404" pitchFamily="49" charset="0"/>
              </a:rPr>
              <a:t>5</a:t>
            </a:r>
            <a:r>
              <a:rPr lang="en-US" sz="4400" b="0" dirty="0">
                <a:solidFill>
                  <a:srgbClr val="000000"/>
                </a:solidFill>
                <a:effectLst/>
                <a:latin typeface="Courier New" panose="02070309020205020404" pitchFamily="49" charset="0"/>
              </a:rPr>
              <a:t>)</a:t>
            </a:r>
          </a:p>
        </p:txBody>
      </p:sp>
      <p:sp>
        <p:nvSpPr>
          <p:cNvPr id="11" name="TextBox 10">
            <a:extLst>
              <a:ext uri="{FF2B5EF4-FFF2-40B4-BE49-F238E27FC236}">
                <a16:creationId xmlns:a16="http://schemas.microsoft.com/office/drawing/2014/main" id="{E0265EC1-6CD7-1BE9-6649-9B7B06F4E764}"/>
              </a:ext>
            </a:extLst>
          </p:cNvPr>
          <p:cNvSpPr txBox="1"/>
          <p:nvPr/>
        </p:nvSpPr>
        <p:spPr>
          <a:xfrm>
            <a:off x="6142456" y="7919354"/>
            <a:ext cx="1798385" cy="769441"/>
          </a:xfrm>
          <a:prstGeom prst="rect">
            <a:avLst/>
          </a:prstGeom>
          <a:noFill/>
        </p:spPr>
        <p:txBody>
          <a:bodyPr wrap="square">
            <a:spAutoFit/>
          </a:bodyPr>
          <a:lstStyle/>
          <a:p>
            <a:r>
              <a:rPr lang="en-US" sz="4400" dirty="0">
                <a:solidFill>
                  <a:srgbClr val="001080"/>
                </a:solidFill>
                <a:latin typeface="Courier New" panose="02070309020205020404" pitchFamily="49" charset="0"/>
              </a:rPr>
              <a:t>n</a:t>
            </a:r>
            <a:r>
              <a:rPr lang="en-US" sz="4400" dirty="0">
                <a:latin typeface="Courier New" panose="02070309020205020404" pitchFamily="49" charset="0"/>
              </a:rPr>
              <a:t>=</a:t>
            </a:r>
            <a:r>
              <a:rPr lang="en-US" sz="4400" b="0" dirty="0">
                <a:solidFill>
                  <a:srgbClr val="098156"/>
                </a:solidFill>
                <a:effectLst/>
                <a:latin typeface="Courier New" panose="02070309020205020404" pitchFamily="49" charset="0"/>
              </a:rPr>
              <a:t>5</a:t>
            </a:r>
            <a:endParaRPr lang="en-US" sz="4400" b="0" dirty="0">
              <a:solidFill>
                <a:srgbClr val="000000"/>
              </a:solidFill>
              <a:effectLst/>
              <a:latin typeface="Courier New" panose="02070309020205020404" pitchFamily="49" charset="0"/>
            </a:endParaRPr>
          </a:p>
        </p:txBody>
      </p:sp>
      <p:sp>
        <p:nvSpPr>
          <p:cNvPr id="17" name="TextBox 16">
            <a:extLst>
              <a:ext uri="{FF2B5EF4-FFF2-40B4-BE49-F238E27FC236}">
                <a16:creationId xmlns:a16="http://schemas.microsoft.com/office/drawing/2014/main" id="{325A1C2A-F433-C3E6-E32F-6507AED37A5F}"/>
              </a:ext>
            </a:extLst>
          </p:cNvPr>
          <p:cNvSpPr txBox="1"/>
          <p:nvPr/>
        </p:nvSpPr>
        <p:spPr>
          <a:xfrm>
            <a:off x="7591139" y="6147140"/>
            <a:ext cx="1286955" cy="769441"/>
          </a:xfrm>
          <a:prstGeom prst="rect">
            <a:avLst/>
          </a:prstGeom>
          <a:noFill/>
        </p:spPr>
        <p:txBody>
          <a:bodyPr wrap="square">
            <a:spAutoFit/>
          </a:bodyPr>
          <a:lstStyle/>
          <a:p>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120</a:t>
            </a:r>
          </a:p>
        </p:txBody>
      </p:sp>
      <p:cxnSp>
        <p:nvCxnSpPr>
          <p:cNvPr id="19" name="Straight Arrow Connector 18">
            <a:extLst>
              <a:ext uri="{FF2B5EF4-FFF2-40B4-BE49-F238E27FC236}">
                <a16:creationId xmlns:a16="http://schemas.microsoft.com/office/drawing/2014/main" id="{2D366A7F-3C27-01B5-6F01-30E5A96225DB}"/>
              </a:ext>
            </a:extLst>
          </p:cNvPr>
          <p:cNvCxnSpPr/>
          <p:nvPr/>
        </p:nvCxnSpPr>
        <p:spPr>
          <a:xfrm>
            <a:off x="7571871" y="8309810"/>
            <a:ext cx="1419604" cy="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sp>
        <p:nvSpPr>
          <p:cNvPr id="6" name="that’s a lot of features!">
            <a:extLst>
              <a:ext uri="{FF2B5EF4-FFF2-40B4-BE49-F238E27FC236}">
                <a16:creationId xmlns:a16="http://schemas.microsoft.com/office/drawing/2014/main" id="{9A4D65D7-6BB6-639E-1289-BFCF30E7C4CC}"/>
              </a:ext>
            </a:extLst>
          </p:cNvPr>
          <p:cNvSpPr txBox="1"/>
          <p:nvPr/>
        </p:nvSpPr>
        <p:spPr>
          <a:xfrm>
            <a:off x="4489284" y="8688795"/>
            <a:ext cx="4398042"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An alternative…</a:t>
            </a:r>
            <a:endParaRPr dirty="0">
              <a:solidFill>
                <a:srgbClr val="EF7001"/>
              </a:solidFill>
            </a:endParaRPr>
          </a:p>
        </p:txBody>
      </p:sp>
    </p:spTree>
    <p:extLst>
      <p:ext uri="{BB962C8B-B14F-4D97-AF65-F5344CB8AC3E}">
        <p14:creationId xmlns:p14="http://schemas.microsoft.com/office/powerpoint/2010/main" val="35944422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42" presetClass="path" presetSubtype="0" accel="50000" decel="50000" fill="hold" grpId="1" nodeType="clickEffect">
                                  <p:stCondLst>
                                    <p:cond delay="0"/>
                                  </p:stCondLst>
                                  <p:childTnLst>
                                    <p:animMotion origin="layout" path="M 6.11899E-7 1.85185E-7 L 0.06444 -0.41273 " pathEditMode="relative" rAng="0" ptsTypes="AA">
                                      <p:cBhvr>
                                        <p:cTn id="14" dur="1000" fill="hold"/>
                                        <p:tgtEl>
                                          <p:spTgt spid="11"/>
                                        </p:tgtEl>
                                        <p:attrNameLst>
                                          <p:attrName>ppt_x</p:attrName>
                                          <p:attrName>ppt_y</p:attrName>
                                        </p:attrNameLst>
                                      </p:cBhvr>
                                      <p:rCtr x="3222" y="-20637"/>
                                    </p:animMotion>
                                  </p:childTnLst>
                                </p:cTn>
                              </p:par>
                            </p:childTnLst>
                          </p:cTn>
                        </p:par>
                        <p:par>
                          <p:cTn id="15" fill="hold">
                            <p:stCondLst>
                              <p:cond delay="1000"/>
                            </p:stCondLst>
                            <p:childTnLst>
                              <p:par>
                                <p:cTn id="16" presetID="1" presetClass="entr" presetSubtype="0" fill="hold" grpId="0" nodeType="afterEffect">
                                  <p:stCondLst>
                                    <p:cond delay="1000"/>
                                  </p:stCondLst>
                                  <p:childTnLst>
                                    <p:set>
                                      <p:cBhvr>
                                        <p:cTn id="17" dur="1" fill="hold">
                                          <p:stCondLst>
                                            <p:cond delay="0"/>
                                          </p:stCondLst>
                                        </p:cTn>
                                        <p:tgtEl>
                                          <p:spTgt spid="16"/>
                                        </p:tgtEl>
                                        <p:attrNameLst>
                                          <p:attrName>style.visibility</p:attrName>
                                        </p:attrNameLst>
                                      </p:cBhvr>
                                      <p:to>
                                        <p:strVal val="visible"/>
                                      </p:to>
                                    </p:set>
                                  </p:childTnLst>
                                </p:cTn>
                              </p:par>
                            </p:childTnLst>
                          </p:cTn>
                        </p:par>
                        <p:par>
                          <p:cTn id="18" fill="hold">
                            <p:stCondLst>
                              <p:cond delay="2000"/>
                            </p:stCondLst>
                            <p:childTnLst>
                              <p:par>
                                <p:cTn id="19" presetID="1" presetClass="entr" presetSubtype="0" fill="hold" grpId="0" nodeType="after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2000"/>
                            </p:stCondLst>
                            <p:childTnLst>
                              <p:par>
                                <p:cTn id="22" presetID="42" presetClass="path" presetSubtype="0" accel="50000" decel="50000" fill="hold" grpId="1" nodeType="afterEffect">
                                  <p:stCondLst>
                                    <p:cond delay="1000"/>
                                  </p:stCondLst>
                                  <p:childTnLst>
                                    <p:animMotion origin="layout" path="M -1.34748E-6 2.59259E-6 L 0.0582 0.12974 " pathEditMode="relative" rAng="0" ptsTypes="AA">
                                      <p:cBhvr>
                                        <p:cTn id="23" dur="1000" fill="hold"/>
                                        <p:tgtEl>
                                          <p:spTgt spid="17"/>
                                        </p:tgtEl>
                                        <p:attrNameLst>
                                          <p:attrName>ppt_x</p:attrName>
                                          <p:attrName>ppt_y</p:attrName>
                                        </p:attrNameLst>
                                      </p:cBhvr>
                                      <p:rCtr x="2910" y="6481"/>
                                    </p:animMotion>
                                  </p:childTnLst>
                                </p:cTn>
                              </p:par>
                            </p:childTnLst>
                          </p:cTn>
                        </p:par>
                        <p:par>
                          <p:cTn id="24" fill="hold">
                            <p:stCondLst>
                              <p:cond delay="4000"/>
                            </p:stCondLst>
                            <p:childTnLst>
                              <p:par>
                                <p:cTn id="25" presetID="1" presetClass="entr" presetSubtype="0" fill="hold" nodeType="after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4" grpId="0"/>
      <p:bldP spid="11" grpId="0"/>
      <p:bldP spid="11" grpId="1"/>
      <p:bldP spid="17" grpId="0"/>
      <p:bldP spid="17" grpId="1"/>
      <p:bldP spid="6"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sp>
        <p:nvSpPr>
          <p:cNvPr id="5" name="TextBox 4">
            <a:extLst>
              <a:ext uri="{FF2B5EF4-FFF2-40B4-BE49-F238E27FC236}">
                <a16:creationId xmlns:a16="http://schemas.microsoft.com/office/drawing/2014/main" id="{D40623D0-8EC6-97B2-61C8-8CA56B16AE95}"/>
              </a:ext>
            </a:extLst>
          </p:cNvPr>
          <p:cNvSpPr txBox="1"/>
          <p:nvPr/>
        </p:nvSpPr>
        <p:spPr>
          <a:xfrm>
            <a:off x="2791327" y="2989531"/>
            <a:ext cx="12192000" cy="3477875"/>
          </a:xfrm>
          <a:prstGeom prst="rect">
            <a:avLst/>
          </a:prstGeom>
          <a:noFill/>
        </p:spPr>
        <p:txBody>
          <a:bodyPr wrap="square">
            <a:spAutoFit/>
          </a:bodyPr>
          <a:lstStyle/>
          <a:p>
            <a:r>
              <a:rPr lang="en-US" sz="4400" b="0" dirty="0">
                <a:solidFill>
                  <a:srgbClr val="0000FF"/>
                </a:solidFill>
                <a:effectLst/>
                <a:latin typeface="Courier New" panose="02070309020205020404" pitchFamily="49" charset="0"/>
              </a:rPr>
              <a:t>def</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factorial</a:t>
            </a:r>
            <a:r>
              <a:rPr lang="en-US" sz="4400" b="0" dirty="0">
                <a:solidFill>
                  <a:srgbClr val="000000"/>
                </a:solidFill>
                <a:effectLst/>
                <a:latin typeface="Courier New" panose="02070309020205020404" pitchFamily="49" charset="0"/>
              </a:rPr>
              <a:t>(</a:t>
            </a:r>
            <a:r>
              <a:rPr lang="en-US" sz="4400" b="0" dirty="0">
                <a:solidFill>
                  <a:srgbClr val="001080"/>
                </a:solidFill>
                <a:effectLst/>
                <a:latin typeface="Courier New" panose="02070309020205020404" pitchFamily="49" charset="0"/>
              </a:rPr>
              <a:t>n</a:t>
            </a:r>
            <a:r>
              <a:rPr lang="en-US" sz="4400" dirty="0">
                <a:latin typeface="Courier New" panose="02070309020205020404" pitchFamily="49" charset="0"/>
              </a:rPr>
              <a:t>=</a:t>
            </a:r>
            <a:r>
              <a:rPr lang="en-US" sz="4400" dirty="0">
                <a:solidFill>
                  <a:srgbClr val="098156"/>
                </a:solidFill>
                <a:latin typeface="Courier New" panose="02070309020205020404" pitchFamily="49" charset="0"/>
              </a:rPr>
              <a:t>6</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total = </a:t>
            </a:r>
            <a:r>
              <a:rPr lang="en-US" sz="4400" b="0" dirty="0">
                <a:solidFill>
                  <a:srgbClr val="098156"/>
                </a:solidFill>
                <a:effectLst/>
                <a:latin typeface="Courier New" panose="02070309020205020404" pitchFamily="49" charset="0"/>
              </a:rPr>
              <a:t>1</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for</a:t>
            </a:r>
            <a:r>
              <a:rPr lang="en-US" sz="4400" b="0" dirty="0">
                <a:solidFill>
                  <a:srgbClr val="000000"/>
                </a:solidFill>
                <a:effectLst/>
                <a:latin typeface="Courier New" panose="02070309020205020404" pitchFamily="49" charset="0"/>
              </a:rPr>
              <a:t> </a:t>
            </a:r>
            <a:r>
              <a:rPr lang="en-US" sz="4400" b="0" dirty="0" err="1">
                <a:solidFill>
                  <a:srgbClr val="000000"/>
                </a:solidFill>
                <a:effectLst/>
                <a:latin typeface="Courier New" panose="02070309020205020404" pitchFamily="49" charset="0"/>
              </a:rPr>
              <a:t>i</a:t>
            </a:r>
            <a:r>
              <a:rPr lang="en-US" sz="4400" b="0" dirty="0">
                <a:solidFill>
                  <a:srgbClr val="000000"/>
                </a:solidFill>
                <a:effectLst/>
                <a:latin typeface="Courier New" panose="02070309020205020404" pitchFamily="49" charset="0"/>
              </a:rPr>
              <a:t> </a:t>
            </a:r>
            <a:r>
              <a:rPr lang="en-US" sz="4400" b="0" dirty="0">
                <a:solidFill>
                  <a:srgbClr val="0000FF"/>
                </a:solidFill>
                <a:effectLst/>
                <a:latin typeface="Courier New" panose="02070309020205020404" pitchFamily="49" charset="0"/>
              </a:rPr>
              <a:t>in</a:t>
            </a:r>
            <a:r>
              <a:rPr lang="en-US" sz="4400" b="0" dirty="0">
                <a:solidFill>
                  <a:srgbClr val="000000"/>
                </a:solidFill>
                <a:effectLst/>
                <a:latin typeface="Courier New" panose="02070309020205020404" pitchFamily="49" charset="0"/>
              </a:rPr>
              <a:t> </a:t>
            </a:r>
            <a:r>
              <a:rPr lang="en-US" sz="4400" b="0" dirty="0">
                <a:solidFill>
                  <a:srgbClr val="795E26"/>
                </a:solidFill>
                <a:effectLst/>
                <a:latin typeface="Courier New" panose="02070309020205020404" pitchFamily="49" charset="0"/>
              </a:rPr>
              <a:t>range</a:t>
            </a:r>
            <a:r>
              <a:rPr lang="en-US" sz="4400" b="0" dirty="0">
                <a:solidFill>
                  <a:srgbClr val="000000"/>
                </a:solidFill>
                <a:effectLst/>
                <a:latin typeface="Courier New" panose="02070309020205020404" pitchFamily="49" charset="0"/>
              </a:rPr>
              <a:t>(</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 n+</a:t>
            </a:r>
            <a:r>
              <a:rPr lang="en-US" sz="4400" b="0" dirty="0">
                <a:solidFill>
                  <a:srgbClr val="098156"/>
                </a:solidFill>
                <a:effectLst/>
                <a:latin typeface="Courier New" panose="02070309020205020404" pitchFamily="49" charset="0"/>
              </a:rPr>
              <a:t>1</a:t>
            </a:r>
            <a:r>
              <a:rPr lang="en-US" sz="4400" b="0" dirty="0">
                <a:solidFill>
                  <a:srgbClr val="000000"/>
                </a:solidFill>
                <a:effectLst/>
                <a:latin typeface="Courier New" panose="02070309020205020404" pitchFamily="49" charset="0"/>
              </a:rPr>
              <a:t>):</a:t>
            </a:r>
          </a:p>
          <a:p>
            <a:pPr lvl="1"/>
            <a:r>
              <a:rPr lang="en-US" sz="4400" b="0" dirty="0">
                <a:solidFill>
                  <a:srgbClr val="000000"/>
                </a:solidFill>
                <a:effectLst/>
                <a:latin typeface="Courier New" panose="02070309020205020404" pitchFamily="49" charset="0"/>
              </a:rPr>
              <a:t>	total *= </a:t>
            </a:r>
            <a:r>
              <a:rPr lang="en-US" sz="4400" b="0" dirty="0" err="1">
                <a:solidFill>
                  <a:srgbClr val="000000"/>
                </a:solidFill>
                <a:effectLst/>
                <a:latin typeface="Courier New" panose="02070309020205020404" pitchFamily="49" charset="0"/>
              </a:rPr>
              <a:t>i</a:t>
            </a:r>
            <a:endParaRPr lang="en-US" sz="4400" b="0" dirty="0">
              <a:solidFill>
                <a:srgbClr val="000000"/>
              </a:solidFill>
              <a:effectLst/>
              <a:latin typeface="Courier New" panose="02070309020205020404" pitchFamily="49" charset="0"/>
            </a:endParaRPr>
          </a:p>
          <a:p>
            <a:pPr lvl="1"/>
            <a:r>
              <a:rPr lang="en-US" sz="4400" b="0" dirty="0">
                <a:solidFill>
                  <a:srgbClr val="AF00DB"/>
                </a:solidFill>
                <a:effectLst/>
                <a:latin typeface="Courier New" panose="02070309020205020404" pitchFamily="49" charset="0"/>
              </a:rPr>
              <a:t>return</a:t>
            </a:r>
            <a:r>
              <a:rPr lang="en-US" sz="4400" b="0" dirty="0">
                <a:solidFill>
                  <a:srgbClr val="000000"/>
                </a:solidFill>
                <a:effectLst/>
                <a:latin typeface="Courier New" panose="02070309020205020404" pitchFamily="49" charset="0"/>
              </a:rPr>
              <a:t> total</a:t>
            </a:r>
            <a:endParaRPr lang="en-US" sz="4400" dirty="0">
              <a:solidFill>
                <a:srgbClr val="000000"/>
              </a:solidFill>
              <a:latin typeface="Courier New" panose="02070309020205020404" pitchFamily="49" charset="0"/>
            </a:endParaRPr>
          </a:p>
        </p:txBody>
      </p:sp>
      <p:sp>
        <p:nvSpPr>
          <p:cNvPr id="16" name="TextBox 15">
            <a:extLst>
              <a:ext uri="{FF2B5EF4-FFF2-40B4-BE49-F238E27FC236}">
                <a16:creationId xmlns:a16="http://schemas.microsoft.com/office/drawing/2014/main" id="{DF9636B7-948E-2315-AF58-3C6BCB763063}"/>
              </a:ext>
            </a:extLst>
          </p:cNvPr>
          <p:cNvSpPr txBox="1"/>
          <p:nvPr/>
        </p:nvSpPr>
        <p:spPr>
          <a:xfrm>
            <a:off x="7090611" y="6147141"/>
            <a:ext cx="2342149" cy="769441"/>
          </a:xfrm>
          <a:prstGeom prst="rect">
            <a:avLst/>
          </a:prstGeom>
          <a:noFill/>
        </p:spPr>
        <p:txBody>
          <a:bodyPr wrap="square">
            <a:spAutoFit/>
          </a:bodyPr>
          <a:lstStyle/>
          <a:p>
            <a:r>
              <a:rPr lang="en-US" sz="4400" b="1" dirty="0">
                <a:solidFill>
                  <a:srgbClr val="004C7F"/>
                </a:solidFill>
                <a:effectLst/>
                <a:latin typeface="Helvetica Neue" panose="02000503000000020004" pitchFamily="2" charset="0"/>
                <a:ea typeface="Helvetica Neue" panose="02000503000000020004" pitchFamily="2" charset="0"/>
                <a:cs typeface="Helvetica Neue" panose="02000503000000020004" pitchFamily="2" charset="0"/>
              </a:rPr>
              <a:t>(=</a:t>
            </a:r>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720)</a:t>
            </a:r>
          </a:p>
        </p:txBody>
      </p:sp>
      <p:sp>
        <p:nvSpPr>
          <p:cNvPr id="555" name="Google Shape;555;p72"/>
          <p:cNvSpPr txBox="1">
            <a:spLocks noGrp="1"/>
          </p:cNvSpPr>
          <p:nvPr>
            <p:ph type="sldNum" idx="12"/>
          </p:nvPr>
        </p:nvSpPr>
        <p:spPr>
          <a:prstGeom prst="rect">
            <a:avLst/>
          </a:prstGeom>
        </p:spPr>
        <p:txBody>
          <a:bodyPr spcFirstLastPara="1" vert="horz" wrap="square" lIns="243800" tIns="243800" rIns="243800" bIns="243800" rtlCol="0" anchor="ctr" anchorCtr="0">
            <a:normAutofit/>
          </a:bodyPr>
          <a:lstStyle/>
          <a:p>
            <a:fld id="{00000000-1234-1234-1234-123412341234}" type="slidenum">
              <a:rPr lang="en">
                <a:solidFill>
                  <a:schemeClr val="accent1"/>
                </a:solidFill>
                <a:latin typeface="Lato"/>
                <a:ea typeface="Lato"/>
                <a:cs typeface="Lato"/>
                <a:sym typeface="Lato"/>
              </a:rPr>
              <a:pPr/>
              <a:t>57</a:t>
            </a:fld>
            <a:endParaRPr>
              <a:solidFill>
                <a:schemeClr val="accent1"/>
              </a:solidFill>
              <a:latin typeface="Lato"/>
              <a:ea typeface="Lato"/>
              <a:cs typeface="Lato"/>
              <a:sym typeface="Lato"/>
            </a:endParaRPr>
          </a:p>
        </p:txBody>
      </p:sp>
      <p:sp>
        <p:nvSpPr>
          <p:cNvPr id="2" name="Google Shape;412;p56">
            <a:extLst>
              <a:ext uri="{FF2B5EF4-FFF2-40B4-BE49-F238E27FC236}">
                <a16:creationId xmlns:a16="http://schemas.microsoft.com/office/drawing/2014/main" id="{F81861FD-DBDB-5FB7-3535-716614487707}"/>
              </a:ext>
            </a:extLst>
          </p:cNvPr>
          <p:cNvSpPr txBox="1">
            <a:spLocks/>
          </p:cNvSpPr>
          <p:nvPr/>
        </p:nvSpPr>
        <p:spPr>
          <a:xfrm>
            <a:off x="298453" y="249400"/>
            <a:ext cx="20503200" cy="1468069"/>
          </a:xfrm>
          <a:prstGeom prst="rect">
            <a:avLst/>
          </a:prstGeom>
        </p:spPr>
        <p:txBody>
          <a:bodyPr spcFirstLastPara="1" vert="horz" wrap="square" lIns="243800" tIns="243800" rIns="243800" bIns="243800" rtlCol="0" anchor="t" anchorCtr="0">
            <a:noAutofit/>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Function defining</a:t>
            </a:r>
          </a:p>
          <a:p>
            <a:endPar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 name="Google Shape;412;p56">
            <a:extLst>
              <a:ext uri="{FF2B5EF4-FFF2-40B4-BE49-F238E27FC236}">
                <a16:creationId xmlns:a16="http://schemas.microsoft.com/office/drawing/2014/main" id="{370DE068-D627-73F7-E8EC-46C9AFAD1686}"/>
              </a:ext>
            </a:extLst>
          </p:cNvPr>
          <p:cNvSpPr txBox="1">
            <a:spLocks/>
          </p:cNvSpPr>
          <p:nvPr/>
        </p:nvSpPr>
        <p:spPr>
          <a:xfrm>
            <a:off x="296105" y="1175521"/>
            <a:ext cx="20503200" cy="1427200"/>
          </a:xfrm>
          <a:prstGeom prst="rect">
            <a:avLst/>
          </a:prstGeom>
        </p:spPr>
        <p:txBody>
          <a:bodyPr spcFirstLastPara="1" vert="horz" wrap="square" lIns="243800" tIns="243800" rIns="243800" bIns="243800" rtlCol="0" anchor="t" anchorCtr="0">
            <a:normAutofit fontScale="97500"/>
          </a:bodyPr>
          <a:lstStyle>
            <a:lvl1pPr lvl="0" algn="l" defTabSz="1828800" rtl="0" eaLnBrk="1" latinLnBrk="0" hangingPunct="1">
              <a:lnSpc>
                <a:spcPct val="90000"/>
              </a:lnSpc>
              <a:spcBef>
                <a:spcPts val="0"/>
              </a:spcBef>
              <a:spcAft>
                <a:spcPts val="0"/>
              </a:spcAft>
              <a:buSzPts val="2600"/>
              <a:buNone/>
              <a:defRPr sz="6933" kern="1200">
                <a:solidFill>
                  <a:schemeClr val="tx1"/>
                </a:solidFill>
                <a:latin typeface="+mj-lt"/>
                <a:ea typeface="+mj-ea"/>
                <a:cs typeface="+mj-cs"/>
              </a:defRPr>
            </a:lvl1pPr>
            <a:lvl2pPr lvl="1" rtl="0">
              <a:spcBef>
                <a:spcPts val="0"/>
              </a:spcBef>
              <a:spcAft>
                <a:spcPts val="0"/>
              </a:spcAft>
              <a:buSzPts val="2600"/>
              <a:buNone/>
              <a:defRPr sz="6933"/>
            </a:lvl2pPr>
            <a:lvl3pPr lvl="2" rtl="0">
              <a:spcBef>
                <a:spcPts val="0"/>
              </a:spcBef>
              <a:spcAft>
                <a:spcPts val="0"/>
              </a:spcAft>
              <a:buSzPts val="2600"/>
              <a:buNone/>
              <a:defRPr sz="6933"/>
            </a:lvl3pPr>
            <a:lvl4pPr lvl="3" rtl="0">
              <a:spcBef>
                <a:spcPts val="0"/>
              </a:spcBef>
              <a:spcAft>
                <a:spcPts val="0"/>
              </a:spcAft>
              <a:buSzPts val="2600"/>
              <a:buNone/>
              <a:defRPr sz="6933"/>
            </a:lvl4pPr>
            <a:lvl5pPr lvl="4" rtl="0">
              <a:spcBef>
                <a:spcPts val="0"/>
              </a:spcBef>
              <a:spcAft>
                <a:spcPts val="0"/>
              </a:spcAft>
              <a:buSzPts val="2600"/>
              <a:buNone/>
              <a:defRPr sz="6933"/>
            </a:lvl5pPr>
            <a:lvl6pPr lvl="5" rtl="0">
              <a:spcBef>
                <a:spcPts val="0"/>
              </a:spcBef>
              <a:spcAft>
                <a:spcPts val="0"/>
              </a:spcAft>
              <a:buSzPts val="2600"/>
              <a:buNone/>
              <a:defRPr sz="6933"/>
            </a:lvl6pPr>
            <a:lvl7pPr lvl="6" rtl="0">
              <a:spcBef>
                <a:spcPts val="0"/>
              </a:spcBef>
              <a:spcAft>
                <a:spcPts val="0"/>
              </a:spcAft>
              <a:buSzPts val="2600"/>
              <a:buNone/>
              <a:defRPr sz="6933"/>
            </a:lvl7pPr>
            <a:lvl8pPr lvl="7" rtl="0">
              <a:spcBef>
                <a:spcPts val="0"/>
              </a:spcBef>
              <a:spcAft>
                <a:spcPts val="0"/>
              </a:spcAft>
              <a:buSzPts val="2600"/>
              <a:buNone/>
              <a:defRPr sz="6933"/>
            </a:lvl8pPr>
            <a:lvl9pPr lvl="8" rtl="0">
              <a:spcBef>
                <a:spcPts val="0"/>
              </a:spcBef>
              <a:spcAft>
                <a:spcPts val="0"/>
              </a:spcAft>
              <a:buSzPts val="2600"/>
              <a:buNone/>
              <a:defRPr sz="6933"/>
            </a:lvl9pPr>
          </a:lstStyle>
          <a:p>
            <a:r>
              <a:rPr lang="en-US" sz="60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Default</a:t>
            </a:r>
          </a:p>
        </p:txBody>
      </p:sp>
      <p:sp>
        <p:nvSpPr>
          <p:cNvPr id="4" name="TextBox 3">
            <a:extLst>
              <a:ext uri="{FF2B5EF4-FFF2-40B4-BE49-F238E27FC236}">
                <a16:creationId xmlns:a16="http://schemas.microsoft.com/office/drawing/2014/main" id="{EA9AACEA-904C-838F-31B9-328169F839E4}"/>
              </a:ext>
            </a:extLst>
          </p:cNvPr>
          <p:cNvSpPr txBox="1"/>
          <p:nvPr/>
        </p:nvSpPr>
        <p:spPr>
          <a:xfrm>
            <a:off x="2791327" y="7248595"/>
            <a:ext cx="12192000" cy="1446550"/>
          </a:xfrm>
          <a:prstGeom prst="rect">
            <a:avLst/>
          </a:prstGeom>
          <a:noFill/>
        </p:spPr>
        <p:txBody>
          <a:bodyPr wrap="square">
            <a:spAutoFit/>
          </a:bodyPr>
          <a:lstStyle/>
          <a:p>
            <a:r>
              <a:rPr lang="en-US" sz="4400" b="0" dirty="0">
                <a:solidFill>
                  <a:srgbClr val="008000"/>
                </a:solidFill>
                <a:effectLst/>
                <a:latin typeface="Courier New" panose="02070309020205020404" pitchFamily="49" charset="0"/>
              </a:rPr>
              <a:t># some code later</a:t>
            </a:r>
            <a:endParaRPr lang="en-US" sz="4400" b="0" dirty="0">
              <a:solidFill>
                <a:srgbClr val="000000"/>
              </a:solidFill>
              <a:effectLst/>
              <a:latin typeface="Courier New" panose="02070309020205020404" pitchFamily="49" charset="0"/>
            </a:endParaRPr>
          </a:p>
          <a:p>
            <a:r>
              <a:rPr lang="en-US" sz="4400" b="0" dirty="0">
                <a:solidFill>
                  <a:srgbClr val="000000"/>
                </a:solidFill>
                <a:effectLst/>
                <a:latin typeface="Courier New" panose="02070309020205020404" pitchFamily="49" charset="0"/>
              </a:rPr>
              <a:t>factorial()</a:t>
            </a:r>
          </a:p>
        </p:txBody>
      </p:sp>
      <p:sp>
        <p:nvSpPr>
          <p:cNvPr id="17" name="TextBox 16">
            <a:extLst>
              <a:ext uri="{FF2B5EF4-FFF2-40B4-BE49-F238E27FC236}">
                <a16:creationId xmlns:a16="http://schemas.microsoft.com/office/drawing/2014/main" id="{325A1C2A-F433-C3E6-E32F-6507AED37A5F}"/>
              </a:ext>
            </a:extLst>
          </p:cNvPr>
          <p:cNvSpPr txBox="1"/>
          <p:nvPr/>
        </p:nvSpPr>
        <p:spPr>
          <a:xfrm>
            <a:off x="7591139" y="6147140"/>
            <a:ext cx="1286955" cy="769441"/>
          </a:xfrm>
          <a:prstGeom prst="rect">
            <a:avLst/>
          </a:prstGeom>
          <a:noFill/>
        </p:spPr>
        <p:txBody>
          <a:bodyPr wrap="square">
            <a:spAutoFit/>
          </a:bodyPr>
          <a:lstStyle/>
          <a:p>
            <a:r>
              <a:rPr lang="en-US" sz="4400" b="1" dirty="0">
                <a:solidFill>
                  <a:srgbClr val="004C7F"/>
                </a:solidFill>
                <a:latin typeface="Helvetica Neue" panose="02000503000000020004" pitchFamily="2" charset="0"/>
                <a:ea typeface="Helvetica Neue" panose="02000503000000020004" pitchFamily="2" charset="0"/>
                <a:cs typeface="Helvetica Neue" panose="02000503000000020004" pitchFamily="2" charset="0"/>
              </a:rPr>
              <a:t>720</a:t>
            </a:r>
          </a:p>
        </p:txBody>
      </p:sp>
      <p:cxnSp>
        <p:nvCxnSpPr>
          <p:cNvPr id="19" name="Straight Arrow Connector 18">
            <a:extLst>
              <a:ext uri="{FF2B5EF4-FFF2-40B4-BE49-F238E27FC236}">
                <a16:creationId xmlns:a16="http://schemas.microsoft.com/office/drawing/2014/main" id="{2D366A7F-3C27-01B5-6F01-30E5A96225DB}"/>
              </a:ext>
            </a:extLst>
          </p:cNvPr>
          <p:cNvCxnSpPr/>
          <p:nvPr/>
        </p:nvCxnSpPr>
        <p:spPr>
          <a:xfrm>
            <a:off x="6753723" y="8309810"/>
            <a:ext cx="1419604" cy="0"/>
          </a:xfrm>
          <a:prstGeom prst="straightConnector1">
            <a:avLst/>
          </a:prstGeom>
          <a:ln w="76200">
            <a:solidFill>
              <a:srgbClr val="EF7001"/>
            </a:solidFill>
            <a:tailEnd type="triangle"/>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5408CDC5-9FFD-269A-F809-754D18AAA21D}"/>
              </a:ext>
            </a:extLst>
          </p:cNvPr>
          <p:cNvGrpSpPr/>
          <p:nvPr/>
        </p:nvGrpSpPr>
        <p:grpSpPr>
          <a:xfrm>
            <a:off x="7887399" y="1098316"/>
            <a:ext cx="4398042" cy="1735797"/>
            <a:chOff x="11008340" y="2575652"/>
            <a:chExt cx="4398042" cy="1735797"/>
          </a:xfrm>
        </p:grpSpPr>
        <p:sp>
          <p:nvSpPr>
            <p:cNvPr id="8" name="that’s a lot of features!">
              <a:extLst>
                <a:ext uri="{FF2B5EF4-FFF2-40B4-BE49-F238E27FC236}">
                  <a16:creationId xmlns:a16="http://schemas.microsoft.com/office/drawing/2014/main" id="{98A2ED55-1D81-3EE5-9598-4DE6561EFD08}"/>
                </a:ext>
              </a:extLst>
            </p:cNvPr>
            <p:cNvSpPr txBox="1"/>
            <p:nvPr/>
          </p:nvSpPr>
          <p:spPr>
            <a:xfrm>
              <a:off x="11008340" y="2575652"/>
              <a:ext cx="4398042" cy="7181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ctr">
              <a:spAutoFit/>
            </a:bodyPr>
            <a:lstStyle>
              <a:lvl1pPr>
                <a:defRPr sz="4000" b="1">
                  <a:solidFill>
                    <a:schemeClr val="accent4">
                      <a:hueOff val="-1247790"/>
                      <a:lumOff val="-12326"/>
                    </a:schemeClr>
                  </a:solidFill>
                </a:defRPr>
              </a:lvl1pPr>
            </a:lstStyle>
            <a:p>
              <a:r>
                <a:rPr lang="en-US" dirty="0">
                  <a:solidFill>
                    <a:srgbClr val="EF7001"/>
                  </a:solidFill>
                </a:rPr>
                <a:t>Assumes default</a:t>
              </a:r>
              <a:endParaRPr dirty="0">
                <a:solidFill>
                  <a:srgbClr val="EF7001"/>
                </a:solidFill>
              </a:endParaRPr>
            </a:p>
          </p:txBody>
        </p:sp>
        <p:pic>
          <p:nvPicPr>
            <p:cNvPr id="9" name="Line Line" descr="Line Line">
              <a:extLst>
                <a:ext uri="{FF2B5EF4-FFF2-40B4-BE49-F238E27FC236}">
                  <a16:creationId xmlns:a16="http://schemas.microsoft.com/office/drawing/2014/main" id="{7AB34B4D-F7F1-DDDE-0FCE-9FF9960DD298}"/>
                </a:ext>
              </a:extLst>
            </p:cNvPr>
            <p:cNvPicPr>
              <a:picLocks/>
            </p:cNvPicPr>
            <p:nvPr/>
          </p:nvPicPr>
          <p:blipFill>
            <a:blip r:embed="rId3"/>
            <a:stretch>
              <a:fillRect/>
            </a:stretch>
          </p:blipFill>
          <p:spPr>
            <a:xfrm rot="6998290">
              <a:off x="10953217" y="3566822"/>
              <a:ext cx="997180" cy="492074"/>
            </a:xfrm>
            <a:prstGeom prst="rect">
              <a:avLst/>
            </a:prstGeom>
          </p:spPr>
        </p:pic>
      </p:grpSp>
    </p:spTree>
    <p:extLst>
      <p:ext uri="{BB962C8B-B14F-4D97-AF65-F5344CB8AC3E}">
        <p14:creationId xmlns:p14="http://schemas.microsoft.com/office/powerpoint/2010/main" val="151171606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100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grpId="0" nodeType="afterEffect">
                                  <p:stCondLst>
                                    <p:cond delay="100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2000"/>
                            </p:stCondLst>
                            <p:childTnLst>
                              <p:par>
                                <p:cTn id="14" presetID="1" presetClass="entr" presetSubtype="0" fill="hold" grpId="0" nodeType="afterEffect">
                                  <p:stCondLst>
                                    <p:cond delay="0"/>
                                  </p:stCondLst>
                                  <p:childTnLst>
                                    <p:set>
                                      <p:cBhvr>
                                        <p:cTn id="15" dur="1" fill="hold">
                                          <p:stCondLst>
                                            <p:cond delay="0"/>
                                          </p:stCondLst>
                                        </p:cTn>
                                        <p:tgtEl>
                                          <p:spTgt spid="17"/>
                                        </p:tgtEl>
                                        <p:attrNameLst>
                                          <p:attrName>style.visibility</p:attrName>
                                        </p:attrNameLst>
                                      </p:cBhvr>
                                      <p:to>
                                        <p:strVal val="visible"/>
                                      </p:to>
                                    </p:set>
                                  </p:childTnLst>
                                </p:cTn>
                              </p:par>
                            </p:childTnLst>
                          </p:cTn>
                        </p:par>
                        <p:par>
                          <p:cTn id="16" fill="hold">
                            <p:stCondLst>
                              <p:cond delay="2000"/>
                            </p:stCondLst>
                            <p:childTnLst>
                              <p:par>
                                <p:cTn id="17" presetID="42" presetClass="path" presetSubtype="0" accel="50000" decel="50000" fill="hold" grpId="1" nodeType="afterEffect">
                                  <p:stCondLst>
                                    <p:cond delay="1000"/>
                                  </p:stCondLst>
                                  <p:childTnLst>
                                    <p:animMotion origin="layout" path="M -1.34748E-6 2.59259E-6 L 0.036 0.12974 " pathEditMode="relative" rAng="0" ptsTypes="AA">
                                      <p:cBhvr>
                                        <p:cTn id="18" dur="1000" fill="hold"/>
                                        <p:tgtEl>
                                          <p:spTgt spid="17"/>
                                        </p:tgtEl>
                                        <p:attrNameLst>
                                          <p:attrName>ppt_x</p:attrName>
                                          <p:attrName>ppt_y</p:attrName>
                                        </p:attrNameLst>
                                      </p:cBhvr>
                                      <p:rCtr x="1797" y="6481"/>
                                    </p:animMotion>
                                  </p:childTnLst>
                                </p:cTn>
                              </p:par>
                            </p:childTnLst>
                          </p:cTn>
                        </p:par>
                        <p:par>
                          <p:cTn id="19" fill="hold">
                            <p:stCondLst>
                              <p:cond delay="4000"/>
                            </p:stCondLst>
                            <p:childTnLst>
                              <p:par>
                                <p:cTn id="20" presetID="1" presetClass="entr" presetSubtype="0" fill="hold" nodeType="afterEffect">
                                  <p:stCondLst>
                                    <p:cond delay="0"/>
                                  </p:stCondLst>
                                  <p:childTnLst>
                                    <p:set>
                                      <p:cBhvr>
                                        <p:cTn id="21"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4" grpId="0"/>
      <p:bldP spid="17" grpId="0"/>
      <p:bldP spid="17"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1"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58</a:t>
            </a:fld>
            <a:endParaRPr/>
          </a:p>
        </p:txBody>
      </p:sp>
      <p:sp>
        <p:nvSpPr>
          <p:cNvPr id="1832" name="Three classifiers! That’s a lot."/>
          <p:cNvSpPr txBox="1"/>
          <p:nvPr/>
        </p:nvSpPr>
        <p:spPr>
          <a:xfrm>
            <a:off x="9037338" y="5693579"/>
            <a:ext cx="5512663" cy="11644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defRPr sz="6900" b="1">
                <a:solidFill>
                  <a:srgbClr val="000000"/>
                </a:solidFill>
              </a:defRPr>
            </a:lvl1pPr>
          </a:lstStyle>
          <a:p>
            <a:r>
              <a:rPr lang="en-US" dirty="0"/>
              <a:t>That was a lot!</a:t>
            </a:r>
            <a:endParaRPr dirty="0"/>
          </a:p>
        </p:txBody>
      </p:sp>
      <p:sp>
        <p:nvSpPr>
          <p:cNvPr id="1833" name="Let’s get to the long lab!"/>
          <p:cNvSpPr txBox="1"/>
          <p:nvPr/>
        </p:nvSpPr>
        <p:spPr>
          <a:xfrm>
            <a:off x="9140668" y="7029388"/>
            <a:ext cx="5306004" cy="88742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p>
            <a:pPr>
              <a:defRPr sz="5100" b="1">
                <a:solidFill>
                  <a:srgbClr val="000000"/>
                </a:solidFill>
              </a:defRPr>
            </a:pPr>
            <a:r>
              <a:rPr sz="5100" dirty="0"/>
              <a:t>Let’s get to the lab!</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8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8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32" grpId="0" animBg="1" advAuto="0"/>
      <p:bldP spid="1833" grpId="0" animBg="1" advAuto="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 2013 - 2022</Template>
  <TotalTime>680</TotalTime>
  <Words>2913</Words>
  <Application>Microsoft Macintosh PowerPoint</Application>
  <PresentationFormat>Custom</PresentationFormat>
  <Paragraphs>513</Paragraphs>
  <Slides>58</Slides>
  <Notes>57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58</vt:i4>
      </vt:variant>
    </vt:vector>
  </HeadingPairs>
  <TitlesOfParts>
    <vt:vector size="65" baseType="lpstr">
      <vt:lpstr>Helvetica Neue</vt:lpstr>
      <vt:lpstr>Calibri</vt:lpstr>
      <vt:lpstr>Arial</vt:lpstr>
      <vt:lpstr>Lato</vt:lpstr>
      <vt:lpstr>Courier New</vt:lpstr>
      <vt:lpstr>Calibri Light</vt:lpstr>
      <vt:lpstr>Office Theme</vt:lpstr>
      <vt:lpstr>PowerPoint Presentation</vt:lpstr>
      <vt:lpstr>Lecture Outline</vt:lpstr>
      <vt:lpstr>I/O</vt:lpstr>
      <vt:lpstr>I/O</vt:lpstr>
      <vt:lpstr>I/O</vt:lpstr>
      <vt:lpstr>List Manipulation</vt:lpstr>
      <vt:lpstr>List Manipulation</vt:lpstr>
      <vt:lpstr>Self-Test</vt:lpstr>
      <vt:lpstr>List Manipulation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List Manipulation</vt:lpstr>
      <vt:lpstr>PowerPoint Presentation</vt:lpstr>
      <vt:lpstr>PowerPoint Presentation</vt:lpstr>
      <vt:lpstr>PowerPoint Presentation</vt:lpstr>
      <vt:lpstr>List Manipulation</vt:lpstr>
      <vt:lpstr>PowerPoint Presentation</vt:lpstr>
      <vt:lpstr>PowerPoint Presentation</vt:lpstr>
      <vt:lpstr>PowerPoint Presentation</vt:lpstr>
      <vt:lpstr>PowerPoint Presentation</vt:lpstr>
      <vt:lpstr>List Manipulation</vt:lpstr>
      <vt:lpstr>PowerPoint Presentation</vt:lpstr>
      <vt:lpstr>PowerPoint Presentation</vt:lpstr>
      <vt:lpstr>Functions</vt:lpstr>
      <vt:lpstr>Lecture Outline</vt:lpstr>
      <vt:lpstr>What is a function? </vt:lpstr>
      <vt:lpstr>What is a function?  </vt:lpstr>
      <vt:lpstr>Lecture Outline</vt:lpstr>
      <vt:lpstr>Built-ins</vt:lpstr>
      <vt:lpstr>Lecture Outline</vt:lpstr>
      <vt:lpstr>PowerPoint Presentation</vt:lpstr>
      <vt:lpstr>PowerPoint Presentation</vt:lpstr>
      <vt:lpstr>Lecture Outline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Fanyu Meng</cp:lastModifiedBy>
  <cp:revision>15</cp:revision>
  <dcterms:modified xsi:type="dcterms:W3CDTF">2026-08-03T01:38:59Z</dcterms:modified>
</cp:coreProperties>
</file>